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Je m'appelle Ahadj Idouae, et je vais vous présenter mon projet intitulé « Analyse automatique de la qualité d'images produits pour l'e-commerce marocain ».
Ce projet a été développé dans le contexte du marché e-commerce au Maroc, en ciblant principalement les plateformes Jumia et Avito.
La présentation durera environ 15 minutes, suivies de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la problématique.
Le marché e-commerce au Maroc est en pleine croissance, mais de nombreux vendeurs — notamment les petites entreprises et les particuliers — publient des annonces avec des photos de mauvaise qualité : floues, mal éclairées, mal cadrées, ou avec un fond encombré.
Ces images réduisent directement le taux de conversion. Un client qui ne voit pas clairement le produit n'achète pas.
Notre réponse est un système automatique à trois dimensions :
  1. Évaluer objectivement la qualité de l'image via six critères techniques,
  2. Générer automatiquement une fiche produit complète en français,
  3. Comparer le produit avec les offres concurrentes déjà présentes sur Jumia.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l'architecture complète du système.
Le pipeline comporte sept étapes enchaînées :
Étape 1 — L'utilisateur uploade une image JPEG ou PNG.
Étape 2 — Le module OCR (EasyOCR) lit le texte visible sur l'image : marque, modèle, prix imprimés sur le packaging.
Étape 3 — Le module NLP structure ce texte en entités : marque, modèle, couleur, stockage, prix.
Étape 4 — Le détecteur isole le produit dans l'image grâce à Grounding DINO, puis affine le masque avec GrabCut.
Étape 5 — L'analyseur calcule six critères de qualité sur l'image et le masque, et produit un score global avec un grade de A à F.
Étape 6 — BLIP génère une légende visuelle en anglais, qui est traduite et structurée en fiche produit française.
Étape 7 — Le scraper recherche les produits similaires sur Jumia pour l'analyse concurrentielle.
Tout ceci est orchestré par l'interface Streamlit accessible depuis un navigateur.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est structuré en neuf modules Python indépendants, chacun avec une responsabilité unique.
Les deux modules centraux sont :
  - src/detector.py : il isole le produit dans l'image,
  - src/analyzer.py : il calcule les six critères qualité.
Les modules périphériques gèrent l'OCR, le NLP, la génération de fiche, la recherche concurrentielle, et le scoring.
Le fichier app.py est l'interface Streamlit qui orchestre l'ensemble et présente les résultats à l'utilisateur.
Tous les modules sont terminés, testés, et commentés.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Parlons du cœur du système : les six critères d'analyse qualité.
Chaque critère retourne un score entre 0 et 1, une valeur brute mesurée, et un message d'explication en français destiné au vendeur.
Critère 1 — Netteté : nous utilisons la variance du filtre Laplacien. Ce filtre de dérivée seconde est très sensible aux hautes fréquences, donc au flou. Nous avons calibré les seuils en échelle logarithmique sur 300 images réelles du CDN Jumia, car la distribution des variances est log-normale.
Critère 2 — Uniformité d'éclairage : on divise la zone produit en une grille 3×3 et on mesure l'écart-type des luminosités moyennes par zone. Un écart-type faible signifie un éclairage homogène.
Critère 3 — Qualité des bords : on applique la détection Canny dans la zone de frontière entre le masque produit et le fond, et on mesure la densité des bords détectés.
Critère 4 — Cohérence des couleurs : on applique l'hypothèse du monde gris et on vérifie que la saturation HSV est dans la plage naturelle.
Critère 5 — Résolution effective : deux composantes — détection d'upscaling par ratio de variance Laplacienne, et vérification de la taille absolue recommandée par Jumia (500px minimum).
Critère 6 — Cohérence image-texte : on utilise CLIP d'OpenAI pour mesurer la similarité cosinus entre l'embedding image et l'embedding texte du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termes de résultats concrets :
Le système analyse six critères et attribue des grades de A à F, avec un score global calculé par moyenne pondérée.
Les pondérations ont été choisies pour refléter l'impact perçu par l'acheteur : la netteté et l'éclairage ont le poids le plus élevé — 20% chacun — car ce sont les premiers signaux visuels.
Cinq modèles d'intelligence artificielle sont intégrés : Grounding DINO pour la détection, BLIP pour la génération de légende, CLIP pour la cohérence sémantique, EasyOCR pour la lecture de texte, et GrabCut pour la segmentation précise.
Tous fonctionnent en mode CPU, sans nécessité de GPU, ce qui facilite le déploiement.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vais vous détailler les principaux défis techniques rencontrés.
Premier défi — Score de netteté constant : toutes les images du CDN Jumia ont la même table de quantification JPEG à quality=75, ce qui rendait le score identique pour toutes les images. Solution : remplacement par la variance du Laplacien en échelle log, qui donne 29 valeurs distinctes sur 300 images.
Deuxième défi — Ordre grammatical français incorrect dans les titres : par exemple "Portable Chargeur" au lieu de "Chargeur Portable". Solution : classification des mots-clés BLIP en deux catégories — les noms de type produit en premier, puis les adjectifs attributs.
Troisième défi — Description en anglais brut : la légende BLIP était insérée directement. Solution : traduction via dictionnaire et génération de phrases françaises structurées.
Quatrième défi — Watermark "fallback" visible : la fonction de visualisation appelait le détecteur sans le prompt utilisateur, ce qui forçait toujours le mode fallback. Solution : passage du text_prompt à la fonction de visualisation.
Cinquième et sixième défis — Analyse concurrentielle absente et scraper retournant zéro résultats : le sélecteur CSS était obsolète et le User-Agent était détecté comme bot. Solutions : mise à jour des sélecteurs article.prd, gestion du lazy-loading des images, User-Agent Chrome réel, et trois niveaux de fallback pour la requête de recherche.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L'état d'avancement global est de 100%.
Les quatre grandes catégories sont toutes complètes :
Infrastructure et interface : le pipeline bout-en-bout fonctionne, la gestion de l'état Streamlit est correcte, le déploiement local est testé.
Analyse qualité : les six critères sont implémentés et calibrés sur données réelles.
Intelligence artificielle : les cinq modèles sont intégrés avec dégradation gracieuse — si un modèle est indisponible, le système continue à fonctionner.
Documentation : README complet en français, documentation technique pour le jury, et commentaires inline dans le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stack technologique s'articule autour de quatre domaines.
Vision par ordinateur : OpenCV 4 pour les opérations morphologiques, GrabCut, Canny et Laplacien. Pillow pour le chargement et la conversion des images. NumPy pour les opérations matricielles sur les masques.
Modèles Transformers : Grounding DINO pour la détection zéro-shot, BLIP pour la génération de légende, CLIP pour la cohérence sémantique. Tous chargés via HuggingFace Transformers.
Traitement du texte : EasyOCR pour la reconnaissance bilingue français-anglais, les expressions régulières Python pour l'extraction d'entités, et BeautifulSoup pour le scraping HTML de Jumia.
Interface et déploiement : Streamlit pour l'interface web, Requests pour les appels HTTP, Python 3.11 avec environnement virtuel isolé.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Quelques limites importantes à mentionner.
Les seuils du critère de netteté ont été calibrés sur des images 300×300 pixels, le format standard du CDN Jumia. Pour des images haute résolution, il faudrait recalibrer.
EasyOCR est relativement lent en CPU — environ 3 secondes par image. PaddleOCR serait 5 fois plus rapide.
Le scraping Jumia peut être bloqué par des mécanismes anti-bot. Une API officielle serait plus robuste pour un déploiement en production.
Côté perspectives : ajouter le support du darija marocain pour rendre le système accessible à un plus large public, corréler les scores avec les taux de clics réels pour valider empiriquement le système, et déployer sur cloud pour un accès partagé.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nous avons développé un système complet et fonctionnel qui répond à un besoin concret du marché e-commerce marocain.
Le système intègre des modèles d'IA de pointe — Grounding DINO, BLIP, CLIP — dans un pipeline accessible à des vendeurs non-techniques via une interface Streamlit simple.
Les six critères qualité sont calibrés sur des données réelles, et le système produit des recommandations actionnables en français.
Les principaux défis techniques ont été identifiés et résolus pendant le développement, ce qui a renforcé notre compréhension de chaque composant.
Je vous remercie pour votre attention et reste disponible pour répondre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98A"/>
          </a:solidFill>
          <a:ln w="12700">
            <a:solidFill>
              <a:srgbClr val="00B98A"/>
            </a:solidFill>
            <a:prstDash val="solid"/>
          </a:ln>
        </p:spPr>
      </p:sp>
      <p:sp>
        <p:nvSpPr>
          <p:cNvPr id="3" name="Shape 1"/>
          <p:cNvSpPr/>
          <p:nvPr/>
        </p:nvSpPr>
        <p:spPr>
          <a:xfrm>
            <a:off x="548640" y="1097280"/>
            <a:ext cx="64008" cy="2286000"/>
          </a:xfrm>
          <a:prstGeom prst="rect">
            <a:avLst/>
          </a:prstGeom>
          <a:solidFill>
            <a:srgbClr val="0E8C9B"/>
          </a:solidFill>
          <a:ln w="12700">
            <a:solidFill>
              <a:srgbClr val="0E8C9B"/>
            </a:solidFill>
            <a:prstDash val="solid"/>
          </a:ln>
        </p:spPr>
      </p:sp>
      <p:sp>
        <p:nvSpPr>
          <p:cNvPr id="4" name="Text 2"/>
          <p:cNvSpPr/>
          <p:nvPr/>
        </p:nvSpPr>
        <p:spPr>
          <a:xfrm>
            <a:off x="777240" y="1051560"/>
            <a:ext cx="6858000" cy="237744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Analyse de Qualité</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d'Images E-commerce</a:t>
            </a:r>
            <a:endParaRPr lang="en-US" sz="4000" dirty="0"/>
          </a:p>
        </p:txBody>
      </p:sp>
      <p:sp>
        <p:nvSpPr>
          <p:cNvPr id="5" name="Text 3"/>
          <p:cNvSpPr/>
          <p:nvPr/>
        </p:nvSpPr>
        <p:spPr>
          <a:xfrm>
            <a:off x="777240" y="3337560"/>
            <a:ext cx="6858000" cy="502920"/>
          </a:xfrm>
          <a:prstGeom prst="rect">
            <a:avLst/>
          </a:prstGeom>
          <a:noFill/>
          <a:ln/>
        </p:spPr>
        <p:txBody>
          <a:bodyPr wrap="square" lIns="0" tIns="0" rIns="0" bIns="0" rtlCol="0" anchor="ctr"/>
          <a:lstStyle/>
          <a:p>
            <a:pPr indent="0" marL="0">
              <a:buNone/>
            </a:pPr>
            <a:r>
              <a:rPr lang="en-US" sz="1800" i="1" dirty="0">
                <a:solidFill>
                  <a:srgbClr val="00B98A"/>
                </a:solidFill>
                <a:latin typeface="Calibri" pitchFamily="34" charset="0"/>
                <a:ea typeface="Calibri" pitchFamily="34" charset="-122"/>
                <a:cs typeface="Calibri" pitchFamily="34" charset="-120"/>
              </a:rPr>
              <a:t>État d'Avancement du Projet</a:t>
            </a:r>
            <a:endParaRPr lang="en-US" sz="1800" dirty="0"/>
          </a:p>
        </p:txBody>
      </p:sp>
      <p:sp>
        <p:nvSpPr>
          <p:cNvPr id="6" name="Shape 4"/>
          <p:cNvSpPr/>
          <p:nvPr/>
        </p:nvSpPr>
        <p:spPr>
          <a:xfrm>
            <a:off x="777240" y="3858768"/>
            <a:ext cx="5486400" cy="0"/>
          </a:xfrm>
          <a:prstGeom prst="line">
            <a:avLst/>
          </a:prstGeom>
          <a:noFill/>
          <a:ln w="12700">
            <a:solidFill>
              <a:srgbClr val="0E8C9B"/>
            </a:solidFill>
            <a:prstDash val="solid"/>
          </a:ln>
        </p:spPr>
      </p:sp>
      <p:sp>
        <p:nvSpPr>
          <p:cNvPr id="7" name="Text 5"/>
          <p:cNvSpPr/>
          <p:nvPr/>
        </p:nvSpPr>
        <p:spPr>
          <a:xfrm>
            <a:off x="777240" y="3977640"/>
            <a:ext cx="7315200" cy="36576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Jumia Maroc  ·  Avito Maroc  ·  Intelligence Artificielle  ·  Vision par Ordinateur</a:t>
            </a:r>
            <a:endParaRPr lang="en-US" sz="1100" dirty="0"/>
          </a:p>
        </p:txBody>
      </p:sp>
      <p:sp>
        <p:nvSpPr>
          <p:cNvPr id="8" name="Text 6"/>
          <p:cNvSpPr/>
          <p:nvPr/>
        </p:nvSpPr>
        <p:spPr>
          <a:xfrm>
            <a:off x="5943600" y="4663440"/>
            <a:ext cx="3017520" cy="32004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Ahadj Idouae  |  Mai 2026</a:t>
            </a:r>
            <a:endParaRPr lang="en-US" sz="1000" dirty="0"/>
          </a:p>
        </p:txBody>
      </p:sp>
      <p:sp>
        <p:nvSpPr>
          <p:cNvPr id="9" name="Shape 7"/>
          <p:cNvSpPr/>
          <p:nvPr/>
        </p:nvSpPr>
        <p:spPr>
          <a:xfrm>
            <a:off x="7498080" y="-365760"/>
            <a:ext cx="2560320" cy="2560320"/>
          </a:xfrm>
          <a:prstGeom prst="ellipse">
            <a:avLst/>
          </a:prstGeom>
          <a:solidFill>
            <a:srgbClr val="0E8C9B">
              <a:alpha val="15000"/>
            </a:srgbClr>
          </a:solidFill>
          <a:ln w="12700">
            <a:solidFill>
              <a:srgbClr val="0E8C9B"/>
            </a:solidFill>
            <a:prstDash val="solid"/>
          </a:ln>
        </p:spPr>
      </p:sp>
      <p:sp>
        <p:nvSpPr>
          <p:cNvPr id="10" name="Shape 8"/>
          <p:cNvSpPr/>
          <p:nvPr/>
        </p:nvSpPr>
        <p:spPr>
          <a:xfrm>
            <a:off x="8046720" y="182880"/>
            <a:ext cx="1645920" cy="1645920"/>
          </a:xfrm>
          <a:prstGeom prst="ellipse">
            <a:avLst/>
          </a:prstGeom>
          <a:solidFill>
            <a:srgbClr val="00B98A">
              <a:alpha val="25000"/>
            </a:srgbClr>
          </a:solidFill>
          <a:ln w="12700">
            <a:solidFill>
              <a:srgbClr val="00B98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2137"/>
          </a:solidFill>
          <a:ln w="12700">
            <a:solidFill>
              <a:srgbClr val="0D2137"/>
            </a:solidFill>
            <a:prstDash val="solid"/>
          </a:ln>
        </p:spPr>
      </p:sp>
      <p:sp>
        <p:nvSpPr>
          <p:cNvPr id="3" name="Shape 1"/>
          <p:cNvSpPr/>
          <p:nvPr/>
        </p:nvSpPr>
        <p:spPr>
          <a:xfrm>
            <a:off x="0" y="960120"/>
            <a:ext cx="9144000" cy="54864"/>
          </a:xfrm>
          <a:prstGeom prst="rect">
            <a:avLst/>
          </a:prstGeom>
          <a:solidFill>
            <a:srgbClr val="00B98A"/>
          </a:solidFill>
          <a:ln w="12700">
            <a:solidFill>
              <a:srgbClr val="00B98A"/>
            </a:solidFill>
            <a:prstDash val="solid"/>
          </a:ln>
        </p:spPr>
      </p:sp>
      <p:sp>
        <p:nvSpPr>
          <p:cNvPr id="4" name="Text 2"/>
          <p:cNvSpPr/>
          <p:nvPr/>
        </p:nvSpPr>
        <p:spPr>
          <a:xfrm>
            <a:off x="365760" y="0"/>
            <a:ext cx="8229600" cy="9601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Contexte et Objectifs</a:t>
            </a:r>
            <a:endParaRPr lang="en-US" sz="2600" dirty="0"/>
          </a:p>
        </p:txBody>
      </p:sp>
      <p:sp>
        <p:nvSpPr>
          <p:cNvPr id="5" name="Shape 3"/>
          <p:cNvSpPr/>
          <p:nvPr/>
        </p:nvSpPr>
        <p:spPr>
          <a:xfrm>
            <a:off x="320040" y="1188720"/>
            <a:ext cx="4069080" cy="356616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0000"/>
              </a:srgbClr>
            </a:outerShdw>
          </a:effectLst>
        </p:spPr>
      </p:sp>
      <p:sp>
        <p:nvSpPr>
          <p:cNvPr id="6" name="Shape 4"/>
          <p:cNvSpPr/>
          <p:nvPr/>
        </p:nvSpPr>
        <p:spPr>
          <a:xfrm>
            <a:off x="320040" y="1188720"/>
            <a:ext cx="54864" cy="3566160"/>
          </a:xfrm>
          <a:prstGeom prst="rect">
            <a:avLst/>
          </a:prstGeom>
          <a:solidFill>
            <a:srgbClr val="1060A0"/>
          </a:solidFill>
          <a:ln w="12700">
            <a:solidFill>
              <a:srgbClr val="1060A0"/>
            </a:solidFill>
            <a:prstDash val="solid"/>
          </a:ln>
        </p:spPr>
      </p:sp>
      <p:sp>
        <p:nvSpPr>
          <p:cNvPr id="7" name="Text 5"/>
          <p:cNvSpPr/>
          <p:nvPr/>
        </p:nvSpPr>
        <p:spPr>
          <a:xfrm>
            <a:off x="548640" y="1261872"/>
            <a:ext cx="3657600" cy="411480"/>
          </a:xfrm>
          <a:prstGeom prst="rect">
            <a:avLst/>
          </a:prstGeom>
          <a:noFill/>
          <a:ln/>
        </p:spPr>
        <p:txBody>
          <a:bodyPr wrap="square" lIns="0" tIns="0" rIns="0" bIns="0" rtlCol="0" anchor="ctr"/>
          <a:lstStyle/>
          <a:p>
            <a:pPr indent="0" marL="0">
              <a:buNone/>
            </a:pPr>
            <a:r>
              <a:rPr lang="en-US" sz="1600" b="1" dirty="0">
                <a:solidFill>
                  <a:srgbClr val="1060A0"/>
                </a:solidFill>
                <a:latin typeface="Calibri" pitchFamily="34" charset="0"/>
                <a:ea typeface="Calibri" pitchFamily="34" charset="-122"/>
                <a:cs typeface="Calibri" pitchFamily="34" charset="-120"/>
              </a:rPr>
              <a:t>Problématique</a:t>
            </a:r>
            <a:endParaRPr lang="en-US" sz="1600" dirty="0"/>
          </a:p>
        </p:txBody>
      </p:sp>
      <p:sp>
        <p:nvSpPr>
          <p:cNvPr id="8" name="Text 6"/>
          <p:cNvSpPr/>
          <p:nvPr/>
        </p:nvSpPr>
        <p:spPr>
          <a:xfrm>
            <a:off x="502920" y="1719072"/>
            <a:ext cx="3749040" cy="2834640"/>
          </a:xfrm>
          <a:prstGeom prst="rect">
            <a:avLst/>
          </a:prstGeom>
          <a:noFill/>
          <a:ln/>
        </p:spPr>
        <p:txBody>
          <a:bodyPr wrap="square" lIns="0" tIns="0" rIns="0" bIns="0" rtlCol="0" anchor="t"/>
          <a:lstStyle/>
          <a:p>
            <a:pPr indent="0" marL="0">
              <a:buNone/>
            </a:pPr>
            <a:r>
              <a:rPr lang="en-US" sz="1250" dirty="0">
                <a:solidFill>
                  <a:srgbClr val="1A252F"/>
                </a:solidFill>
                <a:latin typeface="Calibri" pitchFamily="34" charset="0"/>
                <a:ea typeface="Calibri" pitchFamily="34" charset="-122"/>
                <a:cs typeface="Calibri" pitchFamily="34" charset="-120"/>
              </a:rPr>
              <a:t>Les vendeurs sur Jumia/Avito Maroc publient des milliers d'annonces quotidiennement.</a:t>
            </a:r>
            <a:endParaRPr lang="en-US" sz="1250" dirty="0"/>
          </a:p>
          <a:p>
            <a:pPr indent="0" marL="0">
              <a:buNone/>
            </a:pPr>
            <a:r>
              <a:rPr lang="en-US" sz="1250" dirty="0">
                <a:solidFill>
                  <a:srgbClr val="1A252F"/>
                </a:solidFill>
                <a:latin typeface="Calibri" pitchFamily="34" charset="0"/>
                <a:ea typeface="Calibri" pitchFamily="34" charset="-122"/>
                <a:cs typeface="Calibri" pitchFamily="34" charset="-120"/>
              </a:rPr>
              <a:t> </a:t>
            </a:r>
            <a:endParaRPr lang="en-US" sz="1250" dirty="0"/>
          </a:p>
          <a:p>
            <a:pPr indent="0" marL="0">
              <a:buNone/>
            </a:pPr>
            <a:r>
              <a:rPr lang="en-US" sz="1250" dirty="0">
                <a:solidFill>
                  <a:srgbClr val="1A252F"/>
                </a:solidFill>
                <a:latin typeface="Calibri" pitchFamily="34" charset="0"/>
                <a:ea typeface="Calibri" pitchFamily="34" charset="-122"/>
                <a:cs typeface="Calibri" pitchFamily="34" charset="-120"/>
              </a:rPr>
              <a:t>❌  Images floues ou mal éclairées</a:t>
            </a:r>
            <a:endParaRPr lang="en-US" sz="1250" dirty="0"/>
          </a:p>
          <a:p>
            <a:pPr indent="0" marL="0">
              <a:buNone/>
            </a:pPr>
            <a:r>
              <a:rPr lang="en-US" sz="1250" dirty="0">
                <a:solidFill>
                  <a:srgbClr val="1A252F"/>
                </a:solidFill>
                <a:latin typeface="Calibri" pitchFamily="34" charset="0"/>
                <a:ea typeface="Calibri" pitchFamily="34" charset="-122"/>
                <a:cs typeface="Calibri" pitchFamily="34" charset="-120"/>
              </a:rPr>
              <a:t>❌  Produit mal cadré ou fond encombré</a:t>
            </a:r>
            <a:endParaRPr lang="en-US" sz="1250" dirty="0"/>
          </a:p>
          <a:p>
            <a:pPr indent="0" marL="0">
              <a:buNone/>
            </a:pPr>
            <a:r>
              <a:rPr lang="en-US" sz="1250" dirty="0">
                <a:solidFill>
                  <a:srgbClr val="1A252F"/>
                </a:solidFill>
                <a:latin typeface="Calibri" pitchFamily="34" charset="0"/>
                <a:ea typeface="Calibri" pitchFamily="34" charset="-122"/>
                <a:cs typeface="Calibri" pitchFamily="34" charset="-120"/>
              </a:rPr>
              <a:t>❌  Fiches produit incomplètes ou en anglais</a:t>
            </a:r>
            <a:endParaRPr lang="en-US" sz="1250" dirty="0"/>
          </a:p>
          <a:p>
            <a:pPr indent="0" marL="0">
              <a:buNone/>
            </a:pPr>
            <a:r>
              <a:rPr lang="en-US" sz="1250" dirty="0">
                <a:solidFill>
                  <a:srgbClr val="1A252F"/>
                </a:solidFill>
                <a:latin typeface="Calibri" pitchFamily="34" charset="0"/>
                <a:ea typeface="Calibri" pitchFamily="34" charset="-122"/>
                <a:cs typeface="Calibri" pitchFamily="34" charset="-120"/>
              </a:rPr>
              <a:t>❌  Aucun outil d'aide disponible pour les PME</a:t>
            </a:r>
            <a:endParaRPr lang="en-US" sz="1250" dirty="0"/>
          </a:p>
          <a:p>
            <a:pPr indent="0" marL="0">
              <a:buNone/>
            </a:pPr>
            <a:r>
              <a:rPr lang="en-US" sz="1250" dirty="0">
                <a:solidFill>
                  <a:srgbClr val="1A252F"/>
                </a:solidFill>
                <a:latin typeface="Calibri" pitchFamily="34" charset="0"/>
                <a:ea typeface="Calibri" pitchFamily="34" charset="-122"/>
                <a:cs typeface="Calibri" pitchFamily="34" charset="-120"/>
              </a:rPr>
              <a:t> </a:t>
            </a:r>
            <a:endParaRPr lang="en-US" sz="1250" dirty="0"/>
          </a:p>
          <a:p>
            <a:pPr indent="0" marL="0">
              <a:buNone/>
            </a:pPr>
            <a:r>
              <a:rPr lang="en-US" sz="1250" i="1" dirty="0">
                <a:solidFill>
                  <a:srgbClr val="1A252F"/>
                </a:solidFill>
                <a:latin typeface="Calibri" pitchFamily="34" charset="0"/>
                <a:ea typeface="Calibri" pitchFamily="34" charset="-122"/>
                <a:cs typeface="Calibri" pitchFamily="34" charset="-120"/>
              </a:rPr>
              <a:t>Une mauvaise image réduit significativement le taux de conversion.</a:t>
            </a:r>
            <a:endParaRPr lang="en-US" sz="1250" dirty="0"/>
          </a:p>
        </p:txBody>
      </p:sp>
      <p:sp>
        <p:nvSpPr>
          <p:cNvPr id="9" name="Shape 7"/>
          <p:cNvSpPr/>
          <p:nvPr/>
        </p:nvSpPr>
        <p:spPr>
          <a:xfrm>
            <a:off x="4754880" y="1188720"/>
            <a:ext cx="4069080" cy="356616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0000"/>
              </a:srgbClr>
            </a:outerShdw>
          </a:effectLst>
        </p:spPr>
      </p:sp>
      <p:sp>
        <p:nvSpPr>
          <p:cNvPr id="10" name="Shape 8"/>
          <p:cNvSpPr/>
          <p:nvPr/>
        </p:nvSpPr>
        <p:spPr>
          <a:xfrm>
            <a:off x="4754880" y="1188720"/>
            <a:ext cx="54864" cy="3566160"/>
          </a:xfrm>
          <a:prstGeom prst="rect">
            <a:avLst/>
          </a:prstGeom>
          <a:solidFill>
            <a:srgbClr val="00B98A"/>
          </a:solidFill>
          <a:ln w="12700">
            <a:solidFill>
              <a:srgbClr val="00B98A"/>
            </a:solidFill>
            <a:prstDash val="solid"/>
          </a:ln>
        </p:spPr>
      </p:sp>
      <p:sp>
        <p:nvSpPr>
          <p:cNvPr id="11" name="Text 9"/>
          <p:cNvSpPr/>
          <p:nvPr/>
        </p:nvSpPr>
        <p:spPr>
          <a:xfrm>
            <a:off x="4983480" y="1261872"/>
            <a:ext cx="3657600" cy="411480"/>
          </a:xfrm>
          <a:prstGeom prst="rect">
            <a:avLst/>
          </a:prstGeom>
          <a:noFill/>
          <a:ln/>
        </p:spPr>
        <p:txBody>
          <a:bodyPr wrap="square" lIns="0" tIns="0" rIns="0" bIns="0" rtlCol="0" anchor="ctr"/>
          <a:lstStyle/>
          <a:p>
            <a:pPr indent="0" marL="0">
              <a:buNone/>
            </a:pPr>
            <a:r>
              <a:rPr lang="en-US" sz="1600" b="1" dirty="0">
                <a:solidFill>
                  <a:srgbClr val="0E8C9B"/>
                </a:solidFill>
                <a:latin typeface="Calibri" pitchFamily="34" charset="0"/>
                <a:ea typeface="Calibri" pitchFamily="34" charset="-122"/>
                <a:cs typeface="Calibri" pitchFamily="34" charset="-120"/>
              </a:rPr>
              <a:t>Notre Solution</a:t>
            </a:r>
            <a:endParaRPr lang="en-US" sz="1600" dirty="0"/>
          </a:p>
        </p:txBody>
      </p:sp>
      <p:sp>
        <p:nvSpPr>
          <p:cNvPr id="12" name="Text 10"/>
          <p:cNvSpPr/>
          <p:nvPr/>
        </p:nvSpPr>
        <p:spPr>
          <a:xfrm>
            <a:off x="4983480" y="1719072"/>
            <a:ext cx="3749040" cy="2834640"/>
          </a:xfrm>
          <a:prstGeom prst="rect">
            <a:avLst/>
          </a:prstGeom>
          <a:noFill/>
          <a:ln/>
        </p:spPr>
        <p:txBody>
          <a:bodyPr wrap="square" lIns="0" tIns="0" rIns="0" bIns="0" rtlCol="0" anchor="t"/>
          <a:lstStyle/>
          <a:p>
            <a:pPr indent="0" marL="0">
              <a:buNone/>
            </a:pPr>
            <a:r>
              <a:rPr lang="en-US" sz="1250" dirty="0">
                <a:solidFill>
                  <a:srgbClr val="1A252F"/>
                </a:solidFill>
                <a:latin typeface="Calibri" pitchFamily="34" charset="0"/>
                <a:ea typeface="Calibri" pitchFamily="34" charset="-122"/>
                <a:cs typeface="Calibri" pitchFamily="34" charset="-120"/>
              </a:rPr>
              <a:t>Un système automatique qui :</a:t>
            </a:r>
            <a:endParaRPr lang="en-US" sz="1250" dirty="0"/>
          </a:p>
          <a:p>
            <a:pPr indent="0" marL="0">
              <a:buNone/>
            </a:pPr>
            <a:r>
              <a:rPr lang="en-US" sz="1250" dirty="0">
                <a:solidFill>
                  <a:srgbClr val="1A252F"/>
                </a:solidFill>
                <a:latin typeface="Calibri" pitchFamily="34" charset="0"/>
                <a:ea typeface="Calibri" pitchFamily="34" charset="-122"/>
                <a:cs typeface="Calibri" pitchFamily="34" charset="-120"/>
              </a:rPr>
              <a:t> </a:t>
            </a:r>
            <a:endParaRPr lang="en-US" sz="1250" dirty="0"/>
          </a:p>
          <a:p>
            <a:pPr indent="0" marL="0">
              <a:buNone/>
            </a:pPr>
            <a:r>
              <a:rPr lang="en-US" sz="1250" dirty="0">
                <a:solidFill>
                  <a:srgbClr val="1A252F"/>
                </a:solidFill>
                <a:latin typeface="Calibri" pitchFamily="34" charset="0"/>
                <a:ea typeface="Calibri" pitchFamily="34" charset="-122"/>
                <a:cs typeface="Calibri" pitchFamily="34" charset="-120"/>
              </a:rPr>
              <a:t>✅  Évalue la qualité de l'image (score + grade)</a:t>
            </a:r>
            <a:endParaRPr lang="en-US" sz="1250" dirty="0"/>
          </a:p>
          <a:p>
            <a:pPr indent="0" marL="0">
              <a:buNone/>
            </a:pPr>
            <a:r>
              <a:rPr lang="en-US" sz="1250" dirty="0">
                <a:solidFill>
                  <a:srgbClr val="1A252F"/>
                </a:solidFill>
                <a:latin typeface="Calibri" pitchFamily="34" charset="0"/>
                <a:ea typeface="Calibri" pitchFamily="34" charset="-122"/>
                <a:cs typeface="Calibri" pitchFamily="34" charset="-120"/>
              </a:rPr>
              <a:t>✅  Analyse 6 critères techniques objectifs</a:t>
            </a:r>
            <a:endParaRPr lang="en-US" sz="1250" dirty="0"/>
          </a:p>
          <a:p>
            <a:pPr indent="0" marL="0">
              <a:buNone/>
            </a:pPr>
            <a:r>
              <a:rPr lang="en-US" sz="1250" dirty="0">
                <a:solidFill>
                  <a:srgbClr val="1A252F"/>
                </a:solidFill>
                <a:latin typeface="Calibri" pitchFamily="34" charset="0"/>
                <a:ea typeface="Calibri" pitchFamily="34" charset="-122"/>
                <a:cs typeface="Calibri" pitchFamily="34" charset="-120"/>
              </a:rPr>
              <a:t>✅  Génère une fiche produit en français</a:t>
            </a:r>
            <a:endParaRPr lang="en-US" sz="1250" dirty="0"/>
          </a:p>
          <a:p>
            <a:pPr indent="0" marL="0">
              <a:buNone/>
            </a:pPr>
            <a:r>
              <a:rPr lang="en-US" sz="1250" dirty="0">
                <a:solidFill>
                  <a:srgbClr val="1A252F"/>
                </a:solidFill>
                <a:latin typeface="Calibri" pitchFamily="34" charset="0"/>
                <a:ea typeface="Calibri" pitchFamily="34" charset="-122"/>
                <a:cs typeface="Calibri" pitchFamily="34" charset="-120"/>
              </a:rPr>
              <a:t>✅  Compare avec les concurrents Jumia</a:t>
            </a:r>
            <a:endParaRPr lang="en-US" sz="1250" dirty="0"/>
          </a:p>
          <a:p>
            <a:pPr indent="0" marL="0">
              <a:buNone/>
            </a:pPr>
            <a:r>
              <a:rPr lang="en-US" sz="1250" dirty="0">
                <a:solidFill>
                  <a:srgbClr val="1A252F"/>
                </a:solidFill>
                <a:latin typeface="Calibri" pitchFamily="34" charset="0"/>
                <a:ea typeface="Calibri" pitchFamily="34" charset="-122"/>
                <a:cs typeface="Calibri" pitchFamily="34" charset="-120"/>
              </a:rPr>
              <a:t> </a:t>
            </a:r>
            <a:endParaRPr lang="en-US" sz="1250" dirty="0"/>
          </a:p>
          <a:p>
            <a:pPr indent="0" marL="0">
              <a:buNone/>
            </a:pPr>
            <a:r>
              <a:rPr lang="en-US" sz="1250" i="1" dirty="0">
                <a:solidFill>
                  <a:srgbClr val="1A252F"/>
                </a:solidFill>
                <a:latin typeface="Calibri" pitchFamily="34" charset="0"/>
                <a:ea typeface="Calibri" pitchFamily="34" charset="-122"/>
                <a:cs typeface="Calibri" pitchFamily="34" charset="-120"/>
              </a:rPr>
              <a:t>Cible : Jumia Maroc · Avito Maroc</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2137"/>
          </a:solidFill>
          <a:ln w="12700">
            <a:solidFill>
              <a:srgbClr val="0D2137"/>
            </a:solidFill>
            <a:prstDash val="solid"/>
          </a:ln>
        </p:spPr>
      </p:sp>
      <p:sp>
        <p:nvSpPr>
          <p:cNvPr id="3" name="Shape 1"/>
          <p:cNvSpPr/>
          <p:nvPr/>
        </p:nvSpPr>
        <p:spPr>
          <a:xfrm>
            <a:off x="0" y="960120"/>
            <a:ext cx="9144000" cy="54864"/>
          </a:xfrm>
          <a:prstGeom prst="rect">
            <a:avLst/>
          </a:prstGeom>
          <a:solidFill>
            <a:srgbClr val="00B98A"/>
          </a:solidFill>
          <a:ln w="12700">
            <a:solidFill>
              <a:srgbClr val="00B98A"/>
            </a:solidFill>
            <a:prstDash val="solid"/>
          </a:ln>
        </p:spPr>
      </p:sp>
      <p:sp>
        <p:nvSpPr>
          <p:cNvPr id="4" name="Text 2"/>
          <p:cNvSpPr/>
          <p:nvPr/>
        </p:nvSpPr>
        <p:spPr>
          <a:xfrm>
            <a:off x="365760" y="0"/>
            <a:ext cx="8229600" cy="9601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Architecture du Système</a:t>
            </a:r>
            <a:endParaRPr lang="en-US" sz="2600" dirty="0"/>
          </a:p>
        </p:txBody>
      </p:sp>
      <p:sp>
        <p:nvSpPr>
          <p:cNvPr id="5" name="Shape 3"/>
          <p:cNvSpPr/>
          <p:nvPr/>
        </p:nvSpPr>
        <p:spPr>
          <a:xfrm>
            <a:off x="182880" y="1417320"/>
            <a:ext cx="987552" cy="914400"/>
          </a:xfrm>
          <a:prstGeom prst="rect">
            <a:avLst/>
          </a:prstGeom>
          <a:solidFill>
            <a:srgbClr val="0D2137"/>
          </a:solidFill>
          <a:ln w="12700">
            <a:solidFill>
              <a:srgbClr val="0D2137"/>
            </a:solidFill>
            <a:prstDash val="solid"/>
          </a:ln>
          <a:effectLst>
            <a:outerShdw sx="100000" sy="100000" kx="0" ky="0" algn="bl" rotWithShape="0" blurRad="76200" dist="25400" dir="8100000">
              <a:srgbClr val="000000">
                <a:alpha val="10000"/>
              </a:srgbClr>
            </a:outerShdw>
          </a:effectLst>
        </p:spPr>
      </p:sp>
      <p:sp>
        <p:nvSpPr>
          <p:cNvPr id="6" name="Text 4"/>
          <p:cNvSpPr/>
          <p:nvPr/>
        </p:nvSpPr>
        <p:spPr>
          <a:xfrm>
            <a:off x="182880" y="1490472"/>
            <a:ext cx="987552" cy="6400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Image</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Produit</a:t>
            </a:r>
            <a:endParaRPr lang="en-US" sz="950" dirty="0"/>
          </a:p>
        </p:txBody>
      </p:sp>
      <p:sp>
        <p:nvSpPr>
          <p:cNvPr id="7" name="Shape 5"/>
          <p:cNvSpPr/>
          <p:nvPr/>
        </p:nvSpPr>
        <p:spPr>
          <a:xfrm>
            <a:off x="182880" y="2075688"/>
            <a:ext cx="987552" cy="256032"/>
          </a:xfrm>
          <a:prstGeom prst="rect">
            <a:avLst/>
          </a:prstGeom>
          <a:solidFill>
            <a:srgbClr val="000000">
              <a:alpha val="70000"/>
            </a:srgbClr>
          </a:solidFill>
          <a:ln w="12700">
            <a:solidFill>
              <a:srgbClr val="000000">
                <a:alpha val="70000"/>
              </a:srgbClr>
            </a:solidFill>
            <a:prstDash val="solid"/>
          </a:ln>
        </p:spPr>
      </p:sp>
      <p:sp>
        <p:nvSpPr>
          <p:cNvPr id="8" name="Text 6"/>
          <p:cNvSpPr/>
          <p:nvPr/>
        </p:nvSpPr>
        <p:spPr>
          <a:xfrm>
            <a:off x="182880" y="2075688"/>
            <a:ext cx="987552" cy="25603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Upload JPEG/PNG</a:t>
            </a:r>
            <a:endParaRPr lang="en-US" sz="800" dirty="0"/>
          </a:p>
        </p:txBody>
      </p:sp>
      <p:sp>
        <p:nvSpPr>
          <p:cNvPr id="9" name="Shape 7"/>
          <p:cNvSpPr/>
          <p:nvPr/>
        </p:nvSpPr>
        <p:spPr>
          <a:xfrm>
            <a:off x="1170432" y="1874520"/>
            <a:ext cx="109728" cy="0"/>
          </a:xfrm>
          <a:prstGeom prst="line">
            <a:avLst/>
          </a:prstGeom>
          <a:noFill/>
          <a:ln w="19050">
            <a:solidFill>
              <a:srgbClr val="94A3B8"/>
            </a:solidFill>
            <a:prstDash val="solid"/>
          </a:ln>
        </p:spPr>
      </p:sp>
      <p:sp>
        <p:nvSpPr>
          <p:cNvPr id="10" name="Text 8"/>
          <p:cNvSpPr/>
          <p:nvPr/>
        </p:nvSpPr>
        <p:spPr>
          <a:xfrm>
            <a:off x="1170432" y="1764792"/>
            <a:ext cx="137160" cy="219456"/>
          </a:xfrm>
          <a:prstGeom prst="rect">
            <a:avLst/>
          </a:prstGeom>
          <a:noFill/>
          <a:ln/>
        </p:spPr>
        <p:txBody>
          <a:bodyPr wrap="square" lIns="0" tIns="0" rIns="0" bIns="0" rtlCol="0" anchor="ctr"/>
          <a:lstStyle/>
          <a:p>
            <a:pPr indent="0" marL="0">
              <a:buNone/>
            </a:pPr>
            <a:r>
              <a:rPr lang="en-US" sz="800" dirty="0">
                <a:solidFill>
                  <a:srgbClr val="94A3B8"/>
                </a:solidFill>
              </a:rPr>
              <a:t>▶</a:t>
            </a:r>
            <a:endParaRPr lang="en-US" sz="800" dirty="0"/>
          </a:p>
        </p:txBody>
      </p:sp>
      <p:sp>
        <p:nvSpPr>
          <p:cNvPr id="11" name="Shape 9"/>
          <p:cNvSpPr/>
          <p:nvPr/>
        </p:nvSpPr>
        <p:spPr>
          <a:xfrm>
            <a:off x="1280160" y="1417320"/>
            <a:ext cx="987552" cy="914400"/>
          </a:xfrm>
          <a:prstGeom prst="rect">
            <a:avLst/>
          </a:prstGeom>
          <a:solidFill>
            <a:srgbClr val="1060A0"/>
          </a:solidFill>
          <a:ln w="12700">
            <a:solidFill>
              <a:srgbClr val="1060A0"/>
            </a:solidFill>
            <a:prstDash val="solid"/>
          </a:ln>
          <a:effectLst>
            <a:outerShdw sx="100000" sy="100000" kx="0" ky="0" algn="bl" rotWithShape="0" blurRad="76200" dist="25400" dir="8100000">
              <a:srgbClr val="000000">
                <a:alpha val="10000"/>
              </a:srgbClr>
            </a:outerShdw>
          </a:effectLst>
        </p:spPr>
      </p:sp>
      <p:sp>
        <p:nvSpPr>
          <p:cNvPr id="12" name="Text 10"/>
          <p:cNvSpPr/>
          <p:nvPr/>
        </p:nvSpPr>
        <p:spPr>
          <a:xfrm>
            <a:off x="1280160" y="1490472"/>
            <a:ext cx="987552" cy="6400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OCR</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EasyOCR</a:t>
            </a:r>
            <a:endParaRPr lang="en-US" sz="950" dirty="0"/>
          </a:p>
        </p:txBody>
      </p:sp>
      <p:sp>
        <p:nvSpPr>
          <p:cNvPr id="13" name="Shape 11"/>
          <p:cNvSpPr/>
          <p:nvPr/>
        </p:nvSpPr>
        <p:spPr>
          <a:xfrm>
            <a:off x="1280160" y="2075688"/>
            <a:ext cx="987552" cy="256032"/>
          </a:xfrm>
          <a:prstGeom prst="rect">
            <a:avLst/>
          </a:prstGeom>
          <a:solidFill>
            <a:srgbClr val="000000">
              <a:alpha val="70000"/>
            </a:srgbClr>
          </a:solidFill>
          <a:ln w="12700">
            <a:solidFill>
              <a:srgbClr val="000000">
                <a:alpha val="70000"/>
              </a:srgbClr>
            </a:solidFill>
            <a:prstDash val="solid"/>
          </a:ln>
        </p:spPr>
      </p:sp>
      <p:sp>
        <p:nvSpPr>
          <p:cNvPr id="14" name="Text 12"/>
          <p:cNvSpPr/>
          <p:nvPr/>
        </p:nvSpPr>
        <p:spPr>
          <a:xfrm>
            <a:off x="1280160" y="2075688"/>
            <a:ext cx="987552" cy="25603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Texte visible</a:t>
            </a:r>
            <a:endParaRPr lang="en-US" sz="800" dirty="0"/>
          </a:p>
        </p:txBody>
      </p:sp>
      <p:sp>
        <p:nvSpPr>
          <p:cNvPr id="15" name="Shape 13"/>
          <p:cNvSpPr/>
          <p:nvPr/>
        </p:nvSpPr>
        <p:spPr>
          <a:xfrm>
            <a:off x="2267712" y="1874520"/>
            <a:ext cx="109728" cy="0"/>
          </a:xfrm>
          <a:prstGeom prst="line">
            <a:avLst/>
          </a:prstGeom>
          <a:noFill/>
          <a:ln w="19050">
            <a:solidFill>
              <a:srgbClr val="94A3B8"/>
            </a:solidFill>
            <a:prstDash val="solid"/>
          </a:ln>
        </p:spPr>
      </p:sp>
      <p:sp>
        <p:nvSpPr>
          <p:cNvPr id="16" name="Text 14"/>
          <p:cNvSpPr/>
          <p:nvPr/>
        </p:nvSpPr>
        <p:spPr>
          <a:xfrm>
            <a:off x="2267712" y="1764792"/>
            <a:ext cx="137160" cy="219456"/>
          </a:xfrm>
          <a:prstGeom prst="rect">
            <a:avLst/>
          </a:prstGeom>
          <a:noFill/>
          <a:ln/>
        </p:spPr>
        <p:txBody>
          <a:bodyPr wrap="square" lIns="0" tIns="0" rIns="0" bIns="0" rtlCol="0" anchor="ctr"/>
          <a:lstStyle/>
          <a:p>
            <a:pPr indent="0" marL="0">
              <a:buNone/>
            </a:pPr>
            <a:r>
              <a:rPr lang="en-US" sz="800" dirty="0">
                <a:solidFill>
                  <a:srgbClr val="94A3B8"/>
                </a:solidFill>
              </a:rPr>
              <a:t>▶</a:t>
            </a:r>
            <a:endParaRPr lang="en-US" sz="800" dirty="0"/>
          </a:p>
        </p:txBody>
      </p:sp>
      <p:sp>
        <p:nvSpPr>
          <p:cNvPr id="17" name="Shape 15"/>
          <p:cNvSpPr/>
          <p:nvPr/>
        </p:nvSpPr>
        <p:spPr>
          <a:xfrm>
            <a:off x="2377440" y="1417320"/>
            <a:ext cx="987552" cy="914400"/>
          </a:xfrm>
          <a:prstGeom prst="rect">
            <a:avLst/>
          </a:prstGeom>
          <a:solidFill>
            <a:srgbClr val="0E8C9B"/>
          </a:solidFill>
          <a:ln w="12700">
            <a:solidFill>
              <a:srgbClr val="0E8C9B"/>
            </a:solidFill>
            <a:prstDash val="solid"/>
          </a:ln>
          <a:effectLst>
            <a:outerShdw sx="100000" sy="100000" kx="0" ky="0" algn="bl" rotWithShape="0" blurRad="76200" dist="25400" dir="8100000">
              <a:srgbClr val="000000">
                <a:alpha val="10000"/>
              </a:srgbClr>
            </a:outerShdw>
          </a:effectLst>
        </p:spPr>
      </p:sp>
      <p:sp>
        <p:nvSpPr>
          <p:cNvPr id="18" name="Text 16"/>
          <p:cNvSpPr/>
          <p:nvPr/>
        </p:nvSpPr>
        <p:spPr>
          <a:xfrm>
            <a:off x="2377440" y="1490472"/>
            <a:ext cx="987552" cy="6400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NLP</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Entités</a:t>
            </a:r>
            <a:endParaRPr lang="en-US" sz="950" dirty="0"/>
          </a:p>
        </p:txBody>
      </p:sp>
      <p:sp>
        <p:nvSpPr>
          <p:cNvPr id="19" name="Shape 17"/>
          <p:cNvSpPr/>
          <p:nvPr/>
        </p:nvSpPr>
        <p:spPr>
          <a:xfrm>
            <a:off x="2377440" y="2075688"/>
            <a:ext cx="987552" cy="256032"/>
          </a:xfrm>
          <a:prstGeom prst="rect">
            <a:avLst/>
          </a:prstGeom>
          <a:solidFill>
            <a:srgbClr val="000000">
              <a:alpha val="70000"/>
            </a:srgbClr>
          </a:solidFill>
          <a:ln w="12700">
            <a:solidFill>
              <a:srgbClr val="000000">
                <a:alpha val="70000"/>
              </a:srgbClr>
            </a:solidFill>
            <a:prstDash val="solid"/>
          </a:ln>
        </p:spPr>
      </p:sp>
      <p:sp>
        <p:nvSpPr>
          <p:cNvPr id="20" name="Text 18"/>
          <p:cNvSpPr/>
          <p:nvPr/>
        </p:nvSpPr>
        <p:spPr>
          <a:xfrm>
            <a:off x="2377440" y="2075688"/>
            <a:ext cx="987552" cy="25603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Marque, prix...</a:t>
            </a:r>
            <a:endParaRPr lang="en-US" sz="800" dirty="0"/>
          </a:p>
        </p:txBody>
      </p:sp>
      <p:sp>
        <p:nvSpPr>
          <p:cNvPr id="21" name="Shape 19"/>
          <p:cNvSpPr/>
          <p:nvPr/>
        </p:nvSpPr>
        <p:spPr>
          <a:xfrm>
            <a:off x="3364992" y="1874520"/>
            <a:ext cx="109728" cy="0"/>
          </a:xfrm>
          <a:prstGeom prst="line">
            <a:avLst/>
          </a:prstGeom>
          <a:noFill/>
          <a:ln w="19050">
            <a:solidFill>
              <a:srgbClr val="94A3B8"/>
            </a:solidFill>
            <a:prstDash val="solid"/>
          </a:ln>
        </p:spPr>
      </p:sp>
      <p:sp>
        <p:nvSpPr>
          <p:cNvPr id="22" name="Text 20"/>
          <p:cNvSpPr/>
          <p:nvPr/>
        </p:nvSpPr>
        <p:spPr>
          <a:xfrm>
            <a:off x="3364992" y="1764792"/>
            <a:ext cx="137160" cy="219456"/>
          </a:xfrm>
          <a:prstGeom prst="rect">
            <a:avLst/>
          </a:prstGeom>
          <a:noFill/>
          <a:ln/>
        </p:spPr>
        <p:txBody>
          <a:bodyPr wrap="square" lIns="0" tIns="0" rIns="0" bIns="0" rtlCol="0" anchor="ctr"/>
          <a:lstStyle/>
          <a:p>
            <a:pPr indent="0" marL="0">
              <a:buNone/>
            </a:pPr>
            <a:r>
              <a:rPr lang="en-US" sz="800" dirty="0">
                <a:solidFill>
                  <a:srgbClr val="94A3B8"/>
                </a:solidFill>
              </a:rPr>
              <a:t>▶</a:t>
            </a:r>
            <a:endParaRPr lang="en-US" sz="800" dirty="0"/>
          </a:p>
        </p:txBody>
      </p:sp>
      <p:sp>
        <p:nvSpPr>
          <p:cNvPr id="23" name="Shape 21"/>
          <p:cNvSpPr/>
          <p:nvPr/>
        </p:nvSpPr>
        <p:spPr>
          <a:xfrm>
            <a:off x="3474720" y="1417320"/>
            <a:ext cx="987552" cy="914400"/>
          </a:xfrm>
          <a:prstGeom prst="rect">
            <a:avLst/>
          </a:prstGeom>
          <a:solidFill>
            <a:srgbClr val="0E8C9B"/>
          </a:solidFill>
          <a:ln w="12700">
            <a:solidFill>
              <a:srgbClr val="0E8C9B"/>
            </a:solidFill>
            <a:prstDash val="solid"/>
          </a:ln>
          <a:effectLst>
            <a:outerShdw sx="100000" sy="100000" kx="0" ky="0" algn="bl" rotWithShape="0" blurRad="76200" dist="25400" dir="8100000">
              <a:srgbClr val="000000">
                <a:alpha val="10000"/>
              </a:srgbClr>
            </a:outerShdw>
          </a:effectLst>
        </p:spPr>
      </p:sp>
      <p:sp>
        <p:nvSpPr>
          <p:cNvPr id="24" name="Text 22"/>
          <p:cNvSpPr/>
          <p:nvPr/>
        </p:nvSpPr>
        <p:spPr>
          <a:xfrm>
            <a:off x="3474720" y="1490472"/>
            <a:ext cx="987552" cy="6400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DETECTOR</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DINO</a:t>
            </a:r>
            <a:endParaRPr lang="en-US" sz="950" dirty="0"/>
          </a:p>
        </p:txBody>
      </p:sp>
      <p:sp>
        <p:nvSpPr>
          <p:cNvPr id="25" name="Shape 23"/>
          <p:cNvSpPr/>
          <p:nvPr/>
        </p:nvSpPr>
        <p:spPr>
          <a:xfrm>
            <a:off x="3474720" y="2075688"/>
            <a:ext cx="987552" cy="256032"/>
          </a:xfrm>
          <a:prstGeom prst="rect">
            <a:avLst/>
          </a:prstGeom>
          <a:solidFill>
            <a:srgbClr val="000000">
              <a:alpha val="70000"/>
            </a:srgbClr>
          </a:solidFill>
          <a:ln w="12700">
            <a:solidFill>
              <a:srgbClr val="000000">
                <a:alpha val="70000"/>
              </a:srgbClr>
            </a:solidFill>
            <a:prstDash val="solid"/>
          </a:ln>
        </p:spPr>
      </p:sp>
      <p:sp>
        <p:nvSpPr>
          <p:cNvPr id="26" name="Text 24"/>
          <p:cNvSpPr/>
          <p:nvPr/>
        </p:nvSpPr>
        <p:spPr>
          <a:xfrm>
            <a:off x="3474720" y="2075688"/>
            <a:ext cx="987552" cy="25603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Masque produit</a:t>
            </a:r>
            <a:endParaRPr lang="en-US" sz="800" dirty="0"/>
          </a:p>
        </p:txBody>
      </p:sp>
      <p:sp>
        <p:nvSpPr>
          <p:cNvPr id="27" name="Shape 25"/>
          <p:cNvSpPr/>
          <p:nvPr/>
        </p:nvSpPr>
        <p:spPr>
          <a:xfrm>
            <a:off x="4462272" y="1874520"/>
            <a:ext cx="109728" cy="0"/>
          </a:xfrm>
          <a:prstGeom prst="line">
            <a:avLst/>
          </a:prstGeom>
          <a:noFill/>
          <a:ln w="19050">
            <a:solidFill>
              <a:srgbClr val="94A3B8"/>
            </a:solidFill>
            <a:prstDash val="solid"/>
          </a:ln>
        </p:spPr>
      </p:sp>
      <p:sp>
        <p:nvSpPr>
          <p:cNvPr id="28" name="Text 26"/>
          <p:cNvSpPr/>
          <p:nvPr/>
        </p:nvSpPr>
        <p:spPr>
          <a:xfrm>
            <a:off x="4462272" y="1764792"/>
            <a:ext cx="137160" cy="219456"/>
          </a:xfrm>
          <a:prstGeom prst="rect">
            <a:avLst/>
          </a:prstGeom>
          <a:noFill/>
          <a:ln/>
        </p:spPr>
        <p:txBody>
          <a:bodyPr wrap="square" lIns="0" tIns="0" rIns="0" bIns="0" rtlCol="0" anchor="ctr"/>
          <a:lstStyle/>
          <a:p>
            <a:pPr indent="0" marL="0">
              <a:buNone/>
            </a:pPr>
            <a:r>
              <a:rPr lang="en-US" sz="800" dirty="0">
                <a:solidFill>
                  <a:srgbClr val="94A3B8"/>
                </a:solidFill>
              </a:rPr>
              <a:t>▶</a:t>
            </a:r>
            <a:endParaRPr lang="en-US" sz="800" dirty="0"/>
          </a:p>
        </p:txBody>
      </p:sp>
      <p:sp>
        <p:nvSpPr>
          <p:cNvPr id="29" name="Shape 27"/>
          <p:cNvSpPr/>
          <p:nvPr/>
        </p:nvSpPr>
        <p:spPr>
          <a:xfrm>
            <a:off x="4572000" y="1417320"/>
            <a:ext cx="987552" cy="914400"/>
          </a:xfrm>
          <a:prstGeom prst="rect">
            <a:avLst/>
          </a:prstGeom>
          <a:solidFill>
            <a:srgbClr val="1060A0"/>
          </a:solidFill>
          <a:ln w="12700">
            <a:solidFill>
              <a:srgbClr val="1060A0"/>
            </a:solidFill>
            <a:prstDash val="solid"/>
          </a:ln>
          <a:effectLst>
            <a:outerShdw sx="100000" sy="100000" kx="0" ky="0" algn="bl" rotWithShape="0" blurRad="76200" dist="25400" dir="8100000">
              <a:srgbClr val="000000">
                <a:alpha val="10000"/>
              </a:srgbClr>
            </a:outerShdw>
          </a:effectLst>
        </p:spPr>
      </p:sp>
      <p:sp>
        <p:nvSpPr>
          <p:cNvPr id="30" name="Text 28"/>
          <p:cNvSpPr/>
          <p:nvPr/>
        </p:nvSpPr>
        <p:spPr>
          <a:xfrm>
            <a:off x="4572000" y="1490472"/>
            <a:ext cx="987552" cy="6400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ANALYZER</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6 critères</a:t>
            </a:r>
            <a:endParaRPr lang="en-US" sz="950" dirty="0"/>
          </a:p>
        </p:txBody>
      </p:sp>
      <p:sp>
        <p:nvSpPr>
          <p:cNvPr id="31" name="Shape 29"/>
          <p:cNvSpPr/>
          <p:nvPr/>
        </p:nvSpPr>
        <p:spPr>
          <a:xfrm>
            <a:off x="4572000" y="2075688"/>
            <a:ext cx="987552" cy="256032"/>
          </a:xfrm>
          <a:prstGeom prst="rect">
            <a:avLst/>
          </a:prstGeom>
          <a:solidFill>
            <a:srgbClr val="000000">
              <a:alpha val="70000"/>
            </a:srgbClr>
          </a:solidFill>
          <a:ln w="12700">
            <a:solidFill>
              <a:srgbClr val="000000">
                <a:alpha val="70000"/>
              </a:srgbClr>
            </a:solidFill>
            <a:prstDash val="solid"/>
          </a:ln>
        </p:spPr>
      </p:sp>
      <p:sp>
        <p:nvSpPr>
          <p:cNvPr id="32" name="Text 30"/>
          <p:cNvSpPr/>
          <p:nvPr/>
        </p:nvSpPr>
        <p:spPr>
          <a:xfrm>
            <a:off x="4572000" y="2075688"/>
            <a:ext cx="987552" cy="25603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Score + Grade</a:t>
            </a:r>
            <a:endParaRPr lang="en-US" sz="800" dirty="0"/>
          </a:p>
        </p:txBody>
      </p:sp>
      <p:sp>
        <p:nvSpPr>
          <p:cNvPr id="33" name="Shape 31"/>
          <p:cNvSpPr/>
          <p:nvPr/>
        </p:nvSpPr>
        <p:spPr>
          <a:xfrm>
            <a:off x="5559552" y="1874520"/>
            <a:ext cx="109728" cy="0"/>
          </a:xfrm>
          <a:prstGeom prst="line">
            <a:avLst/>
          </a:prstGeom>
          <a:noFill/>
          <a:ln w="19050">
            <a:solidFill>
              <a:srgbClr val="94A3B8"/>
            </a:solidFill>
            <a:prstDash val="solid"/>
          </a:ln>
        </p:spPr>
      </p:sp>
      <p:sp>
        <p:nvSpPr>
          <p:cNvPr id="34" name="Text 32"/>
          <p:cNvSpPr/>
          <p:nvPr/>
        </p:nvSpPr>
        <p:spPr>
          <a:xfrm>
            <a:off x="5559552" y="1764792"/>
            <a:ext cx="137160" cy="219456"/>
          </a:xfrm>
          <a:prstGeom prst="rect">
            <a:avLst/>
          </a:prstGeom>
          <a:noFill/>
          <a:ln/>
        </p:spPr>
        <p:txBody>
          <a:bodyPr wrap="square" lIns="0" tIns="0" rIns="0" bIns="0" rtlCol="0" anchor="ctr"/>
          <a:lstStyle/>
          <a:p>
            <a:pPr indent="0" marL="0">
              <a:buNone/>
            </a:pPr>
            <a:r>
              <a:rPr lang="en-US" sz="800" dirty="0">
                <a:solidFill>
                  <a:srgbClr val="94A3B8"/>
                </a:solidFill>
              </a:rPr>
              <a:t>▶</a:t>
            </a:r>
            <a:endParaRPr lang="en-US" sz="800" dirty="0"/>
          </a:p>
        </p:txBody>
      </p:sp>
      <p:sp>
        <p:nvSpPr>
          <p:cNvPr id="35" name="Shape 33"/>
          <p:cNvSpPr/>
          <p:nvPr/>
        </p:nvSpPr>
        <p:spPr>
          <a:xfrm>
            <a:off x="5669280" y="1417320"/>
            <a:ext cx="987552" cy="914400"/>
          </a:xfrm>
          <a:prstGeom prst="rect">
            <a:avLst/>
          </a:prstGeom>
          <a:solidFill>
            <a:srgbClr val="00B98A"/>
          </a:solidFill>
          <a:ln w="12700">
            <a:solidFill>
              <a:srgbClr val="00B98A"/>
            </a:solidFill>
            <a:prstDash val="solid"/>
          </a:ln>
          <a:effectLst>
            <a:outerShdw sx="100000" sy="100000" kx="0" ky="0" algn="bl" rotWithShape="0" blurRad="76200" dist="25400" dir="8100000">
              <a:srgbClr val="000000">
                <a:alpha val="10000"/>
              </a:srgbClr>
            </a:outerShdw>
          </a:effectLst>
        </p:spPr>
      </p:sp>
      <p:sp>
        <p:nvSpPr>
          <p:cNvPr id="36" name="Text 34"/>
          <p:cNvSpPr/>
          <p:nvPr/>
        </p:nvSpPr>
        <p:spPr>
          <a:xfrm>
            <a:off x="5669280" y="1490472"/>
            <a:ext cx="987552" cy="6400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CAPTION</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BLIP</a:t>
            </a:r>
            <a:endParaRPr lang="en-US" sz="950" dirty="0"/>
          </a:p>
        </p:txBody>
      </p:sp>
      <p:sp>
        <p:nvSpPr>
          <p:cNvPr id="37" name="Shape 35"/>
          <p:cNvSpPr/>
          <p:nvPr/>
        </p:nvSpPr>
        <p:spPr>
          <a:xfrm>
            <a:off x="5669280" y="2075688"/>
            <a:ext cx="987552" cy="256032"/>
          </a:xfrm>
          <a:prstGeom prst="rect">
            <a:avLst/>
          </a:prstGeom>
          <a:solidFill>
            <a:srgbClr val="000000">
              <a:alpha val="70000"/>
            </a:srgbClr>
          </a:solidFill>
          <a:ln w="12700">
            <a:solidFill>
              <a:srgbClr val="000000">
                <a:alpha val="70000"/>
              </a:srgbClr>
            </a:solidFill>
            <a:prstDash val="solid"/>
          </a:ln>
        </p:spPr>
      </p:sp>
      <p:sp>
        <p:nvSpPr>
          <p:cNvPr id="38" name="Text 36"/>
          <p:cNvSpPr/>
          <p:nvPr/>
        </p:nvSpPr>
        <p:spPr>
          <a:xfrm>
            <a:off x="5669280" y="2075688"/>
            <a:ext cx="987552" cy="25603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Fiche produit FR</a:t>
            </a:r>
            <a:endParaRPr lang="en-US" sz="800" dirty="0"/>
          </a:p>
        </p:txBody>
      </p:sp>
      <p:sp>
        <p:nvSpPr>
          <p:cNvPr id="39" name="Shape 37"/>
          <p:cNvSpPr/>
          <p:nvPr/>
        </p:nvSpPr>
        <p:spPr>
          <a:xfrm>
            <a:off x="6656832" y="1874520"/>
            <a:ext cx="109728" cy="0"/>
          </a:xfrm>
          <a:prstGeom prst="line">
            <a:avLst/>
          </a:prstGeom>
          <a:noFill/>
          <a:ln w="19050">
            <a:solidFill>
              <a:srgbClr val="94A3B8"/>
            </a:solidFill>
            <a:prstDash val="solid"/>
          </a:ln>
        </p:spPr>
      </p:sp>
      <p:sp>
        <p:nvSpPr>
          <p:cNvPr id="40" name="Text 38"/>
          <p:cNvSpPr/>
          <p:nvPr/>
        </p:nvSpPr>
        <p:spPr>
          <a:xfrm>
            <a:off x="6656832" y="1764792"/>
            <a:ext cx="137160" cy="219456"/>
          </a:xfrm>
          <a:prstGeom prst="rect">
            <a:avLst/>
          </a:prstGeom>
          <a:noFill/>
          <a:ln/>
        </p:spPr>
        <p:txBody>
          <a:bodyPr wrap="square" lIns="0" tIns="0" rIns="0" bIns="0" rtlCol="0" anchor="ctr"/>
          <a:lstStyle/>
          <a:p>
            <a:pPr indent="0" marL="0">
              <a:buNone/>
            </a:pPr>
            <a:r>
              <a:rPr lang="en-US" sz="800" dirty="0">
                <a:solidFill>
                  <a:srgbClr val="94A3B8"/>
                </a:solidFill>
              </a:rPr>
              <a:t>▶</a:t>
            </a:r>
            <a:endParaRPr lang="en-US" sz="800" dirty="0"/>
          </a:p>
        </p:txBody>
      </p:sp>
      <p:sp>
        <p:nvSpPr>
          <p:cNvPr id="41" name="Shape 39"/>
          <p:cNvSpPr/>
          <p:nvPr/>
        </p:nvSpPr>
        <p:spPr>
          <a:xfrm>
            <a:off x="6766560" y="1417320"/>
            <a:ext cx="987552" cy="914400"/>
          </a:xfrm>
          <a:prstGeom prst="rect">
            <a:avLst/>
          </a:prstGeom>
          <a:solidFill>
            <a:srgbClr val="00B98A"/>
          </a:solidFill>
          <a:ln w="12700">
            <a:solidFill>
              <a:srgbClr val="00B98A"/>
            </a:solidFill>
            <a:prstDash val="solid"/>
          </a:ln>
          <a:effectLst>
            <a:outerShdw sx="100000" sy="100000" kx="0" ky="0" algn="bl" rotWithShape="0" blurRad="76200" dist="25400" dir="8100000">
              <a:srgbClr val="000000">
                <a:alpha val="10000"/>
              </a:srgbClr>
            </a:outerShdw>
          </a:effectLst>
        </p:spPr>
      </p:sp>
      <p:sp>
        <p:nvSpPr>
          <p:cNvPr id="42" name="Text 40"/>
          <p:cNvSpPr/>
          <p:nvPr/>
        </p:nvSpPr>
        <p:spPr>
          <a:xfrm>
            <a:off x="6766560" y="1490472"/>
            <a:ext cx="987552" cy="6400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SEARCH</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Jumia</a:t>
            </a:r>
            <a:endParaRPr lang="en-US" sz="950" dirty="0"/>
          </a:p>
        </p:txBody>
      </p:sp>
      <p:sp>
        <p:nvSpPr>
          <p:cNvPr id="43" name="Shape 41"/>
          <p:cNvSpPr/>
          <p:nvPr/>
        </p:nvSpPr>
        <p:spPr>
          <a:xfrm>
            <a:off x="6766560" y="2075688"/>
            <a:ext cx="987552" cy="256032"/>
          </a:xfrm>
          <a:prstGeom prst="rect">
            <a:avLst/>
          </a:prstGeom>
          <a:solidFill>
            <a:srgbClr val="000000">
              <a:alpha val="70000"/>
            </a:srgbClr>
          </a:solidFill>
          <a:ln w="12700">
            <a:solidFill>
              <a:srgbClr val="000000">
                <a:alpha val="70000"/>
              </a:srgbClr>
            </a:solidFill>
            <a:prstDash val="solid"/>
          </a:ln>
        </p:spPr>
      </p:sp>
      <p:sp>
        <p:nvSpPr>
          <p:cNvPr id="44" name="Text 42"/>
          <p:cNvSpPr/>
          <p:nvPr/>
        </p:nvSpPr>
        <p:spPr>
          <a:xfrm>
            <a:off x="6766560" y="2075688"/>
            <a:ext cx="987552" cy="25603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Concurrents</a:t>
            </a:r>
            <a:endParaRPr lang="en-US" sz="800" dirty="0"/>
          </a:p>
        </p:txBody>
      </p:sp>
      <p:sp>
        <p:nvSpPr>
          <p:cNvPr id="45" name="Text 43"/>
          <p:cNvSpPr/>
          <p:nvPr/>
        </p:nvSpPr>
        <p:spPr>
          <a:xfrm>
            <a:off x="365760" y="2487168"/>
            <a:ext cx="8412480" cy="274320"/>
          </a:xfrm>
          <a:prstGeom prst="rect">
            <a:avLst/>
          </a:prstGeom>
          <a:noFill/>
          <a:ln/>
        </p:spPr>
        <p:txBody>
          <a:bodyPr wrap="square" lIns="0" tIns="0" rIns="0" bIns="0"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Pipeline de traitement : de l'image brute à la fiche produit publiable</a:t>
            </a:r>
            <a:endParaRPr lang="en-US" sz="1100" dirty="0"/>
          </a:p>
        </p:txBody>
      </p:sp>
      <p:sp>
        <p:nvSpPr>
          <p:cNvPr id="46" name="Shape 44"/>
          <p:cNvSpPr/>
          <p:nvPr/>
        </p:nvSpPr>
        <p:spPr>
          <a:xfrm>
            <a:off x="457200" y="2926080"/>
            <a:ext cx="1920240" cy="594360"/>
          </a:xfrm>
          <a:prstGeom prst="rect">
            <a:avLst/>
          </a:prstGeom>
          <a:solidFill>
            <a:srgbClr val="0D2137">
              <a:alpha val="90000"/>
            </a:srgbClr>
          </a:solidFill>
          <a:ln w="12700">
            <a:solidFill>
              <a:srgbClr val="0D2137"/>
            </a:solidFill>
            <a:prstDash val="solid"/>
          </a:ln>
        </p:spPr>
      </p:sp>
      <p:sp>
        <p:nvSpPr>
          <p:cNvPr id="47" name="Text 45"/>
          <p:cNvSpPr/>
          <p:nvPr/>
        </p:nvSpPr>
        <p:spPr>
          <a:xfrm>
            <a:off x="457200" y="2926080"/>
            <a:ext cx="1920240" cy="59436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Interface</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Streamlit (app.py)</a:t>
            </a:r>
            <a:endParaRPr lang="en-US" sz="900" dirty="0"/>
          </a:p>
        </p:txBody>
      </p:sp>
      <p:sp>
        <p:nvSpPr>
          <p:cNvPr id="48" name="Shape 46"/>
          <p:cNvSpPr/>
          <p:nvPr/>
        </p:nvSpPr>
        <p:spPr>
          <a:xfrm>
            <a:off x="2560320" y="2926080"/>
            <a:ext cx="1920240" cy="594360"/>
          </a:xfrm>
          <a:prstGeom prst="rect">
            <a:avLst/>
          </a:prstGeom>
          <a:solidFill>
            <a:srgbClr val="1060A0">
              <a:alpha val="90000"/>
            </a:srgbClr>
          </a:solidFill>
          <a:ln w="12700">
            <a:solidFill>
              <a:srgbClr val="1060A0"/>
            </a:solidFill>
            <a:prstDash val="solid"/>
          </a:ln>
        </p:spPr>
      </p:sp>
      <p:sp>
        <p:nvSpPr>
          <p:cNvPr id="49" name="Text 47"/>
          <p:cNvSpPr/>
          <p:nvPr/>
        </p:nvSpPr>
        <p:spPr>
          <a:xfrm>
            <a:off x="2560320" y="2926080"/>
            <a:ext cx="1920240" cy="59436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src/scorer.py</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Façade de scoring</a:t>
            </a:r>
            <a:endParaRPr lang="en-US" sz="900" dirty="0"/>
          </a:p>
        </p:txBody>
      </p:sp>
      <p:sp>
        <p:nvSpPr>
          <p:cNvPr id="50" name="Shape 48"/>
          <p:cNvSpPr/>
          <p:nvPr/>
        </p:nvSpPr>
        <p:spPr>
          <a:xfrm>
            <a:off x="4663440" y="2926080"/>
            <a:ext cx="1920240" cy="594360"/>
          </a:xfrm>
          <a:prstGeom prst="rect">
            <a:avLst/>
          </a:prstGeom>
          <a:solidFill>
            <a:srgbClr val="0E8C9B">
              <a:alpha val="90000"/>
            </a:srgbClr>
          </a:solidFill>
          <a:ln w="12700">
            <a:solidFill>
              <a:srgbClr val="0E8C9B"/>
            </a:solidFill>
            <a:prstDash val="solid"/>
          </a:ln>
        </p:spPr>
      </p:sp>
      <p:sp>
        <p:nvSpPr>
          <p:cNvPr id="51" name="Text 49"/>
          <p:cNvSpPr/>
          <p:nvPr/>
        </p:nvSpPr>
        <p:spPr>
          <a:xfrm>
            <a:off x="4663440" y="2926080"/>
            <a:ext cx="1920240" cy="59436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src/visualizer.py</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Annotation image</a:t>
            </a:r>
            <a:endParaRPr lang="en-US" sz="900" dirty="0"/>
          </a:p>
        </p:txBody>
      </p:sp>
      <p:sp>
        <p:nvSpPr>
          <p:cNvPr id="52" name="Shape 50"/>
          <p:cNvSpPr/>
          <p:nvPr/>
        </p:nvSpPr>
        <p:spPr>
          <a:xfrm>
            <a:off x="6766560" y="2926080"/>
            <a:ext cx="1920240" cy="594360"/>
          </a:xfrm>
          <a:prstGeom prst="rect">
            <a:avLst/>
          </a:prstGeom>
          <a:solidFill>
            <a:srgbClr val="00B98A">
              <a:alpha val="90000"/>
            </a:srgbClr>
          </a:solidFill>
          <a:ln w="12700">
            <a:solidFill>
              <a:srgbClr val="00B98A"/>
            </a:solidFill>
            <a:prstDash val="solid"/>
          </a:ln>
        </p:spPr>
      </p:sp>
      <p:sp>
        <p:nvSpPr>
          <p:cNvPr id="53" name="Text 51"/>
          <p:cNvSpPr/>
          <p:nvPr/>
        </p:nvSpPr>
        <p:spPr>
          <a:xfrm>
            <a:off x="6766560" y="2926080"/>
            <a:ext cx="1920240" cy="59436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src/__init__.py</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API publique</a:t>
            </a:r>
            <a:endParaRPr lang="en-US" sz="900" dirty="0"/>
          </a:p>
        </p:txBody>
      </p:sp>
      <p:sp>
        <p:nvSpPr>
          <p:cNvPr id="54" name="Text 52"/>
          <p:cNvSpPr/>
          <p:nvPr/>
        </p:nvSpPr>
        <p:spPr>
          <a:xfrm>
            <a:off x="365760" y="2834640"/>
            <a:ext cx="2743200" cy="2286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Modules support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2137"/>
          </a:solidFill>
          <a:ln w="12700">
            <a:solidFill>
              <a:srgbClr val="0D2137"/>
            </a:solidFill>
            <a:prstDash val="solid"/>
          </a:ln>
        </p:spPr>
      </p:sp>
      <p:sp>
        <p:nvSpPr>
          <p:cNvPr id="3" name="Shape 1"/>
          <p:cNvSpPr/>
          <p:nvPr/>
        </p:nvSpPr>
        <p:spPr>
          <a:xfrm>
            <a:off x="0" y="960120"/>
            <a:ext cx="9144000" cy="54864"/>
          </a:xfrm>
          <a:prstGeom prst="rect">
            <a:avLst/>
          </a:prstGeom>
          <a:solidFill>
            <a:srgbClr val="00B98A"/>
          </a:solidFill>
          <a:ln w="12700">
            <a:solidFill>
              <a:srgbClr val="00B98A"/>
            </a:solidFill>
            <a:prstDash val="solid"/>
          </a:ln>
        </p:spPr>
      </p:sp>
      <p:sp>
        <p:nvSpPr>
          <p:cNvPr id="4" name="Text 2"/>
          <p:cNvSpPr/>
          <p:nvPr/>
        </p:nvSpPr>
        <p:spPr>
          <a:xfrm>
            <a:off x="365760" y="0"/>
            <a:ext cx="8229600" cy="9601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Modules Développés</a:t>
            </a:r>
            <a:endParaRPr lang="en-US" sz="2600" dirty="0"/>
          </a:p>
        </p:txBody>
      </p:sp>
      <p:sp>
        <p:nvSpPr>
          <p:cNvPr id="5" name="Shape 3"/>
          <p:cNvSpPr/>
          <p:nvPr/>
        </p:nvSpPr>
        <p:spPr>
          <a:xfrm>
            <a:off x="137160" y="1115568"/>
            <a:ext cx="2286000" cy="329184"/>
          </a:xfrm>
          <a:prstGeom prst="rect">
            <a:avLst/>
          </a:prstGeom>
          <a:solidFill>
            <a:srgbClr val="0D2137"/>
          </a:solidFill>
          <a:ln w="12700">
            <a:solidFill>
              <a:srgbClr val="0D2137"/>
            </a:solidFill>
            <a:prstDash val="solid"/>
          </a:ln>
        </p:spPr>
      </p:sp>
      <p:sp>
        <p:nvSpPr>
          <p:cNvPr id="6" name="Text 4"/>
          <p:cNvSpPr/>
          <p:nvPr/>
        </p:nvSpPr>
        <p:spPr>
          <a:xfrm>
            <a:off x="182880" y="1115568"/>
            <a:ext cx="2286000"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Fichier</a:t>
            </a:r>
            <a:endParaRPr lang="en-US" sz="1050" dirty="0"/>
          </a:p>
        </p:txBody>
      </p:sp>
      <p:sp>
        <p:nvSpPr>
          <p:cNvPr id="7" name="Shape 5"/>
          <p:cNvSpPr/>
          <p:nvPr/>
        </p:nvSpPr>
        <p:spPr>
          <a:xfrm>
            <a:off x="2468880" y="1115568"/>
            <a:ext cx="3474720" cy="329184"/>
          </a:xfrm>
          <a:prstGeom prst="rect">
            <a:avLst/>
          </a:prstGeom>
          <a:solidFill>
            <a:srgbClr val="0D2137"/>
          </a:solidFill>
          <a:ln w="12700">
            <a:solidFill>
              <a:srgbClr val="0D2137"/>
            </a:solidFill>
            <a:prstDash val="solid"/>
          </a:ln>
        </p:spPr>
      </p:sp>
      <p:sp>
        <p:nvSpPr>
          <p:cNvPr id="8" name="Text 6"/>
          <p:cNvSpPr/>
          <p:nvPr/>
        </p:nvSpPr>
        <p:spPr>
          <a:xfrm>
            <a:off x="2514600" y="1115568"/>
            <a:ext cx="3474720"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Rôle</a:t>
            </a:r>
            <a:endParaRPr lang="en-US" sz="1050" dirty="0"/>
          </a:p>
        </p:txBody>
      </p:sp>
      <p:sp>
        <p:nvSpPr>
          <p:cNvPr id="9" name="Shape 7"/>
          <p:cNvSpPr/>
          <p:nvPr/>
        </p:nvSpPr>
        <p:spPr>
          <a:xfrm>
            <a:off x="5989320" y="1115568"/>
            <a:ext cx="2011680" cy="329184"/>
          </a:xfrm>
          <a:prstGeom prst="rect">
            <a:avLst/>
          </a:prstGeom>
          <a:solidFill>
            <a:srgbClr val="0D2137"/>
          </a:solidFill>
          <a:ln w="12700">
            <a:solidFill>
              <a:srgbClr val="0D2137"/>
            </a:solidFill>
            <a:prstDash val="solid"/>
          </a:ln>
        </p:spPr>
      </p:sp>
      <p:sp>
        <p:nvSpPr>
          <p:cNvPr id="10" name="Text 8"/>
          <p:cNvSpPr/>
          <p:nvPr/>
        </p:nvSpPr>
        <p:spPr>
          <a:xfrm>
            <a:off x="6035040" y="1115568"/>
            <a:ext cx="2011680"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Technologie</a:t>
            </a:r>
            <a:endParaRPr lang="en-US" sz="1050" dirty="0"/>
          </a:p>
        </p:txBody>
      </p:sp>
      <p:sp>
        <p:nvSpPr>
          <p:cNvPr id="11" name="Shape 9"/>
          <p:cNvSpPr/>
          <p:nvPr/>
        </p:nvSpPr>
        <p:spPr>
          <a:xfrm>
            <a:off x="8046720" y="1115568"/>
            <a:ext cx="1097280" cy="329184"/>
          </a:xfrm>
          <a:prstGeom prst="rect">
            <a:avLst/>
          </a:prstGeom>
          <a:solidFill>
            <a:srgbClr val="0D2137"/>
          </a:solidFill>
          <a:ln w="12700">
            <a:solidFill>
              <a:srgbClr val="0D2137"/>
            </a:solidFill>
            <a:prstDash val="solid"/>
          </a:ln>
        </p:spPr>
      </p:sp>
      <p:sp>
        <p:nvSpPr>
          <p:cNvPr id="12" name="Text 10"/>
          <p:cNvSpPr/>
          <p:nvPr/>
        </p:nvSpPr>
        <p:spPr>
          <a:xfrm>
            <a:off x="8092440" y="1115568"/>
            <a:ext cx="1097280"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Statut</a:t>
            </a:r>
            <a:endParaRPr lang="en-US" sz="1050" dirty="0"/>
          </a:p>
        </p:txBody>
      </p:sp>
      <p:sp>
        <p:nvSpPr>
          <p:cNvPr id="13" name="Shape 11"/>
          <p:cNvSpPr/>
          <p:nvPr/>
        </p:nvSpPr>
        <p:spPr>
          <a:xfrm>
            <a:off x="137160" y="1444752"/>
            <a:ext cx="8869680" cy="402336"/>
          </a:xfrm>
          <a:prstGeom prst="rect">
            <a:avLst/>
          </a:prstGeom>
          <a:solidFill>
            <a:srgbClr val="FFFFFF"/>
          </a:solidFill>
          <a:ln w="3810">
            <a:solidFill>
              <a:srgbClr val="E2E8F0"/>
            </a:solidFill>
            <a:prstDash val="solid"/>
          </a:ln>
        </p:spPr>
      </p:sp>
      <p:sp>
        <p:nvSpPr>
          <p:cNvPr id="14" name="Text 12"/>
          <p:cNvSpPr/>
          <p:nvPr/>
        </p:nvSpPr>
        <p:spPr>
          <a:xfrm>
            <a:off x="210312" y="1444752"/>
            <a:ext cx="2194560" cy="402336"/>
          </a:xfrm>
          <a:prstGeom prst="rect">
            <a:avLst/>
          </a:prstGeom>
          <a:noFill/>
          <a:ln/>
        </p:spPr>
        <p:txBody>
          <a:bodyPr wrap="square" lIns="0" tIns="0" rIns="0" bIns="0" rtlCol="0" anchor="ctr"/>
          <a:lstStyle/>
          <a:p>
            <a:pPr indent="0" marL="0">
              <a:buNone/>
            </a:pPr>
            <a:r>
              <a:rPr lang="en-US" sz="950" b="1" dirty="0">
                <a:solidFill>
                  <a:srgbClr val="1060A0"/>
                </a:solidFill>
                <a:latin typeface="Calibri" pitchFamily="34" charset="0"/>
                <a:ea typeface="Calibri" pitchFamily="34" charset="-122"/>
                <a:cs typeface="Calibri" pitchFamily="34" charset="-120"/>
              </a:rPr>
              <a:t>src/detector.py</a:t>
            </a:r>
            <a:endParaRPr lang="en-US" sz="950" dirty="0"/>
          </a:p>
        </p:txBody>
      </p:sp>
      <p:sp>
        <p:nvSpPr>
          <p:cNvPr id="15" name="Text 13"/>
          <p:cNvSpPr/>
          <p:nvPr/>
        </p:nvSpPr>
        <p:spPr>
          <a:xfrm>
            <a:off x="2542032" y="1444752"/>
            <a:ext cx="3383280" cy="402336"/>
          </a:xfrm>
          <a:prstGeom prst="rect">
            <a:avLst/>
          </a:prstGeom>
          <a:noFill/>
          <a:ln/>
        </p:spPr>
        <p:txBody>
          <a:bodyPr wrap="square" lIns="0" tIns="0" rIns="0" bIns="0" rtlCol="0" anchor="ctr"/>
          <a:lstStyle/>
          <a:p>
            <a:pPr indent="0" marL="0">
              <a:buNone/>
            </a:pPr>
            <a:r>
              <a:rPr lang="en-US" sz="950" dirty="0">
                <a:solidFill>
                  <a:srgbClr val="1A252F"/>
                </a:solidFill>
                <a:latin typeface="Calibri" pitchFamily="34" charset="0"/>
                <a:ea typeface="Calibri" pitchFamily="34" charset="-122"/>
                <a:cs typeface="Calibri" pitchFamily="34" charset="-120"/>
              </a:rPr>
              <a:t>Détection produit (DINO + GrabCut + Otsu)</a:t>
            </a:r>
            <a:endParaRPr lang="en-US" sz="950" dirty="0"/>
          </a:p>
        </p:txBody>
      </p:sp>
      <p:sp>
        <p:nvSpPr>
          <p:cNvPr id="16" name="Text 14"/>
          <p:cNvSpPr/>
          <p:nvPr/>
        </p:nvSpPr>
        <p:spPr>
          <a:xfrm>
            <a:off x="6062472" y="1444752"/>
            <a:ext cx="1920240" cy="402336"/>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Transformers · OpenCV</a:t>
            </a:r>
            <a:endParaRPr lang="en-US" sz="950" dirty="0"/>
          </a:p>
        </p:txBody>
      </p:sp>
      <p:sp>
        <p:nvSpPr>
          <p:cNvPr id="17" name="Text 15"/>
          <p:cNvSpPr/>
          <p:nvPr/>
        </p:nvSpPr>
        <p:spPr>
          <a:xfrm>
            <a:off x="8119872" y="1444752"/>
            <a:ext cx="1005840" cy="402336"/>
          </a:xfrm>
          <a:prstGeom prst="rect">
            <a:avLst/>
          </a:prstGeom>
          <a:noFill/>
          <a:ln/>
        </p:spPr>
        <p:txBody>
          <a:bodyPr wrap="square" lIns="0" tIns="0" rIns="0" bIns="0" rtlCol="0" anchor="ctr"/>
          <a:lstStyle/>
          <a:p>
            <a:pPr indent="0" marL="0">
              <a:buNone/>
            </a:pPr>
            <a:r>
              <a:rPr lang="en-US" sz="950" b="1" dirty="0">
                <a:solidFill>
                  <a:srgbClr val="1A7A45"/>
                </a:solidFill>
                <a:latin typeface="Calibri" pitchFamily="34" charset="0"/>
                <a:ea typeface="Calibri" pitchFamily="34" charset="-122"/>
                <a:cs typeface="Calibri" pitchFamily="34" charset="-120"/>
              </a:rPr>
              <a:t>✅ TERMINÉ</a:t>
            </a:r>
            <a:endParaRPr lang="en-US" sz="950" dirty="0"/>
          </a:p>
        </p:txBody>
      </p:sp>
      <p:sp>
        <p:nvSpPr>
          <p:cNvPr id="18" name="Shape 16"/>
          <p:cNvSpPr/>
          <p:nvPr/>
        </p:nvSpPr>
        <p:spPr>
          <a:xfrm>
            <a:off x="137160" y="1847088"/>
            <a:ext cx="8869680" cy="402336"/>
          </a:xfrm>
          <a:prstGeom prst="rect">
            <a:avLst/>
          </a:prstGeom>
          <a:solidFill>
            <a:srgbClr val="F0F5FA"/>
          </a:solidFill>
          <a:ln w="3810">
            <a:solidFill>
              <a:srgbClr val="E2E8F0"/>
            </a:solidFill>
            <a:prstDash val="solid"/>
          </a:ln>
        </p:spPr>
      </p:sp>
      <p:sp>
        <p:nvSpPr>
          <p:cNvPr id="19" name="Text 17"/>
          <p:cNvSpPr/>
          <p:nvPr/>
        </p:nvSpPr>
        <p:spPr>
          <a:xfrm>
            <a:off x="210312" y="1847088"/>
            <a:ext cx="2194560" cy="402336"/>
          </a:xfrm>
          <a:prstGeom prst="rect">
            <a:avLst/>
          </a:prstGeom>
          <a:noFill/>
          <a:ln/>
        </p:spPr>
        <p:txBody>
          <a:bodyPr wrap="square" lIns="0" tIns="0" rIns="0" bIns="0" rtlCol="0" anchor="ctr"/>
          <a:lstStyle/>
          <a:p>
            <a:pPr indent="0" marL="0">
              <a:buNone/>
            </a:pPr>
            <a:r>
              <a:rPr lang="en-US" sz="950" b="1" dirty="0">
                <a:solidFill>
                  <a:srgbClr val="1060A0"/>
                </a:solidFill>
                <a:latin typeface="Calibri" pitchFamily="34" charset="0"/>
                <a:ea typeface="Calibri" pitchFamily="34" charset="-122"/>
                <a:cs typeface="Calibri" pitchFamily="34" charset="-120"/>
              </a:rPr>
              <a:t>src/analyzer.py</a:t>
            </a:r>
            <a:endParaRPr lang="en-US" sz="950" dirty="0"/>
          </a:p>
        </p:txBody>
      </p:sp>
      <p:sp>
        <p:nvSpPr>
          <p:cNvPr id="20" name="Text 18"/>
          <p:cNvSpPr/>
          <p:nvPr/>
        </p:nvSpPr>
        <p:spPr>
          <a:xfrm>
            <a:off x="2542032" y="1847088"/>
            <a:ext cx="3383280" cy="402336"/>
          </a:xfrm>
          <a:prstGeom prst="rect">
            <a:avLst/>
          </a:prstGeom>
          <a:noFill/>
          <a:ln/>
        </p:spPr>
        <p:txBody>
          <a:bodyPr wrap="square" lIns="0" tIns="0" rIns="0" bIns="0" rtlCol="0" anchor="ctr"/>
          <a:lstStyle/>
          <a:p>
            <a:pPr indent="0" marL="0">
              <a:buNone/>
            </a:pPr>
            <a:r>
              <a:rPr lang="en-US" sz="950" dirty="0">
                <a:solidFill>
                  <a:srgbClr val="1A252F"/>
                </a:solidFill>
                <a:latin typeface="Calibri" pitchFamily="34" charset="0"/>
                <a:ea typeface="Calibri" pitchFamily="34" charset="-122"/>
                <a:cs typeface="Calibri" pitchFamily="34" charset="-120"/>
              </a:rPr>
              <a:t>Analyse 6 critères qualité (score pondéré)</a:t>
            </a:r>
            <a:endParaRPr lang="en-US" sz="950" dirty="0"/>
          </a:p>
        </p:txBody>
      </p:sp>
      <p:sp>
        <p:nvSpPr>
          <p:cNvPr id="21" name="Text 19"/>
          <p:cNvSpPr/>
          <p:nvPr/>
        </p:nvSpPr>
        <p:spPr>
          <a:xfrm>
            <a:off x="6062472" y="1847088"/>
            <a:ext cx="1920240" cy="402336"/>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NumPy · OpenCV · CLIP</a:t>
            </a:r>
            <a:endParaRPr lang="en-US" sz="950" dirty="0"/>
          </a:p>
        </p:txBody>
      </p:sp>
      <p:sp>
        <p:nvSpPr>
          <p:cNvPr id="22" name="Text 20"/>
          <p:cNvSpPr/>
          <p:nvPr/>
        </p:nvSpPr>
        <p:spPr>
          <a:xfrm>
            <a:off x="8119872" y="1847088"/>
            <a:ext cx="1005840" cy="402336"/>
          </a:xfrm>
          <a:prstGeom prst="rect">
            <a:avLst/>
          </a:prstGeom>
          <a:noFill/>
          <a:ln/>
        </p:spPr>
        <p:txBody>
          <a:bodyPr wrap="square" lIns="0" tIns="0" rIns="0" bIns="0" rtlCol="0" anchor="ctr"/>
          <a:lstStyle/>
          <a:p>
            <a:pPr indent="0" marL="0">
              <a:buNone/>
            </a:pPr>
            <a:r>
              <a:rPr lang="en-US" sz="950" b="1" dirty="0">
                <a:solidFill>
                  <a:srgbClr val="1A7A45"/>
                </a:solidFill>
                <a:latin typeface="Calibri" pitchFamily="34" charset="0"/>
                <a:ea typeface="Calibri" pitchFamily="34" charset="-122"/>
                <a:cs typeface="Calibri" pitchFamily="34" charset="-120"/>
              </a:rPr>
              <a:t>✅ TERMINÉ</a:t>
            </a:r>
            <a:endParaRPr lang="en-US" sz="950" dirty="0"/>
          </a:p>
        </p:txBody>
      </p:sp>
      <p:sp>
        <p:nvSpPr>
          <p:cNvPr id="23" name="Shape 21"/>
          <p:cNvSpPr/>
          <p:nvPr/>
        </p:nvSpPr>
        <p:spPr>
          <a:xfrm>
            <a:off x="137160" y="2249424"/>
            <a:ext cx="8869680" cy="402336"/>
          </a:xfrm>
          <a:prstGeom prst="rect">
            <a:avLst/>
          </a:prstGeom>
          <a:solidFill>
            <a:srgbClr val="FFFFFF"/>
          </a:solidFill>
          <a:ln w="3810">
            <a:solidFill>
              <a:srgbClr val="E2E8F0"/>
            </a:solidFill>
            <a:prstDash val="solid"/>
          </a:ln>
        </p:spPr>
      </p:sp>
      <p:sp>
        <p:nvSpPr>
          <p:cNvPr id="24" name="Text 22"/>
          <p:cNvSpPr/>
          <p:nvPr/>
        </p:nvSpPr>
        <p:spPr>
          <a:xfrm>
            <a:off x="210312" y="2249424"/>
            <a:ext cx="2194560" cy="402336"/>
          </a:xfrm>
          <a:prstGeom prst="rect">
            <a:avLst/>
          </a:prstGeom>
          <a:noFill/>
          <a:ln/>
        </p:spPr>
        <p:txBody>
          <a:bodyPr wrap="square" lIns="0" tIns="0" rIns="0" bIns="0" rtlCol="0" anchor="ctr"/>
          <a:lstStyle/>
          <a:p>
            <a:pPr indent="0" marL="0">
              <a:buNone/>
            </a:pPr>
            <a:r>
              <a:rPr lang="en-US" sz="950" b="1" dirty="0">
                <a:solidFill>
                  <a:srgbClr val="1060A0"/>
                </a:solidFill>
                <a:latin typeface="Calibri" pitchFamily="34" charset="0"/>
                <a:ea typeface="Calibri" pitchFamily="34" charset="-122"/>
                <a:cs typeface="Calibri" pitchFamily="34" charset="-120"/>
              </a:rPr>
              <a:t>src/ocr.py</a:t>
            </a:r>
            <a:endParaRPr lang="en-US" sz="950" dirty="0"/>
          </a:p>
        </p:txBody>
      </p:sp>
      <p:sp>
        <p:nvSpPr>
          <p:cNvPr id="25" name="Text 23"/>
          <p:cNvSpPr/>
          <p:nvPr/>
        </p:nvSpPr>
        <p:spPr>
          <a:xfrm>
            <a:off x="2542032" y="2249424"/>
            <a:ext cx="3383280" cy="402336"/>
          </a:xfrm>
          <a:prstGeom prst="rect">
            <a:avLst/>
          </a:prstGeom>
          <a:noFill/>
          <a:ln/>
        </p:spPr>
        <p:txBody>
          <a:bodyPr wrap="square" lIns="0" tIns="0" rIns="0" bIns="0" rtlCol="0" anchor="ctr"/>
          <a:lstStyle/>
          <a:p>
            <a:pPr indent="0" marL="0">
              <a:buNone/>
            </a:pPr>
            <a:r>
              <a:rPr lang="en-US" sz="950" dirty="0">
                <a:solidFill>
                  <a:srgbClr val="1A252F"/>
                </a:solidFill>
                <a:latin typeface="Calibri" pitchFamily="34" charset="0"/>
                <a:ea typeface="Calibri" pitchFamily="34" charset="-122"/>
                <a:cs typeface="Calibri" pitchFamily="34" charset="-120"/>
              </a:rPr>
              <a:t>Extraction texte visible (marque, prix...)</a:t>
            </a:r>
            <a:endParaRPr lang="en-US" sz="950" dirty="0"/>
          </a:p>
        </p:txBody>
      </p:sp>
      <p:sp>
        <p:nvSpPr>
          <p:cNvPr id="26" name="Text 24"/>
          <p:cNvSpPr/>
          <p:nvPr/>
        </p:nvSpPr>
        <p:spPr>
          <a:xfrm>
            <a:off x="6062472" y="2249424"/>
            <a:ext cx="1920240" cy="402336"/>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EasyOCR</a:t>
            </a:r>
            <a:endParaRPr lang="en-US" sz="950" dirty="0"/>
          </a:p>
        </p:txBody>
      </p:sp>
      <p:sp>
        <p:nvSpPr>
          <p:cNvPr id="27" name="Text 25"/>
          <p:cNvSpPr/>
          <p:nvPr/>
        </p:nvSpPr>
        <p:spPr>
          <a:xfrm>
            <a:off x="8119872" y="2249424"/>
            <a:ext cx="1005840" cy="402336"/>
          </a:xfrm>
          <a:prstGeom prst="rect">
            <a:avLst/>
          </a:prstGeom>
          <a:noFill/>
          <a:ln/>
        </p:spPr>
        <p:txBody>
          <a:bodyPr wrap="square" lIns="0" tIns="0" rIns="0" bIns="0" rtlCol="0" anchor="ctr"/>
          <a:lstStyle/>
          <a:p>
            <a:pPr indent="0" marL="0">
              <a:buNone/>
            </a:pPr>
            <a:r>
              <a:rPr lang="en-US" sz="950" b="1" dirty="0">
                <a:solidFill>
                  <a:srgbClr val="1A7A45"/>
                </a:solidFill>
                <a:latin typeface="Calibri" pitchFamily="34" charset="0"/>
                <a:ea typeface="Calibri" pitchFamily="34" charset="-122"/>
                <a:cs typeface="Calibri" pitchFamily="34" charset="-120"/>
              </a:rPr>
              <a:t>✅ TERMINÉ</a:t>
            </a:r>
            <a:endParaRPr lang="en-US" sz="950" dirty="0"/>
          </a:p>
        </p:txBody>
      </p:sp>
      <p:sp>
        <p:nvSpPr>
          <p:cNvPr id="28" name="Shape 26"/>
          <p:cNvSpPr/>
          <p:nvPr/>
        </p:nvSpPr>
        <p:spPr>
          <a:xfrm>
            <a:off x="137160" y="2651760"/>
            <a:ext cx="8869680" cy="402336"/>
          </a:xfrm>
          <a:prstGeom prst="rect">
            <a:avLst/>
          </a:prstGeom>
          <a:solidFill>
            <a:srgbClr val="F0F5FA"/>
          </a:solidFill>
          <a:ln w="3810">
            <a:solidFill>
              <a:srgbClr val="E2E8F0"/>
            </a:solidFill>
            <a:prstDash val="solid"/>
          </a:ln>
        </p:spPr>
      </p:sp>
      <p:sp>
        <p:nvSpPr>
          <p:cNvPr id="29" name="Text 27"/>
          <p:cNvSpPr/>
          <p:nvPr/>
        </p:nvSpPr>
        <p:spPr>
          <a:xfrm>
            <a:off x="210312" y="2651760"/>
            <a:ext cx="2194560" cy="402336"/>
          </a:xfrm>
          <a:prstGeom prst="rect">
            <a:avLst/>
          </a:prstGeom>
          <a:noFill/>
          <a:ln/>
        </p:spPr>
        <p:txBody>
          <a:bodyPr wrap="square" lIns="0" tIns="0" rIns="0" bIns="0" rtlCol="0" anchor="ctr"/>
          <a:lstStyle/>
          <a:p>
            <a:pPr indent="0" marL="0">
              <a:buNone/>
            </a:pPr>
            <a:r>
              <a:rPr lang="en-US" sz="950" b="1" dirty="0">
                <a:solidFill>
                  <a:srgbClr val="1060A0"/>
                </a:solidFill>
                <a:latin typeface="Calibri" pitchFamily="34" charset="0"/>
                <a:ea typeface="Calibri" pitchFamily="34" charset="-122"/>
                <a:cs typeface="Calibri" pitchFamily="34" charset="-120"/>
              </a:rPr>
              <a:t>src/nlp.py</a:t>
            </a:r>
            <a:endParaRPr lang="en-US" sz="950" dirty="0"/>
          </a:p>
        </p:txBody>
      </p:sp>
      <p:sp>
        <p:nvSpPr>
          <p:cNvPr id="30" name="Text 28"/>
          <p:cNvSpPr/>
          <p:nvPr/>
        </p:nvSpPr>
        <p:spPr>
          <a:xfrm>
            <a:off x="2542032" y="2651760"/>
            <a:ext cx="3383280" cy="402336"/>
          </a:xfrm>
          <a:prstGeom prst="rect">
            <a:avLst/>
          </a:prstGeom>
          <a:noFill/>
          <a:ln/>
        </p:spPr>
        <p:txBody>
          <a:bodyPr wrap="square" lIns="0" tIns="0" rIns="0" bIns="0" rtlCol="0" anchor="ctr"/>
          <a:lstStyle/>
          <a:p>
            <a:pPr indent="0" marL="0">
              <a:buNone/>
            </a:pPr>
            <a:r>
              <a:rPr lang="en-US" sz="950" dirty="0">
                <a:solidFill>
                  <a:srgbClr val="1A252F"/>
                </a:solidFill>
                <a:latin typeface="Calibri" pitchFamily="34" charset="0"/>
                <a:ea typeface="Calibri" pitchFamily="34" charset="-122"/>
                <a:cs typeface="Calibri" pitchFamily="34" charset="-120"/>
              </a:rPr>
              <a:t>Extraction d'entités produit (regex + dictionnaire)</a:t>
            </a:r>
            <a:endParaRPr lang="en-US" sz="950" dirty="0"/>
          </a:p>
        </p:txBody>
      </p:sp>
      <p:sp>
        <p:nvSpPr>
          <p:cNvPr id="31" name="Text 29"/>
          <p:cNvSpPr/>
          <p:nvPr/>
        </p:nvSpPr>
        <p:spPr>
          <a:xfrm>
            <a:off x="6062472" y="2651760"/>
            <a:ext cx="1920240" cy="402336"/>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Python re</a:t>
            </a:r>
            <a:endParaRPr lang="en-US" sz="950" dirty="0"/>
          </a:p>
        </p:txBody>
      </p:sp>
      <p:sp>
        <p:nvSpPr>
          <p:cNvPr id="32" name="Text 30"/>
          <p:cNvSpPr/>
          <p:nvPr/>
        </p:nvSpPr>
        <p:spPr>
          <a:xfrm>
            <a:off x="8119872" y="2651760"/>
            <a:ext cx="1005840" cy="402336"/>
          </a:xfrm>
          <a:prstGeom prst="rect">
            <a:avLst/>
          </a:prstGeom>
          <a:noFill/>
          <a:ln/>
        </p:spPr>
        <p:txBody>
          <a:bodyPr wrap="square" lIns="0" tIns="0" rIns="0" bIns="0" rtlCol="0" anchor="ctr"/>
          <a:lstStyle/>
          <a:p>
            <a:pPr indent="0" marL="0">
              <a:buNone/>
            </a:pPr>
            <a:r>
              <a:rPr lang="en-US" sz="950" b="1" dirty="0">
                <a:solidFill>
                  <a:srgbClr val="1A7A45"/>
                </a:solidFill>
                <a:latin typeface="Calibri" pitchFamily="34" charset="0"/>
                <a:ea typeface="Calibri" pitchFamily="34" charset="-122"/>
                <a:cs typeface="Calibri" pitchFamily="34" charset="-120"/>
              </a:rPr>
              <a:t>✅ TERMINÉ</a:t>
            </a:r>
            <a:endParaRPr lang="en-US" sz="950" dirty="0"/>
          </a:p>
        </p:txBody>
      </p:sp>
      <p:sp>
        <p:nvSpPr>
          <p:cNvPr id="33" name="Shape 31"/>
          <p:cNvSpPr/>
          <p:nvPr/>
        </p:nvSpPr>
        <p:spPr>
          <a:xfrm>
            <a:off x="137160" y="3054096"/>
            <a:ext cx="8869680" cy="402336"/>
          </a:xfrm>
          <a:prstGeom prst="rect">
            <a:avLst/>
          </a:prstGeom>
          <a:solidFill>
            <a:srgbClr val="FFFFFF"/>
          </a:solidFill>
          <a:ln w="3810">
            <a:solidFill>
              <a:srgbClr val="E2E8F0"/>
            </a:solidFill>
            <a:prstDash val="solid"/>
          </a:ln>
        </p:spPr>
      </p:sp>
      <p:sp>
        <p:nvSpPr>
          <p:cNvPr id="34" name="Text 32"/>
          <p:cNvSpPr/>
          <p:nvPr/>
        </p:nvSpPr>
        <p:spPr>
          <a:xfrm>
            <a:off x="210312" y="3054096"/>
            <a:ext cx="2194560" cy="402336"/>
          </a:xfrm>
          <a:prstGeom prst="rect">
            <a:avLst/>
          </a:prstGeom>
          <a:noFill/>
          <a:ln/>
        </p:spPr>
        <p:txBody>
          <a:bodyPr wrap="square" lIns="0" tIns="0" rIns="0" bIns="0" rtlCol="0" anchor="ctr"/>
          <a:lstStyle/>
          <a:p>
            <a:pPr indent="0" marL="0">
              <a:buNone/>
            </a:pPr>
            <a:r>
              <a:rPr lang="en-US" sz="950" b="1" dirty="0">
                <a:solidFill>
                  <a:srgbClr val="1060A0"/>
                </a:solidFill>
                <a:latin typeface="Calibri" pitchFamily="34" charset="0"/>
                <a:ea typeface="Calibri" pitchFamily="34" charset="-122"/>
                <a:cs typeface="Calibri" pitchFamily="34" charset="-120"/>
              </a:rPr>
              <a:t>src/caption.py</a:t>
            </a:r>
            <a:endParaRPr lang="en-US" sz="950" dirty="0"/>
          </a:p>
        </p:txBody>
      </p:sp>
      <p:sp>
        <p:nvSpPr>
          <p:cNvPr id="35" name="Text 33"/>
          <p:cNvSpPr/>
          <p:nvPr/>
        </p:nvSpPr>
        <p:spPr>
          <a:xfrm>
            <a:off x="2542032" y="3054096"/>
            <a:ext cx="3383280" cy="402336"/>
          </a:xfrm>
          <a:prstGeom prst="rect">
            <a:avLst/>
          </a:prstGeom>
          <a:noFill/>
          <a:ln/>
        </p:spPr>
        <p:txBody>
          <a:bodyPr wrap="square" lIns="0" tIns="0" rIns="0" bIns="0" rtlCol="0" anchor="ctr"/>
          <a:lstStyle/>
          <a:p>
            <a:pPr indent="0" marL="0">
              <a:buNone/>
            </a:pPr>
            <a:r>
              <a:rPr lang="en-US" sz="950" dirty="0">
                <a:solidFill>
                  <a:srgbClr val="1A252F"/>
                </a:solidFill>
                <a:latin typeface="Calibri" pitchFamily="34" charset="0"/>
                <a:ea typeface="Calibri" pitchFamily="34" charset="-122"/>
                <a:cs typeface="Calibri" pitchFamily="34" charset="-120"/>
              </a:rPr>
              <a:t>Génération fiche produit en français (BLIP)</a:t>
            </a:r>
            <a:endParaRPr lang="en-US" sz="950" dirty="0"/>
          </a:p>
        </p:txBody>
      </p:sp>
      <p:sp>
        <p:nvSpPr>
          <p:cNvPr id="36" name="Text 34"/>
          <p:cNvSpPr/>
          <p:nvPr/>
        </p:nvSpPr>
        <p:spPr>
          <a:xfrm>
            <a:off x="6062472" y="3054096"/>
            <a:ext cx="1920240" cy="402336"/>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Transformers · PIL</a:t>
            </a:r>
            <a:endParaRPr lang="en-US" sz="950" dirty="0"/>
          </a:p>
        </p:txBody>
      </p:sp>
      <p:sp>
        <p:nvSpPr>
          <p:cNvPr id="37" name="Text 35"/>
          <p:cNvSpPr/>
          <p:nvPr/>
        </p:nvSpPr>
        <p:spPr>
          <a:xfrm>
            <a:off x="8119872" y="3054096"/>
            <a:ext cx="1005840" cy="402336"/>
          </a:xfrm>
          <a:prstGeom prst="rect">
            <a:avLst/>
          </a:prstGeom>
          <a:noFill/>
          <a:ln/>
        </p:spPr>
        <p:txBody>
          <a:bodyPr wrap="square" lIns="0" tIns="0" rIns="0" bIns="0" rtlCol="0" anchor="ctr"/>
          <a:lstStyle/>
          <a:p>
            <a:pPr indent="0" marL="0">
              <a:buNone/>
            </a:pPr>
            <a:r>
              <a:rPr lang="en-US" sz="950" b="1" dirty="0">
                <a:solidFill>
                  <a:srgbClr val="1A7A45"/>
                </a:solidFill>
                <a:latin typeface="Calibri" pitchFamily="34" charset="0"/>
                <a:ea typeface="Calibri" pitchFamily="34" charset="-122"/>
                <a:cs typeface="Calibri" pitchFamily="34" charset="-120"/>
              </a:rPr>
              <a:t>✅ TERMINÉ</a:t>
            </a:r>
            <a:endParaRPr lang="en-US" sz="950" dirty="0"/>
          </a:p>
        </p:txBody>
      </p:sp>
      <p:sp>
        <p:nvSpPr>
          <p:cNvPr id="38" name="Shape 36"/>
          <p:cNvSpPr/>
          <p:nvPr/>
        </p:nvSpPr>
        <p:spPr>
          <a:xfrm>
            <a:off x="137160" y="3456432"/>
            <a:ext cx="8869680" cy="402336"/>
          </a:xfrm>
          <a:prstGeom prst="rect">
            <a:avLst/>
          </a:prstGeom>
          <a:solidFill>
            <a:srgbClr val="F0F5FA"/>
          </a:solidFill>
          <a:ln w="3810">
            <a:solidFill>
              <a:srgbClr val="E2E8F0"/>
            </a:solidFill>
            <a:prstDash val="solid"/>
          </a:ln>
        </p:spPr>
      </p:sp>
      <p:sp>
        <p:nvSpPr>
          <p:cNvPr id="39" name="Text 37"/>
          <p:cNvSpPr/>
          <p:nvPr/>
        </p:nvSpPr>
        <p:spPr>
          <a:xfrm>
            <a:off x="210312" y="3456432"/>
            <a:ext cx="2194560" cy="402336"/>
          </a:xfrm>
          <a:prstGeom prst="rect">
            <a:avLst/>
          </a:prstGeom>
          <a:noFill/>
          <a:ln/>
        </p:spPr>
        <p:txBody>
          <a:bodyPr wrap="square" lIns="0" tIns="0" rIns="0" bIns="0" rtlCol="0" anchor="ctr"/>
          <a:lstStyle/>
          <a:p>
            <a:pPr indent="0" marL="0">
              <a:buNone/>
            </a:pPr>
            <a:r>
              <a:rPr lang="en-US" sz="950" b="1" dirty="0">
                <a:solidFill>
                  <a:srgbClr val="1060A0"/>
                </a:solidFill>
                <a:latin typeface="Calibri" pitchFamily="34" charset="0"/>
                <a:ea typeface="Calibri" pitchFamily="34" charset="-122"/>
                <a:cs typeface="Calibri" pitchFamily="34" charset="-120"/>
              </a:rPr>
              <a:t>src/n8n_search.py</a:t>
            </a:r>
            <a:endParaRPr lang="en-US" sz="950" dirty="0"/>
          </a:p>
        </p:txBody>
      </p:sp>
      <p:sp>
        <p:nvSpPr>
          <p:cNvPr id="40" name="Text 38"/>
          <p:cNvSpPr/>
          <p:nvPr/>
        </p:nvSpPr>
        <p:spPr>
          <a:xfrm>
            <a:off x="2542032" y="3456432"/>
            <a:ext cx="3383280" cy="402336"/>
          </a:xfrm>
          <a:prstGeom prst="rect">
            <a:avLst/>
          </a:prstGeom>
          <a:noFill/>
          <a:ln/>
        </p:spPr>
        <p:txBody>
          <a:bodyPr wrap="square" lIns="0" tIns="0" rIns="0" bIns="0" rtlCol="0" anchor="ctr"/>
          <a:lstStyle/>
          <a:p>
            <a:pPr indent="0" marL="0">
              <a:buNone/>
            </a:pPr>
            <a:r>
              <a:rPr lang="en-US" sz="950" dirty="0">
                <a:solidFill>
                  <a:srgbClr val="1A252F"/>
                </a:solidFill>
                <a:latin typeface="Calibri" pitchFamily="34" charset="0"/>
                <a:ea typeface="Calibri" pitchFamily="34" charset="-122"/>
                <a:cs typeface="Calibri" pitchFamily="34" charset="-120"/>
              </a:rPr>
              <a:t>Recherche concurrents Jumia (scraping)</a:t>
            </a:r>
            <a:endParaRPr lang="en-US" sz="950" dirty="0"/>
          </a:p>
        </p:txBody>
      </p:sp>
      <p:sp>
        <p:nvSpPr>
          <p:cNvPr id="41" name="Text 39"/>
          <p:cNvSpPr/>
          <p:nvPr/>
        </p:nvSpPr>
        <p:spPr>
          <a:xfrm>
            <a:off x="6062472" y="3456432"/>
            <a:ext cx="1920240" cy="402336"/>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Requests · BeautifulSoup</a:t>
            </a:r>
            <a:endParaRPr lang="en-US" sz="950" dirty="0"/>
          </a:p>
        </p:txBody>
      </p:sp>
      <p:sp>
        <p:nvSpPr>
          <p:cNvPr id="42" name="Text 40"/>
          <p:cNvSpPr/>
          <p:nvPr/>
        </p:nvSpPr>
        <p:spPr>
          <a:xfrm>
            <a:off x="8119872" y="3456432"/>
            <a:ext cx="1005840" cy="402336"/>
          </a:xfrm>
          <a:prstGeom prst="rect">
            <a:avLst/>
          </a:prstGeom>
          <a:noFill/>
          <a:ln/>
        </p:spPr>
        <p:txBody>
          <a:bodyPr wrap="square" lIns="0" tIns="0" rIns="0" bIns="0" rtlCol="0" anchor="ctr"/>
          <a:lstStyle/>
          <a:p>
            <a:pPr indent="0" marL="0">
              <a:buNone/>
            </a:pPr>
            <a:r>
              <a:rPr lang="en-US" sz="950" b="1" dirty="0">
                <a:solidFill>
                  <a:srgbClr val="1A7A45"/>
                </a:solidFill>
                <a:latin typeface="Calibri" pitchFamily="34" charset="0"/>
                <a:ea typeface="Calibri" pitchFamily="34" charset="-122"/>
                <a:cs typeface="Calibri" pitchFamily="34" charset="-120"/>
              </a:rPr>
              <a:t>✅ TERMINÉ</a:t>
            </a:r>
            <a:endParaRPr lang="en-US" sz="950" dirty="0"/>
          </a:p>
        </p:txBody>
      </p:sp>
      <p:sp>
        <p:nvSpPr>
          <p:cNvPr id="43" name="Shape 41"/>
          <p:cNvSpPr/>
          <p:nvPr/>
        </p:nvSpPr>
        <p:spPr>
          <a:xfrm>
            <a:off x="137160" y="3858768"/>
            <a:ext cx="8869680" cy="402336"/>
          </a:xfrm>
          <a:prstGeom prst="rect">
            <a:avLst/>
          </a:prstGeom>
          <a:solidFill>
            <a:srgbClr val="FFFFFF"/>
          </a:solidFill>
          <a:ln w="3810">
            <a:solidFill>
              <a:srgbClr val="E2E8F0"/>
            </a:solidFill>
            <a:prstDash val="solid"/>
          </a:ln>
        </p:spPr>
      </p:sp>
      <p:sp>
        <p:nvSpPr>
          <p:cNvPr id="44" name="Text 42"/>
          <p:cNvSpPr/>
          <p:nvPr/>
        </p:nvSpPr>
        <p:spPr>
          <a:xfrm>
            <a:off x="210312" y="3858768"/>
            <a:ext cx="2194560" cy="402336"/>
          </a:xfrm>
          <a:prstGeom prst="rect">
            <a:avLst/>
          </a:prstGeom>
          <a:noFill/>
          <a:ln/>
        </p:spPr>
        <p:txBody>
          <a:bodyPr wrap="square" lIns="0" tIns="0" rIns="0" bIns="0" rtlCol="0" anchor="ctr"/>
          <a:lstStyle/>
          <a:p>
            <a:pPr indent="0" marL="0">
              <a:buNone/>
            </a:pPr>
            <a:r>
              <a:rPr lang="en-US" sz="950" b="1" dirty="0">
                <a:solidFill>
                  <a:srgbClr val="1060A0"/>
                </a:solidFill>
                <a:latin typeface="Calibri" pitchFamily="34" charset="0"/>
                <a:ea typeface="Calibri" pitchFamily="34" charset="-122"/>
                <a:cs typeface="Calibri" pitchFamily="34" charset="-120"/>
              </a:rPr>
              <a:t>src/scorer.py</a:t>
            </a:r>
            <a:endParaRPr lang="en-US" sz="950" dirty="0"/>
          </a:p>
        </p:txBody>
      </p:sp>
      <p:sp>
        <p:nvSpPr>
          <p:cNvPr id="45" name="Text 43"/>
          <p:cNvSpPr/>
          <p:nvPr/>
        </p:nvSpPr>
        <p:spPr>
          <a:xfrm>
            <a:off x="2542032" y="3858768"/>
            <a:ext cx="3383280" cy="402336"/>
          </a:xfrm>
          <a:prstGeom prst="rect">
            <a:avLst/>
          </a:prstGeom>
          <a:noFill/>
          <a:ln/>
        </p:spPr>
        <p:txBody>
          <a:bodyPr wrap="square" lIns="0" tIns="0" rIns="0" bIns="0" rtlCol="0" anchor="ctr"/>
          <a:lstStyle/>
          <a:p>
            <a:pPr indent="0" marL="0">
              <a:buNone/>
            </a:pPr>
            <a:r>
              <a:rPr lang="en-US" sz="950" dirty="0">
                <a:solidFill>
                  <a:srgbClr val="1A252F"/>
                </a:solidFill>
                <a:latin typeface="Calibri" pitchFamily="34" charset="0"/>
                <a:ea typeface="Calibri" pitchFamily="34" charset="-122"/>
                <a:cs typeface="Calibri" pitchFamily="34" charset="-120"/>
              </a:rPr>
              <a:t>Façade score global + grade A–F</a:t>
            </a:r>
            <a:endParaRPr lang="en-US" sz="950" dirty="0"/>
          </a:p>
        </p:txBody>
      </p:sp>
      <p:sp>
        <p:nvSpPr>
          <p:cNvPr id="46" name="Text 44"/>
          <p:cNvSpPr/>
          <p:nvPr/>
        </p:nvSpPr>
        <p:spPr>
          <a:xfrm>
            <a:off x="6062472" y="3858768"/>
            <a:ext cx="1920240" cy="402336"/>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Python</a:t>
            </a:r>
            <a:endParaRPr lang="en-US" sz="950" dirty="0"/>
          </a:p>
        </p:txBody>
      </p:sp>
      <p:sp>
        <p:nvSpPr>
          <p:cNvPr id="47" name="Text 45"/>
          <p:cNvSpPr/>
          <p:nvPr/>
        </p:nvSpPr>
        <p:spPr>
          <a:xfrm>
            <a:off x="8119872" y="3858768"/>
            <a:ext cx="1005840" cy="402336"/>
          </a:xfrm>
          <a:prstGeom prst="rect">
            <a:avLst/>
          </a:prstGeom>
          <a:noFill/>
          <a:ln/>
        </p:spPr>
        <p:txBody>
          <a:bodyPr wrap="square" lIns="0" tIns="0" rIns="0" bIns="0" rtlCol="0" anchor="ctr"/>
          <a:lstStyle/>
          <a:p>
            <a:pPr indent="0" marL="0">
              <a:buNone/>
            </a:pPr>
            <a:r>
              <a:rPr lang="en-US" sz="950" b="1" dirty="0">
                <a:solidFill>
                  <a:srgbClr val="1A7A45"/>
                </a:solidFill>
                <a:latin typeface="Calibri" pitchFamily="34" charset="0"/>
                <a:ea typeface="Calibri" pitchFamily="34" charset="-122"/>
                <a:cs typeface="Calibri" pitchFamily="34" charset="-120"/>
              </a:rPr>
              <a:t>✅ TERMINÉ</a:t>
            </a:r>
            <a:endParaRPr lang="en-US" sz="950" dirty="0"/>
          </a:p>
        </p:txBody>
      </p:sp>
      <p:sp>
        <p:nvSpPr>
          <p:cNvPr id="48" name="Shape 46"/>
          <p:cNvSpPr/>
          <p:nvPr/>
        </p:nvSpPr>
        <p:spPr>
          <a:xfrm>
            <a:off x="137160" y="4261104"/>
            <a:ext cx="8869680" cy="402336"/>
          </a:xfrm>
          <a:prstGeom prst="rect">
            <a:avLst/>
          </a:prstGeom>
          <a:solidFill>
            <a:srgbClr val="F0F5FA"/>
          </a:solidFill>
          <a:ln w="3810">
            <a:solidFill>
              <a:srgbClr val="E2E8F0"/>
            </a:solidFill>
            <a:prstDash val="solid"/>
          </a:ln>
        </p:spPr>
      </p:sp>
      <p:sp>
        <p:nvSpPr>
          <p:cNvPr id="49" name="Text 47"/>
          <p:cNvSpPr/>
          <p:nvPr/>
        </p:nvSpPr>
        <p:spPr>
          <a:xfrm>
            <a:off x="210312" y="4261104"/>
            <a:ext cx="2194560" cy="402336"/>
          </a:xfrm>
          <a:prstGeom prst="rect">
            <a:avLst/>
          </a:prstGeom>
          <a:noFill/>
          <a:ln/>
        </p:spPr>
        <p:txBody>
          <a:bodyPr wrap="square" lIns="0" tIns="0" rIns="0" bIns="0" rtlCol="0" anchor="ctr"/>
          <a:lstStyle/>
          <a:p>
            <a:pPr indent="0" marL="0">
              <a:buNone/>
            </a:pPr>
            <a:r>
              <a:rPr lang="en-US" sz="950" b="1" dirty="0">
                <a:solidFill>
                  <a:srgbClr val="1060A0"/>
                </a:solidFill>
                <a:latin typeface="Calibri" pitchFamily="34" charset="0"/>
                <a:ea typeface="Calibri" pitchFamily="34" charset="-122"/>
                <a:cs typeface="Calibri" pitchFamily="34" charset="-120"/>
              </a:rPr>
              <a:t>src/visualizer.py</a:t>
            </a:r>
            <a:endParaRPr lang="en-US" sz="950" dirty="0"/>
          </a:p>
        </p:txBody>
      </p:sp>
      <p:sp>
        <p:nvSpPr>
          <p:cNvPr id="50" name="Text 48"/>
          <p:cNvSpPr/>
          <p:nvPr/>
        </p:nvSpPr>
        <p:spPr>
          <a:xfrm>
            <a:off x="2542032" y="4261104"/>
            <a:ext cx="3383280" cy="402336"/>
          </a:xfrm>
          <a:prstGeom prst="rect">
            <a:avLst/>
          </a:prstGeom>
          <a:noFill/>
          <a:ln/>
        </p:spPr>
        <p:txBody>
          <a:bodyPr wrap="square" lIns="0" tIns="0" rIns="0" bIns="0" rtlCol="0" anchor="ctr"/>
          <a:lstStyle/>
          <a:p>
            <a:pPr indent="0" marL="0">
              <a:buNone/>
            </a:pPr>
            <a:r>
              <a:rPr lang="en-US" sz="950" dirty="0">
                <a:solidFill>
                  <a:srgbClr val="1A252F"/>
                </a:solidFill>
                <a:latin typeface="Calibri" pitchFamily="34" charset="0"/>
                <a:ea typeface="Calibri" pitchFamily="34" charset="-122"/>
                <a:cs typeface="Calibri" pitchFamily="34" charset="-120"/>
              </a:rPr>
              <a:t>Annotation image avec overlay critères</a:t>
            </a:r>
            <a:endParaRPr lang="en-US" sz="950" dirty="0"/>
          </a:p>
        </p:txBody>
      </p:sp>
      <p:sp>
        <p:nvSpPr>
          <p:cNvPr id="51" name="Text 49"/>
          <p:cNvSpPr/>
          <p:nvPr/>
        </p:nvSpPr>
        <p:spPr>
          <a:xfrm>
            <a:off x="6062472" y="4261104"/>
            <a:ext cx="1920240" cy="402336"/>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OpenCV · Pillow</a:t>
            </a:r>
            <a:endParaRPr lang="en-US" sz="950" dirty="0"/>
          </a:p>
        </p:txBody>
      </p:sp>
      <p:sp>
        <p:nvSpPr>
          <p:cNvPr id="52" name="Text 50"/>
          <p:cNvSpPr/>
          <p:nvPr/>
        </p:nvSpPr>
        <p:spPr>
          <a:xfrm>
            <a:off x="8119872" y="4261104"/>
            <a:ext cx="1005840" cy="402336"/>
          </a:xfrm>
          <a:prstGeom prst="rect">
            <a:avLst/>
          </a:prstGeom>
          <a:noFill/>
          <a:ln/>
        </p:spPr>
        <p:txBody>
          <a:bodyPr wrap="square" lIns="0" tIns="0" rIns="0" bIns="0" rtlCol="0" anchor="ctr"/>
          <a:lstStyle/>
          <a:p>
            <a:pPr indent="0" marL="0">
              <a:buNone/>
            </a:pPr>
            <a:r>
              <a:rPr lang="en-US" sz="950" b="1" dirty="0">
                <a:solidFill>
                  <a:srgbClr val="1A7A45"/>
                </a:solidFill>
                <a:latin typeface="Calibri" pitchFamily="34" charset="0"/>
                <a:ea typeface="Calibri" pitchFamily="34" charset="-122"/>
                <a:cs typeface="Calibri" pitchFamily="34" charset="-120"/>
              </a:rPr>
              <a:t>✅ TERMINÉ</a:t>
            </a:r>
            <a:endParaRPr lang="en-US" sz="950" dirty="0"/>
          </a:p>
        </p:txBody>
      </p:sp>
      <p:sp>
        <p:nvSpPr>
          <p:cNvPr id="53" name="Shape 51"/>
          <p:cNvSpPr/>
          <p:nvPr/>
        </p:nvSpPr>
        <p:spPr>
          <a:xfrm>
            <a:off x="137160" y="4663440"/>
            <a:ext cx="8869680" cy="402336"/>
          </a:xfrm>
          <a:prstGeom prst="rect">
            <a:avLst/>
          </a:prstGeom>
          <a:solidFill>
            <a:srgbClr val="FFFFFF"/>
          </a:solidFill>
          <a:ln w="3810">
            <a:solidFill>
              <a:srgbClr val="E2E8F0"/>
            </a:solidFill>
            <a:prstDash val="solid"/>
          </a:ln>
        </p:spPr>
      </p:sp>
      <p:sp>
        <p:nvSpPr>
          <p:cNvPr id="54" name="Text 52"/>
          <p:cNvSpPr/>
          <p:nvPr/>
        </p:nvSpPr>
        <p:spPr>
          <a:xfrm>
            <a:off x="210312" y="4663440"/>
            <a:ext cx="2194560" cy="402336"/>
          </a:xfrm>
          <a:prstGeom prst="rect">
            <a:avLst/>
          </a:prstGeom>
          <a:noFill/>
          <a:ln/>
        </p:spPr>
        <p:txBody>
          <a:bodyPr wrap="square" lIns="0" tIns="0" rIns="0" bIns="0" rtlCol="0" anchor="ctr"/>
          <a:lstStyle/>
          <a:p>
            <a:pPr indent="0" marL="0">
              <a:buNone/>
            </a:pPr>
            <a:r>
              <a:rPr lang="en-US" sz="950" b="1" dirty="0">
                <a:solidFill>
                  <a:srgbClr val="1060A0"/>
                </a:solidFill>
                <a:latin typeface="Calibri" pitchFamily="34" charset="0"/>
                <a:ea typeface="Calibri" pitchFamily="34" charset="-122"/>
                <a:cs typeface="Calibri" pitchFamily="34" charset="-120"/>
              </a:rPr>
              <a:t>app.py</a:t>
            </a:r>
            <a:endParaRPr lang="en-US" sz="950" dirty="0"/>
          </a:p>
        </p:txBody>
      </p:sp>
      <p:sp>
        <p:nvSpPr>
          <p:cNvPr id="55" name="Text 53"/>
          <p:cNvSpPr/>
          <p:nvPr/>
        </p:nvSpPr>
        <p:spPr>
          <a:xfrm>
            <a:off x="2542032" y="4663440"/>
            <a:ext cx="3383280" cy="402336"/>
          </a:xfrm>
          <a:prstGeom prst="rect">
            <a:avLst/>
          </a:prstGeom>
          <a:noFill/>
          <a:ln/>
        </p:spPr>
        <p:txBody>
          <a:bodyPr wrap="square" lIns="0" tIns="0" rIns="0" bIns="0" rtlCol="0" anchor="ctr"/>
          <a:lstStyle/>
          <a:p>
            <a:pPr indent="0" marL="0">
              <a:buNone/>
            </a:pPr>
            <a:r>
              <a:rPr lang="en-US" sz="950" dirty="0">
                <a:solidFill>
                  <a:srgbClr val="1A252F"/>
                </a:solidFill>
                <a:latin typeface="Calibri" pitchFamily="34" charset="0"/>
                <a:ea typeface="Calibri" pitchFamily="34" charset="-122"/>
                <a:cs typeface="Calibri" pitchFamily="34" charset="-120"/>
              </a:rPr>
              <a:t>Interface Streamlit — upload, analyse, fiche, search</a:t>
            </a:r>
            <a:endParaRPr lang="en-US" sz="950" dirty="0"/>
          </a:p>
        </p:txBody>
      </p:sp>
      <p:sp>
        <p:nvSpPr>
          <p:cNvPr id="56" name="Text 54"/>
          <p:cNvSpPr/>
          <p:nvPr/>
        </p:nvSpPr>
        <p:spPr>
          <a:xfrm>
            <a:off x="6062472" y="4663440"/>
            <a:ext cx="1920240" cy="402336"/>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Streamlit</a:t>
            </a:r>
            <a:endParaRPr lang="en-US" sz="950" dirty="0"/>
          </a:p>
        </p:txBody>
      </p:sp>
      <p:sp>
        <p:nvSpPr>
          <p:cNvPr id="57" name="Text 55"/>
          <p:cNvSpPr/>
          <p:nvPr/>
        </p:nvSpPr>
        <p:spPr>
          <a:xfrm>
            <a:off x="8119872" y="4663440"/>
            <a:ext cx="1005840" cy="402336"/>
          </a:xfrm>
          <a:prstGeom prst="rect">
            <a:avLst/>
          </a:prstGeom>
          <a:noFill/>
          <a:ln/>
        </p:spPr>
        <p:txBody>
          <a:bodyPr wrap="square" lIns="0" tIns="0" rIns="0" bIns="0" rtlCol="0" anchor="ctr"/>
          <a:lstStyle/>
          <a:p>
            <a:pPr indent="0" marL="0">
              <a:buNone/>
            </a:pPr>
            <a:r>
              <a:rPr lang="en-US" sz="950" b="1" dirty="0">
                <a:solidFill>
                  <a:srgbClr val="1A7A45"/>
                </a:solidFill>
                <a:latin typeface="Calibri" pitchFamily="34" charset="0"/>
                <a:ea typeface="Calibri" pitchFamily="34" charset="-122"/>
                <a:cs typeface="Calibri" pitchFamily="34" charset="-120"/>
              </a:rPr>
              <a:t>✅ TERMINÉ</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2137"/>
          </a:solidFill>
          <a:ln w="12700">
            <a:solidFill>
              <a:srgbClr val="0D2137"/>
            </a:solidFill>
            <a:prstDash val="solid"/>
          </a:ln>
        </p:spPr>
      </p:sp>
      <p:sp>
        <p:nvSpPr>
          <p:cNvPr id="3" name="Shape 1"/>
          <p:cNvSpPr/>
          <p:nvPr/>
        </p:nvSpPr>
        <p:spPr>
          <a:xfrm>
            <a:off x="0" y="960120"/>
            <a:ext cx="9144000" cy="54864"/>
          </a:xfrm>
          <a:prstGeom prst="rect">
            <a:avLst/>
          </a:prstGeom>
          <a:solidFill>
            <a:srgbClr val="00B98A"/>
          </a:solidFill>
          <a:ln w="12700">
            <a:solidFill>
              <a:srgbClr val="00B98A"/>
            </a:solidFill>
            <a:prstDash val="solid"/>
          </a:ln>
        </p:spPr>
      </p:sp>
      <p:sp>
        <p:nvSpPr>
          <p:cNvPr id="4" name="Text 2"/>
          <p:cNvSpPr/>
          <p:nvPr/>
        </p:nvSpPr>
        <p:spPr>
          <a:xfrm>
            <a:off x="365760" y="0"/>
            <a:ext cx="8229600" cy="9601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Les 6 Critères d'Analyse Qualité</a:t>
            </a:r>
            <a:endParaRPr lang="en-US" sz="2600" dirty="0"/>
          </a:p>
        </p:txBody>
      </p:sp>
      <p:sp>
        <p:nvSpPr>
          <p:cNvPr id="5" name="Shape 3"/>
          <p:cNvSpPr/>
          <p:nvPr/>
        </p:nvSpPr>
        <p:spPr>
          <a:xfrm>
            <a:off x="320040" y="1188720"/>
            <a:ext cx="2743200" cy="160020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0000"/>
              </a:srgbClr>
            </a:outerShdw>
          </a:effectLst>
        </p:spPr>
      </p:sp>
      <p:sp>
        <p:nvSpPr>
          <p:cNvPr id="6" name="Shape 4"/>
          <p:cNvSpPr/>
          <p:nvPr/>
        </p:nvSpPr>
        <p:spPr>
          <a:xfrm>
            <a:off x="320040" y="1188720"/>
            <a:ext cx="2743200" cy="54864"/>
          </a:xfrm>
          <a:prstGeom prst="rect">
            <a:avLst/>
          </a:prstGeom>
          <a:solidFill>
            <a:srgbClr val="1060A0"/>
          </a:solidFill>
          <a:ln w="12700">
            <a:solidFill>
              <a:srgbClr val="1060A0"/>
            </a:solidFill>
            <a:prstDash val="solid"/>
          </a:ln>
        </p:spPr>
      </p:sp>
      <p:sp>
        <p:nvSpPr>
          <p:cNvPr id="7" name="Shape 5"/>
          <p:cNvSpPr/>
          <p:nvPr/>
        </p:nvSpPr>
        <p:spPr>
          <a:xfrm>
            <a:off x="2496312" y="1280160"/>
            <a:ext cx="502920" cy="274320"/>
          </a:xfrm>
          <a:prstGeom prst="rect">
            <a:avLst/>
          </a:prstGeom>
          <a:solidFill>
            <a:srgbClr val="1060A0"/>
          </a:solidFill>
          <a:ln w="12700">
            <a:solidFill>
              <a:srgbClr val="1060A0"/>
            </a:solidFill>
            <a:prstDash val="solid"/>
          </a:ln>
        </p:spPr>
      </p:sp>
      <p:sp>
        <p:nvSpPr>
          <p:cNvPr id="8" name="Text 6"/>
          <p:cNvSpPr/>
          <p:nvPr/>
        </p:nvSpPr>
        <p:spPr>
          <a:xfrm>
            <a:off x="2496312" y="1280160"/>
            <a:ext cx="5029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20%</a:t>
            </a:r>
            <a:endParaRPr lang="en-US" sz="900" dirty="0"/>
          </a:p>
        </p:txBody>
      </p:sp>
      <p:sp>
        <p:nvSpPr>
          <p:cNvPr id="9" name="Text 7"/>
          <p:cNvSpPr/>
          <p:nvPr/>
        </p:nvSpPr>
        <p:spPr>
          <a:xfrm>
            <a:off x="411480" y="1298448"/>
            <a:ext cx="2057400" cy="365760"/>
          </a:xfrm>
          <a:prstGeom prst="rect">
            <a:avLst/>
          </a:prstGeom>
          <a:noFill/>
          <a:ln/>
        </p:spPr>
        <p:txBody>
          <a:bodyPr wrap="square" lIns="0" tIns="0" rIns="0" bIns="0" rtlCol="0" anchor="ctr"/>
          <a:lstStyle/>
          <a:p>
            <a:pPr indent="0" marL="0">
              <a:buNone/>
            </a:pPr>
            <a:r>
              <a:rPr lang="en-US" sz="1100" b="1" dirty="0">
                <a:solidFill>
                  <a:srgbClr val="1A252F"/>
                </a:solidFill>
                <a:latin typeface="Calibri" pitchFamily="34" charset="0"/>
                <a:ea typeface="Calibri" pitchFamily="34" charset="-122"/>
                <a:cs typeface="Calibri" pitchFamily="34" charset="-120"/>
              </a:rPr>
              <a:t>Netteté / JPEG</a:t>
            </a:r>
            <a:endParaRPr lang="en-US" sz="1100" dirty="0"/>
          </a:p>
        </p:txBody>
      </p:sp>
      <p:sp>
        <p:nvSpPr>
          <p:cNvPr id="10" name="Text 8"/>
          <p:cNvSpPr/>
          <p:nvPr/>
        </p:nvSpPr>
        <p:spPr>
          <a:xfrm>
            <a:off x="411480" y="1691640"/>
            <a:ext cx="2560320" cy="100584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Variance du Laplacien (log-scale)</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Seuils calibrés sur 300 images Jumia</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log10(var): [200 → 3000]</a:t>
            </a:r>
            <a:endParaRPr lang="en-US" sz="950" dirty="0"/>
          </a:p>
        </p:txBody>
      </p:sp>
      <p:sp>
        <p:nvSpPr>
          <p:cNvPr id="11" name="Shape 9"/>
          <p:cNvSpPr/>
          <p:nvPr/>
        </p:nvSpPr>
        <p:spPr>
          <a:xfrm>
            <a:off x="3291840" y="1188720"/>
            <a:ext cx="2743200" cy="160020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0000"/>
              </a:srgbClr>
            </a:outerShdw>
          </a:effectLst>
        </p:spPr>
      </p:sp>
      <p:sp>
        <p:nvSpPr>
          <p:cNvPr id="12" name="Shape 10"/>
          <p:cNvSpPr/>
          <p:nvPr/>
        </p:nvSpPr>
        <p:spPr>
          <a:xfrm>
            <a:off x="3291840" y="1188720"/>
            <a:ext cx="2743200" cy="54864"/>
          </a:xfrm>
          <a:prstGeom prst="rect">
            <a:avLst/>
          </a:prstGeom>
          <a:solidFill>
            <a:srgbClr val="1060A0"/>
          </a:solidFill>
          <a:ln w="12700">
            <a:solidFill>
              <a:srgbClr val="1060A0"/>
            </a:solidFill>
            <a:prstDash val="solid"/>
          </a:ln>
        </p:spPr>
      </p:sp>
      <p:sp>
        <p:nvSpPr>
          <p:cNvPr id="13" name="Shape 11"/>
          <p:cNvSpPr/>
          <p:nvPr/>
        </p:nvSpPr>
        <p:spPr>
          <a:xfrm>
            <a:off x="5468112" y="1280160"/>
            <a:ext cx="502920" cy="274320"/>
          </a:xfrm>
          <a:prstGeom prst="rect">
            <a:avLst/>
          </a:prstGeom>
          <a:solidFill>
            <a:srgbClr val="1060A0"/>
          </a:solidFill>
          <a:ln w="12700">
            <a:solidFill>
              <a:srgbClr val="1060A0"/>
            </a:solidFill>
            <a:prstDash val="solid"/>
          </a:ln>
        </p:spPr>
      </p:sp>
      <p:sp>
        <p:nvSpPr>
          <p:cNvPr id="14" name="Text 12"/>
          <p:cNvSpPr/>
          <p:nvPr/>
        </p:nvSpPr>
        <p:spPr>
          <a:xfrm>
            <a:off x="5468112" y="1280160"/>
            <a:ext cx="5029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20%</a:t>
            </a:r>
            <a:endParaRPr lang="en-US" sz="900" dirty="0"/>
          </a:p>
        </p:txBody>
      </p:sp>
      <p:sp>
        <p:nvSpPr>
          <p:cNvPr id="15" name="Text 13"/>
          <p:cNvSpPr/>
          <p:nvPr/>
        </p:nvSpPr>
        <p:spPr>
          <a:xfrm>
            <a:off x="3383280" y="1298448"/>
            <a:ext cx="2057400" cy="365760"/>
          </a:xfrm>
          <a:prstGeom prst="rect">
            <a:avLst/>
          </a:prstGeom>
          <a:noFill/>
          <a:ln/>
        </p:spPr>
        <p:txBody>
          <a:bodyPr wrap="square" lIns="0" tIns="0" rIns="0" bIns="0" rtlCol="0" anchor="ctr"/>
          <a:lstStyle/>
          <a:p>
            <a:pPr indent="0" marL="0">
              <a:buNone/>
            </a:pPr>
            <a:r>
              <a:rPr lang="en-US" sz="1100" b="1" dirty="0">
                <a:solidFill>
                  <a:srgbClr val="1A252F"/>
                </a:solidFill>
                <a:latin typeface="Calibri" pitchFamily="34" charset="0"/>
                <a:ea typeface="Calibri" pitchFamily="34" charset="-122"/>
                <a:cs typeface="Calibri" pitchFamily="34" charset="-120"/>
              </a:rPr>
              <a:t>Uniformité d'éclairage</a:t>
            </a:r>
            <a:endParaRPr lang="en-US" sz="1100" dirty="0"/>
          </a:p>
        </p:txBody>
      </p:sp>
      <p:sp>
        <p:nvSpPr>
          <p:cNvPr id="16" name="Text 14"/>
          <p:cNvSpPr/>
          <p:nvPr/>
        </p:nvSpPr>
        <p:spPr>
          <a:xfrm>
            <a:off x="3383280" y="1691640"/>
            <a:ext cx="2560320" cy="100584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Grille 3×3 sur bbox produit</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Écart-type des luminosités moyennes</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std &lt; 15 → parfait, std &gt; 60 → mauvais</a:t>
            </a:r>
            <a:endParaRPr lang="en-US" sz="950" dirty="0"/>
          </a:p>
        </p:txBody>
      </p:sp>
      <p:sp>
        <p:nvSpPr>
          <p:cNvPr id="17" name="Shape 15"/>
          <p:cNvSpPr/>
          <p:nvPr/>
        </p:nvSpPr>
        <p:spPr>
          <a:xfrm>
            <a:off x="6263640" y="1188720"/>
            <a:ext cx="2743200" cy="160020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0000"/>
              </a:srgbClr>
            </a:outerShdw>
          </a:effectLst>
        </p:spPr>
      </p:sp>
      <p:sp>
        <p:nvSpPr>
          <p:cNvPr id="18" name="Shape 16"/>
          <p:cNvSpPr/>
          <p:nvPr/>
        </p:nvSpPr>
        <p:spPr>
          <a:xfrm>
            <a:off x="6263640" y="1188720"/>
            <a:ext cx="2743200" cy="54864"/>
          </a:xfrm>
          <a:prstGeom prst="rect">
            <a:avLst/>
          </a:prstGeom>
          <a:solidFill>
            <a:srgbClr val="0E8C9B"/>
          </a:solidFill>
          <a:ln w="12700">
            <a:solidFill>
              <a:srgbClr val="0E8C9B"/>
            </a:solidFill>
            <a:prstDash val="solid"/>
          </a:ln>
        </p:spPr>
      </p:sp>
      <p:sp>
        <p:nvSpPr>
          <p:cNvPr id="19" name="Shape 17"/>
          <p:cNvSpPr/>
          <p:nvPr/>
        </p:nvSpPr>
        <p:spPr>
          <a:xfrm>
            <a:off x="8439912" y="1280160"/>
            <a:ext cx="502920" cy="274320"/>
          </a:xfrm>
          <a:prstGeom prst="rect">
            <a:avLst/>
          </a:prstGeom>
          <a:solidFill>
            <a:srgbClr val="0E8C9B"/>
          </a:solidFill>
          <a:ln w="12700">
            <a:solidFill>
              <a:srgbClr val="0E8C9B"/>
            </a:solidFill>
            <a:prstDash val="solid"/>
          </a:ln>
        </p:spPr>
      </p:sp>
      <p:sp>
        <p:nvSpPr>
          <p:cNvPr id="20" name="Text 18"/>
          <p:cNvSpPr/>
          <p:nvPr/>
        </p:nvSpPr>
        <p:spPr>
          <a:xfrm>
            <a:off x="8439912" y="1280160"/>
            <a:ext cx="5029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20%</a:t>
            </a:r>
            <a:endParaRPr lang="en-US" sz="900" dirty="0"/>
          </a:p>
        </p:txBody>
      </p:sp>
      <p:sp>
        <p:nvSpPr>
          <p:cNvPr id="21" name="Text 19"/>
          <p:cNvSpPr/>
          <p:nvPr/>
        </p:nvSpPr>
        <p:spPr>
          <a:xfrm>
            <a:off x="6355080" y="1298448"/>
            <a:ext cx="2057400" cy="365760"/>
          </a:xfrm>
          <a:prstGeom prst="rect">
            <a:avLst/>
          </a:prstGeom>
          <a:noFill/>
          <a:ln/>
        </p:spPr>
        <p:txBody>
          <a:bodyPr wrap="square" lIns="0" tIns="0" rIns="0" bIns="0" rtlCol="0" anchor="ctr"/>
          <a:lstStyle/>
          <a:p>
            <a:pPr indent="0" marL="0">
              <a:buNone/>
            </a:pPr>
            <a:r>
              <a:rPr lang="en-US" sz="1100" b="1" dirty="0">
                <a:solidFill>
                  <a:srgbClr val="1A252F"/>
                </a:solidFill>
                <a:latin typeface="Calibri" pitchFamily="34" charset="0"/>
                <a:ea typeface="Calibri" pitchFamily="34" charset="-122"/>
                <a:cs typeface="Calibri" pitchFamily="34" charset="-120"/>
              </a:rPr>
              <a:t>Qualité des bords</a:t>
            </a:r>
            <a:endParaRPr lang="en-US" sz="1100" dirty="0"/>
          </a:p>
        </p:txBody>
      </p:sp>
      <p:sp>
        <p:nvSpPr>
          <p:cNvPr id="22" name="Text 20"/>
          <p:cNvSpPr/>
          <p:nvPr/>
        </p:nvSpPr>
        <p:spPr>
          <a:xfrm>
            <a:off x="6355080" y="1691640"/>
            <a:ext cx="2560320" cy="100584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Canny sur masque boundary</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Densité de bords dans la zone frontière</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Seuils adaptatifs selon résolution</a:t>
            </a:r>
            <a:endParaRPr lang="en-US" sz="950" dirty="0"/>
          </a:p>
        </p:txBody>
      </p:sp>
      <p:sp>
        <p:nvSpPr>
          <p:cNvPr id="23" name="Shape 21"/>
          <p:cNvSpPr/>
          <p:nvPr/>
        </p:nvSpPr>
        <p:spPr>
          <a:xfrm>
            <a:off x="320040" y="2971800"/>
            <a:ext cx="2743200" cy="160020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0000"/>
              </a:srgbClr>
            </a:outerShdw>
          </a:effectLst>
        </p:spPr>
      </p:sp>
      <p:sp>
        <p:nvSpPr>
          <p:cNvPr id="24" name="Shape 22"/>
          <p:cNvSpPr/>
          <p:nvPr/>
        </p:nvSpPr>
        <p:spPr>
          <a:xfrm>
            <a:off x="320040" y="2971800"/>
            <a:ext cx="2743200" cy="54864"/>
          </a:xfrm>
          <a:prstGeom prst="rect">
            <a:avLst/>
          </a:prstGeom>
          <a:solidFill>
            <a:srgbClr val="0E8C9B"/>
          </a:solidFill>
          <a:ln w="12700">
            <a:solidFill>
              <a:srgbClr val="0E8C9B"/>
            </a:solidFill>
            <a:prstDash val="solid"/>
          </a:ln>
        </p:spPr>
      </p:sp>
      <p:sp>
        <p:nvSpPr>
          <p:cNvPr id="25" name="Shape 23"/>
          <p:cNvSpPr/>
          <p:nvPr/>
        </p:nvSpPr>
        <p:spPr>
          <a:xfrm>
            <a:off x="2496312" y="3063240"/>
            <a:ext cx="502920" cy="274320"/>
          </a:xfrm>
          <a:prstGeom prst="rect">
            <a:avLst/>
          </a:prstGeom>
          <a:solidFill>
            <a:srgbClr val="0E8C9B"/>
          </a:solidFill>
          <a:ln w="12700">
            <a:solidFill>
              <a:srgbClr val="0E8C9B"/>
            </a:solidFill>
            <a:prstDash val="solid"/>
          </a:ln>
        </p:spPr>
      </p:sp>
      <p:sp>
        <p:nvSpPr>
          <p:cNvPr id="26" name="Text 24"/>
          <p:cNvSpPr/>
          <p:nvPr/>
        </p:nvSpPr>
        <p:spPr>
          <a:xfrm>
            <a:off x="2496312" y="3063240"/>
            <a:ext cx="5029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15%</a:t>
            </a:r>
            <a:endParaRPr lang="en-US" sz="900" dirty="0"/>
          </a:p>
        </p:txBody>
      </p:sp>
      <p:sp>
        <p:nvSpPr>
          <p:cNvPr id="27" name="Text 25"/>
          <p:cNvSpPr/>
          <p:nvPr/>
        </p:nvSpPr>
        <p:spPr>
          <a:xfrm>
            <a:off x="411480" y="3081528"/>
            <a:ext cx="2057400" cy="365760"/>
          </a:xfrm>
          <a:prstGeom prst="rect">
            <a:avLst/>
          </a:prstGeom>
          <a:noFill/>
          <a:ln/>
        </p:spPr>
        <p:txBody>
          <a:bodyPr wrap="square" lIns="0" tIns="0" rIns="0" bIns="0" rtlCol="0" anchor="ctr"/>
          <a:lstStyle/>
          <a:p>
            <a:pPr indent="0" marL="0">
              <a:buNone/>
            </a:pPr>
            <a:r>
              <a:rPr lang="en-US" sz="1100" b="1" dirty="0">
                <a:solidFill>
                  <a:srgbClr val="1A252F"/>
                </a:solidFill>
                <a:latin typeface="Calibri" pitchFamily="34" charset="0"/>
                <a:ea typeface="Calibri" pitchFamily="34" charset="-122"/>
                <a:cs typeface="Calibri" pitchFamily="34" charset="-120"/>
              </a:rPr>
              <a:t>Cohérence couleur</a:t>
            </a:r>
            <a:endParaRPr lang="en-US" sz="1100" dirty="0"/>
          </a:p>
        </p:txBody>
      </p:sp>
      <p:sp>
        <p:nvSpPr>
          <p:cNvPr id="28" name="Text 26"/>
          <p:cNvSpPr/>
          <p:nvPr/>
        </p:nvSpPr>
        <p:spPr>
          <a:xfrm>
            <a:off x="411480" y="3474720"/>
            <a:ext cx="2560320" cy="100584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Hypothèse grey-world</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Écart-type des canaux R,G,B</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 plage de saturation HSV [50–150]</a:t>
            </a:r>
            <a:endParaRPr lang="en-US" sz="950" dirty="0"/>
          </a:p>
        </p:txBody>
      </p:sp>
      <p:sp>
        <p:nvSpPr>
          <p:cNvPr id="29" name="Shape 27"/>
          <p:cNvSpPr/>
          <p:nvPr/>
        </p:nvSpPr>
        <p:spPr>
          <a:xfrm>
            <a:off x="3291840" y="2971800"/>
            <a:ext cx="2743200" cy="160020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0000"/>
              </a:srgbClr>
            </a:outerShdw>
          </a:effectLst>
        </p:spPr>
      </p:sp>
      <p:sp>
        <p:nvSpPr>
          <p:cNvPr id="30" name="Shape 28"/>
          <p:cNvSpPr/>
          <p:nvPr/>
        </p:nvSpPr>
        <p:spPr>
          <a:xfrm>
            <a:off x="3291840" y="2971800"/>
            <a:ext cx="2743200" cy="54864"/>
          </a:xfrm>
          <a:prstGeom prst="rect">
            <a:avLst/>
          </a:prstGeom>
          <a:solidFill>
            <a:srgbClr val="00B98A"/>
          </a:solidFill>
          <a:ln w="12700">
            <a:solidFill>
              <a:srgbClr val="00B98A"/>
            </a:solidFill>
            <a:prstDash val="solid"/>
          </a:ln>
        </p:spPr>
      </p:sp>
      <p:sp>
        <p:nvSpPr>
          <p:cNvPr id="31" name="Shape 29"/>
          <p:cNvSpPr/>
          <p:nvPr/>
        </p:nvSpPr>
        <p:spPr>
          <a:xfrm>
            <a:off x="5468112" y="3063240"/>
            <a:ext cx="502920" cy="274320"/>
          </a:xfrm>
          <a:prstGeom prst="rect">
            <a:avLst/>
          </a:prstGeom>
          <a:solidFill>
            <a:srgbClr val="00B98A"/>
          </a:solidFill>
          <a:ln w="12700">
            <a:solidFill>
              <a:srgbClr val="00B98A"/>
            </a:solidFill>
            <a:prstDash val="solid"/>
          </a:ln>
        </p:spPr>
      </p:sp>
      <p:sp>
        <p:nvSpPr>
          <p:cNvPr id="32" name="Text 30"/>
          <p:cNvSpPr/>
          <p:nvPr/>
        </p:nvSpPr>
        <p:spPr>
          <a:xfrm>
            <a:off x="5468112" y="3063240"/>
            <a:ext cx="5029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15%</a:t>
            </a:r>
            <a:endParaRPr lang="en-US" sz="900" dirty="0"/>
          </a:p>
        </p:txBody>
      </p:sp>
      <p:sp>
        <p:nvSpPr>
          <p:cNvPr id="33" name="Text 31"/>
          <p:cNvSpPr/>
          <p:nvPr/>
        </p:nvSpPr>
        <p:spPr>
          <a:xfrm>
            <a:off x="3383280" y="3081528"/>
            <a:ext cx="2057400" cy="365760"/>
          </a:xfrm>
          <a:prstGeom prst="rect">
            <a:avLst/>
          </a:prstGeom>
          <a:noFill/>
          <a:ln/>
        </p:spPr>
        <p:txBody>
          <a:bodyPr wrap="square" lIns="0" tIns="0" rIns="0" bIns="0" rtlCol="0" anchor="ctr"/>
          <a:lstStyle/>
          <a:p>
            <a:pPr indent="0" marL="0">
              <a:buNone/>
            </a:pPr>
            <a:r>
              <a:rPr lang="en-US" sz="1100" b="1" dirty="0">
                <a:solidFill>
                  <a:srgbClr val="1A252F"/>
                </a:solidFill>
                <a:latin typeface="Calibri" pitchFamily="34" charset="0"/>
                <a:ea typeface="Calibri" pitchFamily="34" charset="-122"/>
                <a:cs typeface="Calibri" pitchFamily="34" charset="-120"/>
              </a:rPr>
              <a:t>Résolution effective</a:t>
            </a:r>
            <a:endParaRPr lang="en-US" sz="1100" dirty="0"/>
          </a:p>
        </p:txBody>
      </p:sp>
      <p:sp>
        <p:nvSpPr>
          <p:cNvPr id="34" name="Text 32"/>
          <p:cNvSpPr/>
          <p:nvPr/>
        </p:nvSpPr>
        <p:spPr>
          <a:xfrm>
            <a:off x="3383280" y="3474720"/>
            <a:ext cx="2560320" cy="100584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Détection d'upscaling (ratio Laplacien)</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 taille absolue min(H,W)</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Jumia : 500px min, 800px idéal</a:t>
            </a:r>
            <a:endParaRPr lang="en-US" sz="950" dirty="0"/>
          </a:p>
        </p:txBody>
      </p:sp>
      <p:sp>
        <p:nvSpPr>
          <p:cNvPr id="35" name="Shape 33"/>
          <p:cNvSpPr/>
          <p:nvPr/>
        </p:nvSpPr>
        <p:spPr>
          <a:xfrm>
            <a:off x="6263640" y="2971800"/>
            <a:ext cx="2743200" cy="160020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0000"/>
              </a:srgbClr>
            </a:outerShdw>
          </a:effectLst>
        </p:spPr>
      </p:sp>
      <p:sp>
        <p:nvSpPr>
          <p:cNvPr id="36" name="Shape 34"/>
          <p:cNvSpPr/>
          <p:nvPr/>
        </p:nvSpPr>
        <p:spPr>
          <a:xfrm>
            <a:off x="6263640" y="2971800"/>
            <a:ext cx="2743200" cy="54864"/>
          </a:xfrm>
          <a:prstGeom prst="rect">
            <a:avLst/>
          </a:prstGeom>
          <a:solidFill>
            <a:srgbClr val="00B98A"/>
          </a:solidFill>
          <a:ln w="12700">
            <a:solidFill>
              <a:srgbClr val="00B98A"/>
            </a:solidFill>
            <a:prstDash val="solid"/>
          </a:ln>
        </p:spPr>
      </p:sp>
      <p:sp>
        <p:nvSpPr>
          <p:cNvPr id="37" name="Shape 35"/>
          <p:cNvSpPr/>
          <p:nvPr/>
        </p:nvSpPr>
        <p:spPr>
          <a:xfrm>
            <a:off x="8439912" y="3063240"/>
            <a:ext cx="502920" cy="274320"/>
          </a:xfrm>
          <a:prstGeom prst="rect">
            <a:avLst/>
          </a:prstGeom>
          <a:solidFill>
            <a:srgbClr val="00B98A"/>
          </a:solidFill>
          <a:ln w="12700">
            <a:solidFill>
              <a:srgbClr val="00B98A"/>
            </a:solidFill>
            <a:prstDash val="solid"/>
          </a:ln>
        </p:spPr>
      </p:sp>
      <p:sp>
        <p:nvSpPr>
          <p:cNvPr id="38" name="Text 36"/>
          <p:cNvSpPr/>
          <p:nvPr/>
        </p:nvSpPr>
        <p:spPr>
          <a:xfrm>
            <a:off x="8439912" y="3063240"/>
            <a:ext cx="5029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10%</a:t>
            </a:r>
            <a:endParaRPr lang="en-US" sz="900" dirty="0"/>
          </a:p>
        </p:txBody>
      </p:sp>
      <p:sp>
        <p:nvSpPr>
          <p:cNvPr id="39" name="Text 37"/>
          <p:cNvSpPr/>
          <p:nvPr/>
        </p:nvSpPr>
        <p:spPr>
          <a:xfrm>
            <a:off x="6355080" y="3081528"/>
            <a:ext cx="2057400" cy="365760"/>
          </a:xfrm>
          <a:prstGeom prst="rect">
            <a:avLst/>
          </a:prstGeom>
          <a:noFill/>
          <a:ln/>
        </p:spPr>
        <p:txBody>
          <a:bodyPr wrap="square" lIns="0" tIns="0" rIns="0" bIns="0" rtlCol="0" anchor="ctr"/>
          <a:lstStyle/>
          <a:p>
            <a:pPr indent="0" marL="0">
              <a:buNone/>
            </a:pPr>
            <a:r>
              <a:rPr lang="en-US" sz="1100" b="1" dirty="0">
                <a:solidFill>
                  <a:srgbClr val="1A252F"/>
                </a:solidFill>
                <a:latin typeface="Calibri" pitchFamily="34" charset="0"/>
                <a:ea typeface="Calibri" pitchFamily="34" charset="-122"/>
                <a:cs typeface="Calibri" pitchFamily="34" charset="-120"/>
              </a:rPr>
              <a:t>Cohérence image-texte</a:t>
            </a:r>
            <a:endParaRPr lang="en-US" sz="1100" dirty="0"/>
          </a:p>
        </p:txBody>
      </p:sp>
      <p:sp>
        <p:nvSpPr>
          <p:cNvPr id="40" name="Text 38"/>
          <p:cNvSpPr/>
          <p:nvPr/>
        </p:nvSpPr>
        <p:spPr>
          <a:xfrm>
            <a:off x="6355080" y="3474720"/>
            <a:ext cx="2560320" cy="100584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CLIP (ViT-B/32)</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Similarité cosinus image ↔ texte</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sigmoid(logit) → [0,1]</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2137"/>
          </a:solidFill>
          <a:ln w="12700">
            <a:solidFill>
              <a:srgbClr val="0D2137"/>
            </a:solidFill>
            <a:prstDash val="solid"/>
          </a:ln>
        </p:spPr>
      </p:sp>
      <p:sp>
        <p:nvSpPr>
          <p:cNvPr id="3" name="Shape 1"/>
          <p:cNvSpPr/>
          <p:nvPr/>
        </p:nvSpPr>
        <p:spPr>
          <a:xfrm>
            <a:off x="0" y="960120"/>
            <a:ext cx="9144000" cy="54864"/>
          </a:xfrm>
          <a:prstGeom prst="rect">
            <a:avLst/>
          </a:prstGeom>
          <a:solidFill>
            <a:srgbClr val="00B98A"/>
          </a:solidFill>
          <a:ln w="12700">
            <a:solidFill>
              <a:srgbClr val="00B98A"/>
            </a:solidFill>
            <a:prstDash val="solid"/>
          </a:ln>
        </p:spPr>
      </p:sp>
      <p:sp>
        <p:nvSpPr>
          <p:cNvPr id="4" name="Text 2"/>
          <p:cNvSpPr/>
          <p:nvPr/>
        </p:nvSpPr>
        <p:spPr>
          <a:xfrm>
            <a:off x="365760" y="0"/>
            <a:ext cx="8229600" cy="9601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Résultats Clés</a:t>
            </a:r>
            <a:endParaRPr lang="en-US" sz="2600" dirty="0"/>
          </a:p>
        </p:txBody>
      </p:sp>
      <p:sp>
        <p:nvSpPr>
          <p:cNvPr id="5" name="Shape 3"/>
          <p:cNvSpPr/>
          <p:nvPr/>
        </p:nvSpPr>
        <p:spPr>
          <a:xfrm>
            <a:off x="365760" y="1143000"/>
            <a:ext cx="1920240" cy="1280160"/>
          </a:xfrm>
          <a:prstGeom prst="rect">
            <a:avLst/>
          </a:prstGeom>
          <a:solidFill>
            <a:srgbClr val="1060A0"/>
          </a:solidFill>
          <a:ln w="12700">
            <a:solidFill>
              <a:srgbClr val="1060A0"/>
            </a:solidFill>
            <a:prstDash val="solid"/>
          </a:ln>
          <a:effectLst>
            <a:outerShdw sx="100000" sy="100000" kx="0" ky="0" algn="bl" rotWithShape="0" blurRad="76200" dist="25400" dir="8100000">
              <a:srgbClr val="000000">
                <a:alpha val="10000"/>
              </a:srgbClr>
            </a:outerShdw>
          </a:effectLst>
        </p:spPr>
      </p:sp>
      <p:sp>
        <p:nvSpPr>
          <p:cNvPr id="6" name="Text 4"/>
          <p:cNvSpPr/>
          <p:nvPr/>
        </p:nvSpPr>
        <p:spPr>
          <a:xfrm>
            <a:off x="365760" y="1207008"/>
            <a:ext cx="1920240" cy="64008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6</a:t>
            </a:r>
            <a:endParaRPr lang="en-US" sz="3800" dirty="0"/>
          </a:p>
        </p:txBody>
      </p:sp>
      <p:sp>
        <p:nvSpPr>
          <p:cNvPr id="7" name="Text 5"/>
          <p:cNvSpPr/>
          <p:nvPr/>
        </p:nvSpPr>
        <p:spPr>
          <a:xfrm>
            <a:off x="365760" y="1828800"/>
            <a:ext cx="1920240" cy="5029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Critères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d'analyse</a:t>
            </a:r>
            <a:endParaRPr lang="en-US" sz="1000" dirty="0"/>
          </a:p>
        </p:txBody>
      </p:sp>
      <p:sp>
        <p:nvSpPr>
          <p:cNvPr id="8" name="Shape 6"/>
          <p:cNvSpPr/>
          <p:nvPr/>
        </p:nvSpPr>
        <p:spPr>
          <a:xfrm>
            <a:off x="2468880" y="1143000"/>
            <a:ext cx="1920240" cy="1280160"/>
          </a:xfrm>
          <a:prstGeom prst="rect">
            <a:avLst/>
          </a:prstGeom>
          <a:solidFill>
            <a:srgbClr val="0E8C9B"/>
          </a:solidFill>
          <a:ln w="12700">
            <a:solidFill>
              <a:srgbClr val="0E8C9B"/>
            </a:solidFill>
            <a:prstDash val="solid"/>
          </a:ln>
          <a:effectLst>
            <a:outerShdw sx="100000" sy="100000" kx="0" ky="0" algn="bl" rotWithShape="0" blurRad="76200" dist="25400" dir="8100000">
              <a:srgbClr val="000000">
                <a:alpha val="10000"/>
              </a:srgbClr>
            </a:outerShdw>
          </a:effectLst>
        </p:spPr>
      </p:sp>
      <p:sp>
        <p:nvSpPr>
          <p:cNvPr id="9" name="Text 7"/>
          <p:cNvSpPr/>
          <p:nvPr/>
        </p:nvSpPr>
        <p:spPr>
          <a:xfrm>
            <a:off x="2468880" y="1207008"/>
            <a:ext cx="1920240" cy="64008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300</a:t>
            </a:r>
            <a:endParaRPr lang="en-US" sz="3800" dirty="0"/>
          </a:p>
        </p:txBody>
      </p:sp>
      <p:sp>
        <p:nvSpPr>
          <p:cNvPr id="10" name="Text 8"/>
          <p:cNvSpPr/>
          <p:nvPr/>
        </p:nvSpPr>
        <p:spPr>
          <a:xfrm>
            <a:off x="2468880" y="1828800"/>
            <a:ext cx="1920240" cy="5029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Images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calibrées</a:t>
            </a:r>
            <a:endParaRPr lang="en-US" sz="1000" dirty="0"/>
          </a:p>
        </p:txBody>
      </p:sp>
      <p:sp>
        <p:nvSpPr>
          <p:cNvPr id="11" name="Shape 9"/>
          <p:cNvSpPr/>
          <p:nvPr/>
        </p:nvSpPr>
        <p:spPr>
          <a:xfrm>
            <a:off x="4572000" y="1143000"/>
            <a:ext cx="1920240" cy="1280160"/>
          </a:xfrm>
          <a:prstGeom prst="rect">
            <a:avLst/>
          </a:prstGeom>
          <a:solidFill>
            <a:srgbClr val="00B98A"/>
          </a:solidFill>
          <a:ln w="12700">
            <a:solidFill>
              <a:srgbClr val="00B98A"/>
            </a:solidFill>
            <a:prstDash val="solid"/>
          </a:ln>
          <a:effectLst>
            <a:outerShdw sx="100000" sy="100000" kx="0" ky="0" algn="bl" rotWithShape="0" blurRad="76200" dist="25400" dir="8100000">
              <a:srgbClr val="000000">
                <a:alpha val="10000"/>
              </a:srgbClr>
            </a:outerShdw>
          </a:effectLst>
        </p:spPr>
      </p:sp>
      <p:sp>
        <p:nvSpPr>
          <p:cNvPr id="12" name="Text 10"/>
          <p:cNvSpPr/>
          <p:nvPr/>
        </p:nvSpPr>
        <p:spPr>
          <a:xfrm>
            <a:off x="4572000" y="1207008"/>
            <a:ext cx="1920240" cy="64008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A–F</a:t>
            </a:r>
            <a:endParaRPr lang="en-US" sz="3800" dirty="0"/>
          </a:p>
        </p:txBody>
      </p:sp>
      <p:sp>
        <p:nvSpPr>
          <p:cNvPr id="13" name="Text 11"/>
          <p:cNvSpPr/>
          <p:nvPr/>
        </p:nvSpPr>
        <p:spPr>
          <a:xfrm>
            <a:off x="4572000" y="1828800"/>
            <a:ext cx="1920240" cy="5029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Grades de</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qualité</a:t>
            </a:r>
            <a:endParaRPr lang="en-US" sz="1000" dirty="0"/>
          </a:p>
        </p:txBody>
      </p:sp>
      <p:sp>
        <p:nvSpPr>
          <p:cNvPr id="14" name="Shape 12"/>
          <p:cNvSpPr/>
          <p:nvPr/>
        </p:nvSpPr>
        <p:spPr>
          <a:xfrm>
            <a:off x="6675120" y="1143000"/>
            <a:ext cx="1920240" cy="1280160"/>
          </a:xfrm>
          <a:prstGeom prst="rect">
            <a:avLst/>
          </a:prstGeom>
          <a:solidFill>
            <a:srgbClr val="1060A0"/>
          </a:solidFill>
          <a:ln w="12700">
            <a:solidFill>
              <a:srgbClr val="1060A0"/>
            </a:solidFill>
            <a:prstDash val="solid"/>
          </a:ln>
          <a:effectLst>
            <a:outerShdw sx="100000" sy="100000" kx="0" ky="0" algn="bl" rotWithShape="0" blurRad="76200" dist="25400" dir="8100000">
              <a:srgbClr val="000000">
                <a:alpha val="10000"/>
              </a:srgbClr>
            </a:outerShdw>
          </a:effectLst>
        </p:spPr>
      </p:sp>
      <p:sp>
        <p:nvSpPr>
          <p:cNvPr id="15" name="Text 13"/>
          <p:cNvSpPr/>
          <p:nvPr/>
        </p:nvSpPr>
        <p:spPr>
          <a:xfrm>
            <a:off x="6675120" y="1207008"/>
            <a:ext cx="1920240" cy="64008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3</a:t>
            </a:r>
            <a:endParaRPr lang="en-US" sz="3800" dirty="0"/>
          </a:p>
        </p:txBody>
      </p:sp>
      <p:sp>
        <p:nvSpPr>
          <p:cNvPr id="16" name="Text 14"/>
          <p:cNvSpPr/>
          <p:nvPr/>
        </p:nvSpPr>
        <p:spPr>
          <a:xfrm>
            <a:off x="6675120" y="1828800"/>
            <a:ext cx="1920240" cy="5029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Modes de</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détection</a:t>
            </a:r>
            <a:endParaRPr lang="en-US" sz="1000" dirty="0"/>
          </a:p>
        </p:txBody>
      </p:sp>
      <p:sp>
        <p:nvSpPr>
          <p:cNvPr id="17" name="Shape 15"/>
          <p:cNvSpPr/>
          <p:nvPr/>
        </p:nvSpPr>
        <p:spPr>
          <a:xfrm>
            <a:off x="320040" y="2651760"/>
            <a:ext cx="4114800" cy="224028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0000"/>
              </a:srgbClr>
            </a:outerShdw>
          </a:effectLst>
        </p:spPr>
      </p:sp>
      <p:sp>
        <p:nvSpPr>
          <p:cNvPr id="18" name="Shape 16"/>
          <p:cNvSpPr/>
          <p:nvPr/>
        </p:nvSpPr>
        <p:spPr>
          <a:xfrm>
            <a:off x="320040" y="2651760"/>
            <a:ext cx="54864" cy="2240280"/>
          </a:xfrm>
          <a:prstGeom prst="rect">
            <a:avLst/>
          </a:prstGeom>
          <a:solidFill>
            <a:srgbClr val="1060A0"/>
          </a:solidFill>
          <a:ln w="12700">
            <a:solidFill>
              <a:srgbClr val="1060A0"/>
            </a:solidFill>
            <a:prstDash val="solid"/>
          </a:ln>
        </p:spPr>
      </p:sp>
      <p:sp>
        <p:nvSpPr>
          <p:cNvPr id="19" name="Text 17"/>
          <p:cNvSpPr/>
          <p:nvPr/>
        </p:nvSpPr>
        <p:spPr>
          <a:xfrm>
            <a:off x="548640" y="2743200"/>
            <a:ext cx="3657600" cy="347472"/>
          </a:xfrm>
          <a:prstGeom prst="rect">
            <a:avLst/>
          </a:prstGeom>
          <a:noFill/>
          <a:ln/>
        </p:spPr>
        <p:txBody>
          <a:bodyPr wrap="square" lIns="0" tIns="0" rIns="0" bIns="0" rtlCol="0" anchor="ctr"/>
          <a:lstStyle/>
          <a:p>
            <a:pPr indent="0" marL="0">
              <a:buNone/>
            </a:pPr>
            <a:r>
              <a:rPr lang="en-US" sz="1300" b="1" dirty="0">
                <a:solidFill>
                  <a:srgbClr val="1060A0"/>
                </a:solidFill>
                <a:latin typeface="Calibri" pitchFamily="34" charset="0"/>
                <a:ea typeface="Calibri" pitchFamily="34" charset="-122"/>
                <a:cs typeface="Calibri" pitchFamily="34" charset="-120"/>
              </a:rPr>
              <a:t>Barème des Grades</a:t>
            </a:r>
            <a:endParaRPr lang="en-US" sz="1300" dirty="0"/>
          </a:p>
        </p:txBody>
      </p:sp>
      <p:sp>
        <p:nvSpPr>
          <p:cNvPr id="20" name="Shape 18"/>
          <p:cNvSpPr/>
          <p:nvPr/>
        </p:nvSpPr>
        <p:spPr>
          <a:xfrm>
            <a:off x="502920" y="3127248"/>
            <a:ext cx="256032" cy="256032"/>
          </a:xfrm>
          <a:prstGeom prst="rect">
            <a:avLst/>
          </a:prstGeom>
          <a:solidFill>
            <a:srgbClr val="22C55E"/>
          </a:solidFill>
          <a:ln w="12700">
            <a:solidFill>
              <a:srgbClr val="22C55E"/>
            </a:solidFill>
            <a:prstDash val="solid"/>
          </a:ln>
        </p:spPr>
      </p:sp>
      <p:sp>
        <p:nvSpPr>
          <p:cNvPr id="21" name="Text 19"/>
          <p:cNvSpPr/>
          <p:nvPr/>
        </p:nvSpPr>
        <p:spPr>
          <a:xfrm>
            <a:off x="502920" y="312724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22" name="Text 20"/>
          <p:cNvSpPr/>
          <p:nvPr/>
        </p:nvSpPr>
        <p:spPr>
          <a:xfrm>
            <a:off x="822960" y="3145536"/>
            <a:ext cx="594360" cy="2286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 0.85</a:t>
            </a:r>
            <a:endParaRPr lang="en-US" sz="950" dirty="0"/>
          </a:p>
        </p:txBody>
      </p:sp>
      <p:sp>
        <p:nvSpPr>
          <p:cNvPr id="23" name="Shape 21"/>
          <p:cNvSpPr/>
          <p:nvPr/>
        </p:nvSpPr>
        <p:spPr>
          <a:xfrm>
            <a:off x="1508760" y="3182112"/>
            <a:ext cx="2560320" cy="137160"/>
          </a:xfrm>
          <a:prstGeom prst="rect">
            <a:avLst/>
          </a:prstGeom>
          <a:solidFill>
            <a:srgbClr val="E2E8F0"/>
          </a:solidFill>
          <a:ln w="12700">
            <a:solidFill>
              <a:srgbClr val="E2E8F0"/>
            </a:solidFill>
            <a:prstDash val="solid"/>
          </a:ln>
        </p:spPr>
      </p:sp>
      <p:sp>
        <p:nvSpPr>
          <p:cNvPr id="24" name="Shape 22"/>
          <p:cNvSpPr/>
          <p:nvPr/>
        </p:nvSpPr>
        <p:spPr>
          <a:xfrm>
            <a:off x="1508760" y="3182112"/>
            <a:ext cx="2432304" cy="137160"/>
          </a:xfrm>
          <a:prstGeom prst="rect">
            <a:avLst/>
          </a:prstGeom>
          <a:solidFill>
            <a:srgbClr val="22C55E"/>
          </a:solidFill>
          <a:ln w="12700">
            <a:solidFill>
              <a:srgbClr val="22C55E"/>
            </a:solidFill>
            <a:prstDash val="solid"/>
          </a:ln>
        </p:spPr>
      </p:sp>
      <p:sp>
        <p:nvSpPr>
          <p:cNvPr id="25" name="Text 23"/>
          <p:cNvSpPr/>
          <p:nvPr/>
        </p:nvSpPr>
        <p:spPr>
          <a:xfrm>
            <a:off x="3657600" y="3145536"/>
            <a:ext cx="731520" cy="228600"/>
          </a:xfrm>
          <a:prstGeom prst="rect">
            <a:avLst/>
          </a:prstGeom>
          <a:noFill/>
          <a:ln/>
        </p:spPr>
        <p:txBody>
          <a:bodyPr wrap="square" lIns="0" tIns="0" rIns="0" bIns="0" rtlCol="0" anchor="ctr"/>
          <a:lstStyle/>
          <a:p>
            <a:pPr indent="0" marL="0">
              <a:buNone/>
            </a:pPr>
            <a:r>
              <a:rPr lang="en-US" sz="900" dirty="0">
                <a:solidFill>
                  <a:srgbClr val="1A252F"/>
                </a:solidFill>
                <a:latin typeface="Calibri" pitchFamily="34" charset="0"/>
                <a:ea typeface="Calibri" pitchFamily="34" charset="-122"/>
                <a:cs typeface="Calibri" pitchFamily="34" charset="-120"/>
              </a:rPr>
              <a:t>Image professionnelle</a:t>
            </a:r>
            <a:endParaRPr lang="en-US" sz="900" dirty="0"/>
          </a:p>
        </p:txBody>
      </p:sp>
      <p:sp>
        <p:nvSpPr>
          <p:cNvPr id="26" name="Shape 24"/>
          <p:cNvSpPr/>
          <p:nvPr/>
        </p:nvSpPr>
        <p:spPr>
          <a:xfrm>
            <a:off x="502920" y="3465576"/>
            <a:ext cx="256032" cy="256032"/>
          </a:xfrm>
          <a:prstGeom prst="rect">
            <a:avLst/>
          </a:prstGeom>
          <a:solidFill>
            <a:srgbClr val="84CC16"/>
          </a:solidFill>
          <a:ln w="12700">
            <a:solidFill>
              <a:srgbClr val="84CC16"/>
            </a:solidFill>
            <a:prstDash val="solid"/>
          </a:ln>
        </p:spPr>
      </p:sp>
      <p:sp>
        <p:nvSpPr>
          <p:cNvPr id="27" name="Text 25"/>
          <p:cNvSpPr/>
          <p:nvPr/>
        </p:nvSpPr>
        <p:spPr>
          <a:xfrm>
            <a:off x="502920" y="346557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8" name="Text 26"/>
          <p:cNvSpPr/>
          <p:nvPr/>
        </p:nvSpPr>
        <p:spPr>
          <a:xfrm>
            <a:off x="822960" y="3483864"/>
            <a:ext cx="594360" cy="2286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 0.70</a:t>
            </a:r>
            <a:endParaRPr lang="en-US" sz="950" dirty="0"/>
          </a:p>
        </p:txBody>
      </p:sp>
      <p:sp>
        <p:nvSpPr>
          <p:cNvPr id="29" name="Shape 27"/>
          <p:cNvSpPr/>
          <p:nvPr/>
        </p:nvSpPr>
        <p:spPr>
          <a:xfrm>
            <a:off x="1508760" y="3520440"/>
            <a:ext cx="2560320" cy="137160"/>
          </a:xfrm>
          <a:prstGeom prst="rect">
            <a:avLst/>
          </a:prstGeom>
          <a:solidFill>
            <a:srgbClr val="E2E8F0"/>
          </a:solidFill>
          <a:ln w="12700">
            <a:solidFill>
              <a:srgbClr val="E2E8F0"/>
            </a:solidFill>
            <a:prstDash val="solid"/>
          </a:ln>
        </p:spPr>
      </p:sp>
      <p:sp>
        <p:nvSpPr>
          <p:cNvPr id="30" name="Shape 28"/>
          <p:cNvSpPr/>
          <p:nvPr/>
        </p:nvSpPr>
        <p:spPr>
          <a:xfrm>
            <a:off x="1508760" y="3520440"/>
            <a:ext cx="1920240" cy="137160"/>
          </a:xfrm>
          <a:prstGeom prst="rect">
            <a:avLst/>
          </a:prstGeom>
          <a:solidFill>
            <a:srgbClr val="84CC16"/>
          </a:solidFill>
          <a:ln w="12700">
            <a:solidFill>
              <a:srgbClr val="84CC16"/>
            </a:solidFill>
            <a:prstDash val="solid"/>
          </a:ln>
        </p:spPr>
      </p:sp>
      <p:sp>
        <p:nvSpPr>
          <p:cNvPr id="31" name="Text 29"/>
          <p:cNvSpPr/>
          <p:nvPr/>
        </p:nvSpPr>
        <p:spPr>
          <a:xfrm>
            <a:off x="3657600" y="3483864"/>
            <a:ext cx="731520" cy="228600"/>
          </a:xfrm>
          <a:prstGeom prst="rect">
            <a:avLst/>
          </a:prstGeom>
          <a:noFill/>
          <a:ln/>
        </p:spPr>
        <p:txBody>
          <a:bodyPr wrap="square" lIns="0" tIns="0" rIns="0" bIns="0" rtlCol="0" anchor="ctr"/>
          <a:lstStyle/>
          <a:p>
            <a:pPr indent="0" marL="0">
              <a:buNone/>
            </a:pPr>
            <a:r>
              <a:rPr lang="en-US" sz="900" dirty="0">
                <a:solidFill>
                  <a:srgbClr val="1A252F"/>
                </a:solidFill>
                <a:latin typeface="Calibri" pitchFamily="34" charset="0"/>
                <a:ea typeface="Calibri" pitchFamily="34" charset="-122"/>
                <a:cs typeface="Calibri" pitchFamily="34" charset="-120"/>
              </a:rPr>
              <a:t>Bonne qualité</a:t>
            </a:r>
            <a:endParaRPr lang="en-US" sz="900" dirty="0"/>
          </a:p>
        </p:txBody>
      </p:sp>
      <p:sp>
        <p:nvSpPr>
          <p:cNvPr id="32" name="Shape 30"/>
          <p:cNvSpPr/>
          <p:nvPr/>
        </p:nvSpPr>
        <p:spPr>
          <a:xfrm>
            <a:off x="502920" y="3803904"/>
            <a:ext cx="256032" cy="256032"/>
          </a:xfrm>
          <a:prstGeom prst="rect">
            <a:avLst/>
          </a:prstGeom>
          <a:solidFill>
            <a:srgbClr val="EAB308"/>
          </a:solidFill>
          <a:ln w="12700">
            <a:solidFill>
              <a:srgbClr val="EAB308"/>
            </a:solidFill>
            <a:prstDash val="solid"/>
          </a:ln>
        </p:spPr>
      </p:sp>
      <p:sp>
        <p:nvSpPr>
          <p:cNvPr id="33" name="Text 31"/>
          <p:cNvSpPr/>
          <p:nvPr/>
        </p:nvSpPr>
        <p:spPr>
          <a:xfrm>
            <a:off x="502920" y="380390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4" name="Text 32"/>
          <p:cNvSpPr/>
          <p:nvPr/>
        </p:nvSpPr>
        <p:spPr>
          <a:xfrm>
            <a:off x="822960" y="3822192"/>
            <a:ext cx="594360" cy="2286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 0.55</a:t>
            </a:r>
            <a:endParaRPr lang="en-US" sz="950" dirty="0"/>
          </a:p>
        </p:txBody>
      </p:sp>
      <p:sp>
        <p:nvSpPr>
          <p:cNvPr id="35" name="Shape 33"/>
          <p:cNvSpPr/>
          <p:nvPr/>
        </p:nvSpPr>
        <p:spPr>
          <a:xfrm>
            <a:off x="1508760" y="3858768"/>
            <a:ext cx="2560320" cy="137160"/>
          </a:xfrm>
          <a:prstGeom prst="rect">
            <a:avLst/>
          </a:prstGeom>
          <a:solidFill>
            <a:srgbClr val="E2E8F0"/>
          </a:solidFill>
          <a:ln w="12700">
            <a:solidFill>
              <a:srgbClr val="E2E8F0"/>
            </a:solidFill>
            <a:prstDash val="solid"/>
          </a:ln>
        </p:spPr>
      </p:sp>
      <p:sp>
        <p:nvSpPr>
          <p:cNvPr id="36" name="Shape 34"/>
          <p:cNvSpPr/>
          <p:nvPr/>
        </p:nvSpPr>
        <p:spPr>
          <a:xfrm>
            <a:off x="1508760" y="3858768"/>
            <a:ext cx="1536192" cy="137160"/>
          </a:xfrm>
          <a:prstGeom prst="rect">
            <a:avLst/>
          </a:prstGeom>
          <a:solidFill>
            <a:srgbClr val="EAB308"/>
          </a:solidFill>
          <a:ln w="12700">
            <a:solidFill>
              <a:srgbClr val="EAB308"/>
            </a:solidFill>
            <a:prstDash val="solid"/>
          </a:ln>
        </p:spPr>
      </p:sp>
      <p:sp>
        <p:nvSpPr>
          <p:cNvPr id="37" name="Text 35"/>
          <p:cNvSpPr/>
          <p:nvPr/>
        </p:nvSpPr>
        <p:spPr>
          <a:xfrm>
            <a:off x="3657600" y="3822192"/>
            <a:ext cx="731520" cy="228600"/>
          </a:xfrm>
          <a:prstGeom prst="rect">
            <a:avLst/>
          </a:prstGeom>
          <a:noFill/>
          <a:ln/>
        </p:spPr>
        <p:txBody>
          <a:bodyPr wrap="square" lIns="0" tIns="0" rIns="0" bIns="0" rtlCol="0" anchor="ctr"/>
          <a:lstStyle/>
          <a:p>
            <a:pPr indent="0" marL="0">
              <a:buNone/>
            </a:pPr>
            <a:r>
              <a:rPr lang="en-US" sz="900" dirty="0">
                <a:solidFill>
                  <a:srgbClr val="1A252F"/>
                </a:solidFill>
                <a:latin typeface="Calibri" pitchFamily="34" charset="0"/>
                <a:ea typeface="Calibri" pitchFamily="34" charset="-122"/>
                <a:cs typeface="Calibri" pitchFamily="34" charset="-120"/>
              </a:rPr>
              <a:t>Acceptable</a:t>
            </a:r>
            <a:endParaRPr lang="en-US" sz="900" dirty="0"/>
          </a:p>
        </p:txBody>
      </p:sp>
      <p:sp>
        <p:nvSpPr>
          <p:cNvPr id="38" name="Shape 36"/>
          <p:cNvSpPr/>
          <p:nvPr/>
        </p:nvSpPr>
        <p:spPr>
          <a:xfrm>
            <a:off x="502920" y="4142232"/>
            <a:ext cx="256032" cy="256032"/>
          </a:xfrm>
          <a:prstGeom prst="rect">
            <a:avLst/>
          </a:prstGeom>
          <a:solidFill>
            <a:srgbClr val="F97316"/>
          </a:solidFill>
          <a:ln w="12700">
            <a:solidFill>
              <a:srgbClr val="F97316"/>
            </a:solidFill>
            <a:prstDash val="solid"/>
          </a:ln>
        </p:spPr>
      </p:sp>
      <p:sp>
        <p:nvSpPr>
          <p:cNvPr id="39" name="Text 37"/>
          <p:cNvSpPr/>
          <p:nvPr/>
        </p:nvSpPr>
        <p:spPr>
          <a:xfrm>
            <a:off x="502920" y="41422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
            </a:r>
            <a:endParaRPr lang="en-US" sz="1100" dirty="0"/>
          </a:p>
        </p:txBody>
      </p:sp>
      <p:sp>
        <p:nvSpPr>
          <p:cNvPr id="40" name="Text 38"/>
          <p:cNvSpPr/>
          <p:nvPr/>
        </p:nvSpPr>
        <p:spPr>
          <a:xfrm>
            <a:off x="822960" y="4160520"/>
            <a:ext cx="594360" cy="2286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 0.40</a:t>
            </a:r>
            <a:endParaRPr lang="en-US" sz="950" dirty="0"/>
          </a:p>
        </p:txBody>
      </p:sp>
      <p:sp>
        <p:nvSpPr>
          <p:cNvPr id="41" name="Shape 39"/>
          <p:cNvSpPr/>
          <p:nvPr/>
        </p:nvSpPr>
        <p:spPr>
          <a:xfrm>
            <a:off x="1508760" y="4197096"/>
            <a:ext cx="2560320" cy="137160"/>
          </a:xfrm>
          <a:prstGeom prst="rect">
            <a:avLst/>
          </a:prstGeom>
          <a:solidFill>
            <a:srgbClr val="E2E8F0"/>
          </a:solidFill>
          <a:ln w="12700">
            <a:solidFill>
              <a:srgbClr val="E2E8F0"/>
            </a:solidFill>
            <a:prstDash val="solid"/>
          </a:ln>
        </p:spPr>
      </p:sp>
      <p:sp>
        <p:nvSpPr>
          <p:cNvPr id="42" name="Shape 40"/>
          <p:cNvSpPr/>
          <p:nvPr/>
        </p:nvSpPr>
        <p:spPr>
          <a:xfrm>
            <a:off x="1508760" y="4197096"/>
            <a:ext cx="1152144" cy="137160"/>
          </a:xfrm>
          <a:prstGeom prst="rect">
            <a:avLst/>
          </a:prstGeom>
          <a:solidFill>
            <a:srgbClr val="F97316"/>
          </a:solidFill>
          <a:ln w="12700">
            <a:solidFill>
              <a:srgbClr val="F97316"/>
            </a:solidFill>
            <a:prstDash val="solid"/>
          </a:ln>
        </p:spPr>
      </p:sp>
      <p:sp>
        <p:nvSpPr>
          <p:cNvPr id="43" name="Text 41"/>
          <p:cNvSpPr/>
          <p:nvPr/>
        </p:nvSpPr>
        <p:spPr>
          <a:xfrm>
            <a:off x="3657600" y="4160520"/>
            <a:ext cx="731520" cy="228600"/>
          </a:xfrm>
          <a:prstGeom prst="rect">
            <a:avLst/>
          </a:prstGeom>
          <a:noFill/>
          <a:ln/>
        </p:spPr>
        <p:txBody>
          <a:bodyPr wrap="square" lIns="0" tIns="0" rIns="0" bIns="0" rtlCol="0" anchor="ctr"/>
          <a:lstStyle/>
          <a:p>
            <a:pPr indent="0" marL="0">
              <a:buNone/>
            </a:pPr>
            <a:r>
              <a:rPr lang="en-US" sz="900" dirty="0">
                <a:solidFill>
                  <a:srgbClr val="1A252F"/>
                </a:solidFill>
                <a:latin typeface="Calibri" pitchFamily="34" charset="0"/>
                <a:ea typeface="Calibri" pitchFamily="34" charset="-122"/>
                <a:cs typeface="Calibri" pitchFamily="34" charset="-120"/>
              </a:rPr>
              <a:t>Insuffisant</a:t>
            </a:r>
            <a:endParaRPr lang="en-US" sz="900" dirty="0"/>
          </a:p>
        </p:txBody>
      </p:sp>
      <p:sp>
        <p:nvSpPr>
          <p:cNvPr id="44" name="Shape 42"/>
          <p:cNvSpPr/>
          <p:nvPr/>
        </p:nvSpPr>
        <p:spPr>
          <a:xfrm>
            <a:off x="502920" y="4480560"/>
            <a:ext cx="256032" cy="256032"/>
          </a:xfrm>
          <a:prstGeom prst="rect">
            <a:avLst/>
          </a:prstGeom>
          <a:solidFill>
            <a:srgbClr val="EF4444"/>
          </a:solidFill>
          <a:ln w="12700">
            <a:solidFill>
              <a:srgbClr val="EF4444"/>
            </a:solidFill>
            <a:prstDash val="solid"/>
          </a:ln>
        </p:spPr>
      </p:sp>
      <p:sp>
        <p:nvSpPr>
          <p:cNvPr id="45" name="Text 43"/>
          <p:cNvSpPr/>
          <p:nvPr/>
        </p:nvSpPr>
        <p:spPr>
          <a:xfrm>
            <a:off x="502920" y="448056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t>
            </a:r>
            <a:endParaRPr lang="en-US" sz="1100" dirty="0"/>
          </a:p>
        </p:txBody>
      </p:sp>
      <p:sp>
        <p:nvSpPr>
          <p:cNvPr id="46" name="Text 44"/>
          <p:cNvSpPr/>
          <p:nvPr/>
        </p:nvSpPr>
        <p:spPr>
          <a:xfrm>
            <a:off x="822960" y="4498848"/>
            <a:ext cx="594360" cy="2286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&lt; 0.40</a:t>
            </a:r>
            <a:endParaRPr lang="en-US" sz="950" dirty="0"/>
          </a:p>
        </p:txBody>
      </p:sp>
      <p:sp>
        <p:nvSpPr>
          <p:cNvPr id="47" name="Shape 45"/>
          <p:cNvSpPr/>
          <p:nvPr/>
        </p:nvSpPr>
        <p:spPr>
          <a:xfrm>
            <a:off x="1508760" y="4535424"/>
            <a:ext cx="2560320" cy="137160"/>
          </a:xfrm>
          <a:prstGeom prst="rect">
            <a:avLst/>
          </a:prstGeom>
          <a:solidFill>
            <a:srgbClr val="E2E8F0"/>
          </a:solidFill>
          <a:ln w="12700">
            <a:solidFill>
              <a:srgbClr val="E2E8F0"/>
            </a:solidFill>
            <a:prstDash val="solid"/>
          </a:ln>
        </p:spPr>
      </p:sp>
      <p:sp>
        <p:nvSpPr>
          <p:cNvPr id="48" name="Shape 46"/>
          <p:cNvSpPr/>
          <p:nvPr/>
        </p:nvSpPr>
        <p:spPr>
          <a:xfrm>
            <a:off x="1508760" y="4535424"/>
            <a:ext cx="512064" cy="137160"/>
          </a:xfrm>
          <a:prstGeom prst="rect">
            <a:avLst/>
          </a:prstGeom>
          <a:solidFill>
            <a:srgbClr val="EF4444"/>
          </a:solidFill>
          <a:ln w="12700">
            <a:solidFill>
              <a:srgbClr val="EF4444"/>
            </a:solidFill>
            <a:prstDash val="solid"/>
          </a:ln>
        </p:spPr>
      </p:sp>
      <p:sp>
        <p:nvSpPr>
          <p:cNvPr id="49" name="Text 47"/>
          <p:cNvSpPr/>
          <p:nvPr/>
        </p:nvSpPr>
        <p:spPr>
          <a:xfrm>
            <a:off x="3657600" y="4498848"/>
            <a:ext cx="731520" cy="228600"/>
          </a:xfrm>
          <a:prstGeom prst="rect">
            <a:avLst/>
          </a:prstGeom>
          <a:noFill/>
          <a:ln/>
        </p:spPr>
        <p:txBody>
          <a:bodyPr wrap="square" lIns="0" tIns="0" rIns="0" bIns="0" rtlCol="0" anchor="ctr"/>
          <a:lstStyle/>
          <a:p>
            <a:pPr indent="0" marL="0">
              <a:buNone/>
            </a:pPr>
            <a:r>
              <a:rPr lang="en-US" sz="900" dirty="0">
                <a:solidFill>
                  <a:srgbClr val="1A252F"/>
                </a:solidFill>
                <a:latin typeface="Calibri" pitchFamily="34" charset="0"/>
                <a:ea typeface="Calibri" pitchFamily="34" charset="-122"/>
                <a:cs typeface="Calibri" pitchFamily="34" charset="-120"/>
              </a:rPr>
              <a:t>Rejetée</a:t>
            </a:r>
            <a:endParaRPr lang="en-US" sz="900" dirty="0"/>
          </a:p>
        </p:txBody>
      </p:sp>
      <p:sp>
        <p:nvSpPr>
          <p:cNvPr id="50" name="Shape 48"/>
          <p:cNvSpPr/>
          <p:nvPr/>
        </p:nvSpPr>
        <p:spPr>
          <a:xfrm>
            <a:off x="4709160" y="2651760"/>
            <a:ext cx="4114800" cy="224028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0000"/>
              </a:srgbClr>
            </a:outerShdw>
          </a:effectLst>
        </p:spPr>
      </p:sp>
      <p:sp>
        <p:nvSpPr>
          <p:cNvPr id="51" name="Shape 49"/>
          <p:cNvSpPr/>
          <p:nvPr/>
        </p:nvSpPr>
        <p:spPr>
          <a:xfrm>
            <a:off x="4709160" y="2651760"/>
            <a:ext cx="54864" cy="2240280"/>
          </a:xfrm>
          <a:prstGeom prst="rect">
            <a:avLst/>
          </a:prstGeom>
          <a:solidFill>
            <a:srgbClr val="0E8C9B"/>
          </a:solidFill>
          <a:ln w="12700">
            <a:solidFill>
              <a:srgbClr val="0E8C9B"/>
            </a:solidFill>
            <a:prstDash val="solid"/>
          </a:ln>
        </p:spPr>
      </p:sp>
      <p:sp>
        <p:nvSpPr>
          <p:cNvPr id="52" name="Text 50"/>
          <p:cNvSpPr/>
          <p:nvPr/>
        </p:nvSpPr>
        <p:spPr>
          <a:xfrm>
            <a:off x="4937760" y="2743200"/>
            <a:ext cx="3657600" cy="347472"/>
          </a:xfrm>
          <a:prstGeom prst="rect">
            <a:avLst/>
          </a:prstGeom>
          <a:noFill/>
          <a:ln/>
        </p:spPr>
        <p:txBody>
          <a:bodyPr wrap="square" lIns="0" tIns="0" rIns="0" bIns="0" rtlCol="0" anchor="ctr"/>
          <a:lstStyle/>
          <a:p>
            <a:pPr indent="0" marL="0">
              <a:buNone/>
            </a:pPr>
            <a:r>
              <a:rPr lang="en-US" sz="1300" b="1" dirty="0">
                <a:solidFill>
                  <a:srgbClr val="0E8C9B"/>
                </a:solidFill>
                <a:latin typeface="Calibri" pitchFamily="34" charset="0"/>
                <a:ea typeface="Calibri" pitchFamily="34" charset="-122"/>
                <a:cs typeface="Calibri" pitchFamily="34" charset="-120"/>
              </a:rPr>
              <a:t>Modèles IA Intégrés</a:t>
            </a:r>
            <a:endParaRPr lang="en-US" sz="1300" dirty="0"/>
          </a:p>
        </p:txBody>
      </p:sp>
      <p:sp>
        <p:nvSpPr>
          <p:cNvPr id="53" name="Text 51"/>
          <p:cNvSpPr/>
          <p:nvPr/>
        </p:nvSpPr>
        <p:spPr>
          <a:xfrm>
            <a:off x="4937760" y="3145536"/>
            <a:ext cx="274320" cy="228600"/>
          </a:xfrm>
          <a:prstGeom prst="rect">
            <a:avLst/>
          </a:prstGeom>
          <a:noFill/>
          <a:ln/>
        </p:spPr>
        <p:txBody>
          <a:bodyPr wrap="square" lIns="0" tIns="0" rIns="0" bIns="0" rtlCol="0" anchor="ctr"/>
          <a:lstStyle/>
          <a:p>
            <a:pPr indent="0" marL="0">
              <a:buNone/>
            </a:pPr>
            <a:r>
              <a:rPr lang="en-US" sz="1100" dirty="0">
                <a:solidFill>
                  <a:srgbClr val="22C55E"/>
                </a:solidFill>
                <a:latin typeface="Calibri" pitchFamily="34" charset="0"/>
                <a:ea typeface="Calibri" pitchFamily="34" charset="-122"/>
                <a:cs typeface="Calibri" pitchFamily="34" charset="-120"/>
              </a:rPr>
              <a:t>✅</a:t>
            </a:r>
            <a:endParaRPr lang="en-US" sz="1100" dirty="0"/>
          </a:p>
        </p:txBody>
      </p:sp>
      <p:sp>
        <p:nvSpPr>
          <p:cNvPr id="54" name="Text 52"/>
          <p:cNvSpPr/>
          <p:nvPr/>
        </p:nvSpPr>
        <p:spPr>
          <a:xfrm>
            <a:off x="5257800" y="3145536"/>
            <a:ext cx="1828800" cy="228600"/>
          </a:xfrm>
          <a:prstGeom prst="rect">
            <a:avLst/>
          </a:prstGeom>
          <a:noFill/>
          <a:ln/>
        </p:spPr>
        <p:txBody>
          <a:bodyPr wrap="square" lIns="0" tIns="0" rIns="0" bIns="0" rtlCol="0" anchor="ctr"/>
          <a:lstStyle/>
          <a:p>
            <a:pPr indent="0" marL="0">
              <a:buNone/>
            </a:pPr>
            <a:r>
              <a:rPr lang="en-US" sz="950" b="1" dirty="0">
                <a:solidFill>
                  <a:srgbClr val="1A252F"/>
                </a:solidFill>
                <a:latin typeface="Calibri" pitchFamily="34" charset="0"/>
                <a:ea typeface="Calibri" pitchFamily="34" charset="-122"/>
                <a:cs typeface="Calibri" pitchFamily="34" charset="-120"/>
              </a:rPr>
              <a:t>Grounding DINO Tiny</a:t>
            </a:r>
            <a:endParaRPr lang="en-US" sz="950" dirty="0"/>
          </a:p>
        </p:txBody>
      </p:sp>
      <p:sp>
        <p:nvSpPr>
          <p:cNvPr id="55" name="Text 53"/>
          <p:cNvSpPr/>
          <p:nvPr/>
        </p:nvSpPr>
        <p:spPr>
          <a:xfrm>
            <a:off x="5257800" y="3300984"/>
            <a:ext cx="3474720" cy="18288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Détection zéro-shot (texte → bbox)</a:t>
            </a:r>
            <a:endParaRPr lang="en-US" sz="850" dirty="0"/>
          </a:p>
        </p:txBody>
      </p:sp>
      <p:sp>
        <p:nvSpPr>
          <p:cNvPr id="56" name="Text 54"/>
          <p:cNvSpPr/>
          <p:nvPr/>
        </p:nvSpPr>
        <p:spPr>
          <a:xfrm>
            <a:off x="4937760" y="3483864"/>
            <a:ext cx="274320" cy="228600"/>
          </a:xfrm>
          <a:prstGeom prst="rect">
            <a:avLst/>
          </a:prstGeom>
          <a:noFill/>
          <a:ln/>
        </p:spPr>
        <p:txBody>
          <a:bodyPr wrap="square" lIns="0" tIns="0" rIns="0" bIns="0" rtlCol="0" anchor="ctr"/>
          <a:lstStyle/>
          <a:p>
            <a:pPr indent="0" marL="0">
              <a:buNone/>
            </a:pPr>
            <a:r>
              <a:rPr lang="en-US" sz="1100" dirty="0">
                <a:solidFill>
                  <a:srgbClr val="22C55E"/>
                </a:solidFill>
                <a:latin typeface="Calibri" pitchFamily="34" charset="0"/>
                <a:ea typeface="Calibri" pitchFamily="34" charset="-122"/>
                <a:cs typeface="Calibri" pitchFamily="34" charset="-120"/>
              </a:rPr>
              <a:t>✅</a:t>
            </a:r>
            <a:endParaRPr lang="en-US" sz="1100" dirty="0"/>
          </a:p>
        </p:txBody>
      </p:sp>
      <p:sp>
        <p:nvSpPr>
          <p:cNvPr id="57" name="Text 55"/>
          <p:cNvSpPr/>
          <p:nvPr/>
        </p:nvSpPr>
        <p:spPr>
          <a:xfrm>
            <a:off x="5257800" y="3483864"/>
            <a:ext cx="1828800" cy="228600"/>
          </a:xfrm>
          <a:prstGeom prst="rect">
            <a:avLst/>
          </a:prstGeom>
          <a:noFill/>
          <a:ln/>
        </p:spPr>
        <p:txBody>
          <a:bodyPr wrap="square" lIns="0" tIns="0" rIns="0" bIns="0" rtlCol="0" anchor="ctr"/>
          <a:lstStyle/>
          <a:p>
            <a:pPr indent="0" marL="0">
              <a:buNone/>
            </a:pPr>
            <a:r>
              <a:rPr lang="en-US" sz="950" b="1" dirty="0">
                <a:solidFill>
                  <a:srgbClr val="1A252F"/>
                </a:solidFill>
                <a:latin typeface="Calibri" pitchFamily="34" charset="0"/>
                <a:ea typeface="Calibri" pitchFamily="34" charset="-122"/>
                <a:cs typeface="Calibri" pitchFamily="34" charset="-120"/>
              </a:rPr>
              <a:t>BLIP Base (Salesforce)</a:t>
            </a:r>
            <a:endParaRPr lang="en-US" sz="950" dirty="0"/>
          </a:p>
        </p:txBody>
      </p:sp>
      <p:sp>
        <p:nvSpPr>
          <p:cNvPr id="58" name="Text 56"/>
          <p:cNvSpPr/>
          <p:nvPr/>
        </p:nvSpPr>
        <p:spPr>
          <a:xfrm>
            <a:off x="5257800" y="3639312"/>
            <a:ext cx="3474720" cy="18288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Légende image → fiche produit FR</a:t>
            </a:r>
            <a:endParaRPr lang="en-US" sz="850" dirty="0"/>
          </a:p>
        </p:txBody>
      </p:sp>
      <p:sp>
        <p:nvSpPr>
          <p:cNvPr id="59" name="Text 57"/>
          <p:cNvSpPr/>
          <p:nvPr/>
        </p:nvSpPr>
        <p:spPr>
          <a:xfrm>
            <a:off x="4937760" y="3822192"/>
            <a:ext cx="274320" cy="228600"/>
          </a:xfrm>
          <a:prstGeom prst="rect">
            <a:avLst/>
          </a:prstGeom>
          <a:noFill/>
          <a:ln/>
        </p:spPr>
        <p:txBody>
          <a:bodyPr wrap="square" lIns="0" tIns="0" rIns="0" bIns="0" rtlCol="0" anchor="ctr"/>
          <a:lstStyle/>
          <a:p>
            <a:pPr indent="0" marL="0">
              <a:buNone/>
            </a:pPr>
            <a:r>
              <a:rPr lang="en-US" sz="1100" dirty="0">
                <a:solidFill>
                  <a:srgbClr val="22C55E"/>
                </a:solidFill>
                <a:latin typeface="Calibri" pitchFamily="34" charset="0"/>
                <a:ea typeface="Calibri" pitchFamily="34" charset="-122"/>
                <a:cs typeface="Calibri" pitchFamily="34" charset="-120"/>
              </a:rPr>
              <a:t>✅</a:t>
            </a:r>
            <a:endParaRPr lang="en-US" sz="1100" dirty="0"/>
          </a:p>
        </p:txBody>
      </p:sp>
      <p:sp>
        <p:nvSpPr>
          <p:cNvPr id="60" name="Text 58"/>
          <p:cNvSpPr/>
          <p:nvPr/>
        </p:nvSpPr>
        <p:spPr>
          <a:xfrm>
            <a:off x="5257800" y="3822192"/>
            <a:ext cx="1828800" cy="228600"/>
          </a:xfrm>
          <a:prstGeom prst="rect">
            <a:avLst/>
          </a:prstGeom>
          <a:noFill/>
          <a:ln/>
        </p:spPr>
        <p:txBody>
          <a:bodyPr wrap="square" lIns="0" tIns="0" rIns="0" bIns="0" rtlCol="0" anchor="ctr"/>
          <a:lstStyle/>
          <a:p>
            <a:pPr indent="0" marL="0">
              <a:buNone/>
            </a:pPr>
            <a:r>
              <a:rPr lang="en-US" sz="950" b="1" dirty="0">
                <a:solidFill>
                  <a:srgbClr val="1A252F"/>
                </a:solidFill>
                <a:latin typeface="Calibri" pitchFamily="34" charset="0"/>
                <a:ea typeface="Calibri" pitchFamily="34" charset="-122"/>
                <a:cs typeface="Calibri" pitchFamily="34" charset="-120"/>
              </a:rPr>
              <a:t>CLIP ViT-B/32 (OpenAI)</a:t>
            </a:r>
            <a:endParaRPr lang="en-US" sz="950" dirty="0"/>
          </a:p>
        </p:txBody>
      </p:sp>
      <p:sp>
        <p:nvSpPr>
          <p:cNvPr id="61" name="Text 59"/>
          <p:cNvSpPr/>
          <p:nvPr/>
        </p:nvSpPr>
        <p:spPr>
          <a:xfrm>
            <a:off x="5257800" y="3977640"/>
            <a:ext cx="3474720" cy="18288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Cohérence image–texte (cosinus)</a:t>
            </a:r>
            <a:endParaRPr lang="en-US" sz="850" dirty="0"/>
          </a:p>
        </p:txBody>
      </p:sp>
      <p:sp>
        <p:nvSpPr>
          <p:cNvPr id="62" name="Text 60"/>
          <p:cNvSpPr/>
          <p:nvPr/>
        </p:nvSpPr>
        <p:spPr>
          <a:xfrm>
            <a:off x="4937760" y="4160520"/>
            <a:ext cx="274320" cy="228600"/>
          </a:xfrm>
          <a:prstGeom prst="rect">
            <a:avLst/>
          </a:prstGeom>
          <a:noFill/>
          <a:ln/>
        </p:spPr>
        <p:txBody>
          <a:bodyPr wrap="square" lIns="0" tIns="0" rIns="0" bIns="0" rtlCol="0" anchor="ctr"/>
          <a:lstStyle/>
          <a:p>
            <a:pPr indent="0" marL="0">
              <a:buNone/>
            </a:pPr>
            <a:r>
              <a:rPr lang="en-US" sz="1100" dirty="0">
                <a:solidFill>
                  <a:srgbClr val="22C55E"/>
                </a:solidFill>
                <a:latin typeface="Calibri" pitchFamily="34" charset="0"/>
                <a:ea typeface="Calibri" pitchFamily="34" charset="-122"/>
                <a:cs typeface="Calibri" pitchFamily="34" charset="-120"/>
              </a:rPr>
              <a:t>✅</a:t>
            </a:r>
            <a:endParaRPr lang="en-US" sz="1100" dirty="0"/>
          </a:p>
        </p:txBody>
      </p:sp>
      <p:sp>
        <p:nvSpPr>
          <p:cNvPr id="63" name="Text 61"/>
          <p:cNvSpPr/>
          <p:nvPr/>
        </p:nvSpPr>
        <p:spPr>
          <a:xfrm>
            <a:off x="5257800" y="4160520"/>
            <a:ext cx="1828800" cy="228600"/>
          </a:xfrm>
          <a:prstGeom prst="rect">
            <a:avLst/>
          </a:prstGeom>
          <a:noFill/>
          <a:ln/>
        </p:spPr>
        <p:txBody>
          <a:bodyPr wrap="square" lIns="0" tIns="0" rIns="0" bIns="0" rtlCol="0" anchor="ctr"/>
          <a:lstStyle/>
          <a:p>
            <a:pPr indent="0" marL="0">
              <a:buNone/>
            </a:pPr>
            <a:r>
              <a:rPr lang="en-US" sz="950" b="1" dirty="0">
                <a:solidFill>
                  <a:srgbClr val="1A252F"/>
                </a:solidFill>
                <a:latin typeface="Calibri" pitchFamily="34" charset="0"/>
                <a:ea typeface="Calibri" pitchFamily="34" charset="-122"/>
                <a:cs typeface="Calibri" pitchFamily="34" charset="-120"/>
              </a:rPr>
              <a:t>EasyOCR (fr + en)</a:t>
            </a:r>
            <a:endParaRPr lang="en-US" sz="950" dirty="0"/>
          </a:p>
        </p:txBody>
      </p:sp>
      <p:sp>
        <p:nvSpPr>
          <p:cNvPr id="64" name="Text 62"/>
          <p:cNvSpPr/>
          <p:nvPr/>
        </p:nvSpPr>
        <p:spPr>
          <a:xfrm>
            <a:off x="5257800" y="4315968"/>
            <a:ext cx="3474720" cy="18288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Lecture texte visible sur image</a:t>
            </a:r>
            <a:endParaRPr lang="en-US" sz="850" dirty="0"/>
          </a:p>
        </p:txBody>
      </p:sp>
      <p:sp>
        <p:nvSpPr>
          <p:cNvPr id="65" name="Text 63"/>
          <p:cNvSpPr/>
          <p:nvPr/>
        </p:nvSpPr>
        <p:spPr>
          <a:xfrm>
            <a:off x="4937760" y="4498848"/>
            <a:ext cx="274320" cy="228600"/>
          </a:xfrm>
          <a:prstGeom prst="rect">
            <a:avLst/>
          </a:prstGeom>
          <a:noFill/>
          <a:ln/>
        </p:spPr>
        <p:txBody>
          <a:bodyPr wrap="square" lIns="0" tIns="0" rIns="0" bIns="0" rtlCol="0" anchor="ctr"/>
          <a:lstStyle/>
          <a:p>
            <a:pPr indent="0" marL="0">
              <a:buNone/>
            </a:pPr>
            <a:r>
              <a:rPr lang="en-US" sz="1100" dirty="0">
                <a:solidFill>
                  <a:srgbClr val="22C55E"/>
                </a:solidFill>
                <a:latin typeface="Calibri" pitchFamily="34" charset="0"/>
                <a:ea typeface="Calibri" pitchFamily="34" charset="-122"/>
                <a:cs typeface="Calibri" pitchFamily="34" charset="-120"/>
              </a:rPr>
              <a:t>✅</a:t>
            </a:r>
            <a:endParaRPr lang="en-US" sz="1100" dirty="0"/>
          </a:p>
        </p:txBody>
      </p:sp>
      <p:sp>
        <p:nvSpPr>
          <p:cNvPr id="66" name="Text 64"/>
          <p:cNvSpPr/>
          <p:nvPr/>
        </p:nvSpPr>
        <p:spPr>
          <a:xfrm>
            <a:off x="5257800" y="4498848"/>
            <a:ext cx="1828800" cy="228600"/>
          </a:xfrm>
          <a:prstGeom prst="rect">
            <a:avLst/>
          </a:prstGeom>
          <a:noFill/>
          <a:ln/>
        </p:spPr>
        <p:txBody>
          <a:bodyPr wrap="square" lIns="0" tIns="0" rIns="0" bIns="0" rtlCol="0" anchor="ctr"/>
          <a:lstStyle/>
          <a:p>
            <a:pPr indent="0" marL="0">
              <a:buNone/>
            </a:pPr>
            <a:r>
              <a:rPr lang="en-US" sz="950" b="1" dirty="0">
                <a:solidFill>
                  <a:srgbClr val="1A252F"/>
                </a:solidFill>
                <a:latin typeface="Calibri" pitchFamily="34" charset="0"/>
                <a:ea typeface="Calibri" pitchFamily="34" charset="-122"/>
                <a:cs typeface="Calibri" pitchFamily="34" charset="-120"/>
              </a:rPr>
              <a:t>GrabCut (OpenCV)</a:t>
            </a:r>
            <a:endParaRPr lang="en-US" sz="950" dirty="0"/>
          </a:p>
        </p:txBody>
      </p:sp>
      <p:sp>
        <p:nvSpPr>
          <p:cNvPr id="67" name="Text 65"/>
          <p:cNvSpPr/>
          <p:nvPr/>
        </p:nvSpPr>
        <p:spPr>
          <a:xfrm>
            <a:off x="5257800" y="4654296"/>
            <a:ext cx="3474720" cy="18288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Segmentation masque pixel-précis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2137"/>
          </a:solidFill>
          <a:ln w="12700">
            <a:solidFill>
              <a:srgbClr val="0D2137"/>
            </a:solidFill>
            <a:prstDash val="solid"/>
          </a:ln>
        </p:spPr>
      </p:sp>
      <p:sp>
        <p:nvSpPr>
          <p:cNvPr id="3" name="Shape 1"/>
          <p:cNvSpPr/>
          <p:nvPr/>
        </p:nvSpPr>
        <p:spPr>
          <a:xfrm>
            <a:off x="0" y="960120"/>
            <a:ext cx="9144000" cy="54864"/>
          </a:xfrm>
          <a:prstGeom prst="rect">
            <a:avLst/>
          </a:prstGeom>
          <a:solidFill>
            <a:srgbClr val="00B98A"/>
          </a:solidFill>
          <a:ln w="12700">
            <a:solidFill>
              <a:srgbClr val="00B98A"/>
            </a:solidFill>
            <a:prstDash val="solid"/>
          </a:ln>
        </p:spPr>
      </p:sp>
      <p:sp>
        <p:nvSpPr>
          <p:cNvPr id="4" name="Text 2"/>
          <p:cNvSpPr/>
          <p:nvPr/>
        </p:nvSpPr>
        <p:spPr>
          <a:xfrm>
            <a:off x="365760" y="0"/>
            <a:ext cx="8229600" cy="9601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Défis Techniques &amp; Solutions</a:t>
            </a:r>
            <a:endParaRPr lang="en-US" sz="2600" dirty="0"/>
          </a:p>
        </p:txBody>
      </p:sp>
      <p:sp>
        <p:nvSpPr>
          <p:cNvPr id="5" name="Shape 3"/>
          <p:cNvSpPr/>
          <p:nvPr/>
        </p:nvSpPr>
        <p:spPr>
          <a:xfrm>
            <a:off x="182880" y="1097280"/>
            <a:ext cx="8778240" cy="594360"/>
          </a:xfrm>
          <a:prstGeom prst="rect">
            <a:avLst/>
          </a:prstGeom>
          <a:solidFill>
            <a:srgbClr val="FFFFFF"/>
          </a:solidFill>
          <a:ln w="3810">
            <a:solidFill>
              <a:srgbClr val="E2E8F0"/>
            </a:solidFill>
            <a:prstDash val="solid"/>
          </a:ln>
        </p:spPr>
      </p:sp>
      <p:sp>
        <p:nvSpPr>
          <p:cNvPr id="6" name="Shape 4"/>
          <p:cNvSpPr/>
          <p:nvPr/>
        </p:nvSpPr>
        <p:spPr>
          <a:xfrm>
            <a:off x="182880" y="1097280"/>
            <a:ext cx="54864" cy="594360"/>
          </a:xfrm>
          <a:prstGeom prst="rect">
            <a:avLst/>
          </a:prstGeom>
          <a:solidFill>
            <a:srgbClr val="EF4444"/>
          </a:solidFill>
          <a:ln w="12700">
            <a:solidFill>
              <a:srgbClr val="EF4444"/>
            </a:solidFill>
            <a:prstDash val="solid"/>
          </a:ln>
        </p:spPr>
      </p:sp>
      <p:sp>
        <p:nvSpPr>
          <p:cNvPr id="7" name="Text 5"/>
          <p:cNvSpPr/>
          <p:nvPr/>
        </p:nvSpPr>
        <p:spPr>
          <a:xfrm>
            <a:off x="320040" y="1133856"/>
            <a:ext cx="3200400" cy="256032"/>
          </a:xfrm>
          <a:prstGeom prst="rect">
            <a:avLst/>
          </a:prstGeom>
          <a:noFill/>
          <a:ln/>
        </p:spPr>
        <p:txBody>
          <a:bodyPr wrap="square" lIns="0" tIns="0" rIns="0" bIns="0" rtlCol="0" anchor="ctr"/>
          <a:lstStyle/>
          <a:p>
            <a:pPr indent="0" marL="0">
              <a:buNone/>
            </a:pPr>
            <a:r>
              <a:rPr lang="en-US" sz="900" b="1" dirty="0">
                <a:solidFill>
                  <a:srgbClr val="1A252F"/>
                </a:solidFill>
                <a:latin typeface="Calibri" pitchFamily="34" charset="0"/>
                <a:ea typeface="Calibri" pitchFamily="34" charset="-122"/>
                <a:cs typeface="Calibri" pitchFamily="34" charset="-120"/>
              </a:rPr>
              <a:t>❌ Score jpeg_artifacts constant (0.673) sur 300 images</a:t>
            </a:r>
            <a:endParaRPr lang="en-US" sz="900" dirty="0"/>
          </a:p>
        </p:txBody>
      </p:sp>
      <p:sp>
        <p:nvSpPr>
          <p:cNvPr id="8" name="Text 6"/>
          <p:cNvSpPr/>
          <p:nvPr/>
        </p:nvSpPr>
        <p:spPr>
          <a:xfrm>
            <a:off x="320040" y="1389888"/>
            <a:ext cx="3200400" cy="25603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Cause : Table de quantification JPEG identique (quality=75 CDN Jumia)</a:t>
            </a:r>
            <a:endParaRPr lang="en-US" sz="850" dirty="0"/>
          </a:p>
        </p:txBody>
      </p:sp>
      <p:sp>
        <p:nvSpPr>
          <p:cNvPr id="9" name="Text 7"/>
          <p:cNvSpPr/>
          <p:nvPr/>
        </p:nvSpPr>
        <p:spPr>
          <a:xfrm>
            <a:off x="3547872" y="1261872"/>
            <a:ext cx="274320" cy="256032"/>
          </a:xfrm>
          <a:prstGeom prst="rect">
            <a:avLst/>
          </a:prstGeom>
          <a:noFill/>
          <a:ln/>
        </p:spPr>
        <p:txBody>
          <a:bodyPr wrap="square" lIns="0" tIns="0" rIns="0" bIns="0" rtlCol="0" anchor="ctr"/>
          <a:lstStyle/>
          <a:p>
            <a:pPr algn="ctr" indent="0" marL="0">
              <a:buNone/>
            </a:pPr>
            <a:r>
              <a:rPr lang="en-US" sz="1600" dirty="0">
                <a:solidFill>
                  <a:srgbClr val="0E8C9B"/>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3794760" y="1207008"/>
            <a:ext cx="54864" cy="384048"/>
          </a:xfrm>
          <a:prstGeom prst="rect">
            <a:avLst/>
          </a:prstGeom>
          <a:solidFill>
            <a:srgbClr val="22C55E"/>
          </a:solidFill>
          <a:ln w="12700">
            <a:solidFill>
              <a:srgbClr val="22C55E"/>
            </a:solidFill>
            <a:prstDash val="solid"/>
          </a:ln>
        </p:spPr>
      </p:sp>
      <p:sp>
        <p:nvSpPr>
          <p:cNvPr id="11" name="Text 9"/>
          <p:cNvSpPr/>
          <p:nvPr/>
        </p:nvSpPr>
        <p:spPr>
          <a:xfrm>
            <a:off x="3931920" y="1207008"/>
            <a:ext cx="4937760" cy="384048"/>
          </a:xfrm>
          <a:prstGeom prst="rect">
            <a:avLst/>
          </a:prstGeom>
          <a:noFill/>
          <a:ln/>
        </p:spPr>
        <p:txBody>
          <a:bodyPr wrap="square" lIns="0" tIns="0" rIns="0" bIns="0" rtlCol="0" anchor="ctr"/>
          <a:lstStyle/>
          <a:p>
            <a:pPr indent="0" marL="0">
              <a:buNone/>
            </a:pPr>
            <a:r>
              <a:rPr lang="en-US" sz="900" dirty="0">
                <a:solidFill>
                  <a:srgbClr val="1A252F"/>
                </a:solidFill>
                <a:latin typeface="Calibri" pitchFamily="34" charset="0"/>
                <a:ea typeface="Calibri" pitchFamily="34" charset="-122"/>
                <a:cs typeface="Calibri" pitchFamily="34" charset="-120"/>
              </a:rPr>
              <a:t>✅ Remplacement par variance du Laplacien en échelle log → 29 valeurs uniques</a:t>
            </a:r>
            <a:endParaRPr lang="en-US" sz="900" dirty="0"/>
          </a:p>
        </p:txBody>
      </p:sp>
      <p:sp>
        <p:nvSpPr>
          <p:cNvPr id="12" name="Shape 10"/>
          <p:cNvSpPr/>
          <p:nvPr/>
        </p:nvSpPr>
        <p:spPr>
          <a:xfrm>
            <a:off x="182880" y="1737360"/>
            <a:ext cx="8778240" cy="594360"/>
          </a:xfrm>
          <a:prstGeom prst="rect">
            <a:avLst/>
          </a:prstGeom>
          <a:solidFill>
            <a:srgbClr val="F0F5FA"/>
          </a:solidFill>
          <a:ln w="3810">
            <a:solidFill>
              <a:srgbClr val="E2E8F0"/>
            </a:solidFill>
            <a:prstDash val="solid"/>
          </a:ln>
        </p:spPr>
      </p:sp>
      <p:sp>
        <p:nvSpPr>
          <p:cNvPr id="13" name="Shape 11"/>
          <p:cNvSpPr/>
          <p:nvPr/>
        </p:nvSpPr>
        <p:spPr>
          <a:xfrm>
            <a:off x="182880" y="1737360"/>
            <a:ext cx="54864" cy="594360"/>
          </a:xfrm>
          <a:prstGeom prst="rect">
            <a:avLst/>
          </a:prstGeom>
          <a:solidFill>
            <a:srgbClr val="EF4444"/>
          </a:solidFill>
          <a:ln w="12700">
            <a:solidFill>
              <a:srgbClr val="EF4444"/>
            </a:solidFill>
            <a:prstDash val="solid"/>
          </a:ln>
        </p:spPr>
      </p:sp>
      <p:sp>
        <p:nvSpPr>
          <p:cNvPr id="14" name="Text 12"/>
          <p:cNvSpPr/>
          <p:nvPr/>
        </p:nvSpPr>
        <p:spPr>
          <a:xfrm>
            <a:off x="320040" y="1773936"/>
            <a:ext cx="3200400" cy="256032"/>
          </a:xfrm>
          <a:prstGeom prst="rect">
            <a:avLst/>
          </a:prstGeom>
          <a:noFill/>
          <a:ln/>
        </p:spPr>
        <p:txBody>
          <a:bodyPr wrap="square" lIns="0" tIns="0" rIns="0" bIns="0" rtlCol="0" anchor="ctr"/>
          <a:lstStyle/>
          <a:p>
            <a:pPr indent="0" marL="0">
              <a:buNone/>
            </a:pPr>
            <a:r>
              <a:rPr lang="en-US" sz="900" b="1" dirty="0">
                <a:solidFill>
                  <a:srgbClr val="1A252F"/>
                </a:solidFill>
                <a:latin typeface="Calibri" pitchFamily="34" charset="0"/>
                <a:ea typeface="Calibri" pitchFamily="34" charset="-122"/>
                <a:cs typeface="Calibri" pitchFamily="34" charset="-120"/>
              </a:rPr>
              <a:t>❌ Titre en mauvais ordre français ("Portable Chargeur")</a:t>
            </a:r>
            <a:endParaRPr lang="en-US" sz="900" dirty="0"/>
          </a:p>
        </p:txBody>
      </p:sp>
      <p:sp>
        <p:nvSpPr>
          <p:cNvPr id="15" name="Text 13"/>
          <p:cNvSpPr/>
          <p:nvPr/>
        </p:nvSpPr>
        <p:spPr>
          <a:xfrm>
            <a:off x="320040" y="2029968"/>
            <a:ext cx="3200400" cy="25603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Cause : Mots-clés BLIP non classés : adjectifs avant noms</a:t>
            </a:r>
            <a:endParaRPr lang="en-US" sz="850" dirty="0"/>
          </a:p>
        </p:txBody>
      </p:sp>
      <p:sp>
        <p:nvSpPr>
          <p:cNvPr id="16" name="Text 14"/>
          <p:cNvSpPr/>
          <p:nvPr/>
        </p:nvSpPr>
        <p:spPr>
          <a:xfrm>
            <a:off x="3547872" y="1901952"/>
            <a:ext cx="274320" cy="256032"/>
          </a:xfrm>
          <a:prstGeom prst="rect">
            <a:avLst/>
          </a:prstGeom>
          <a:noFill/>
          <a:ln/>
        </p:spPr>
        <p:txBody>
          <a:bodyPr wrap="square" lIns="0" tIns="0" rIns="0" bIns="0" rtlCol="0" anchor="ctr"/>
          <a:lstStyle/>
          <a:p>
            <a:pPr algn="ctr" indent="0" marL="0">
              <a:buNone/>
            </a:pPr>
            <a:r>
              <a:rPr lang="en-US" sz="1600" dirty="0">
                <a:solidFill>
                  <a:srgbClr val="0E8C9B"/>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3794760" y="1847088"/>
            <a:ext cx="54864" cy="384048"/>
          </a:xfrm>
          <a:prstGeom prst="rect">
            <a:avLst/>
          </a:prstGeom>
          <a:solidFill>
            <a:srgbClr val="22C55E"/>
          </a:solidFill>
          <a:ln w="12700">
            <a:solidFill>
              <a:srgbClr val="22C55E"/>
            </a:solidFill>
            <a:prstDash val="solid"/>
          </a:ln>
        </p:spPr>
      </p:sp>
      <p:sp>
        <p:nvSpPr>
          <p:cNvPr id="18" name="Text 16"/>
          <p:cNvSpPr/>
          <p:nvPr/>
        </p:nvSpPr>
        <p:spPr>
          <a:xfrm>
            <a:off x="3931920" y="1847088"/>
            <a:ext cx="4937760" cy="384048"/>
          </a:xfrm>
          <a:prstGeom prst="rect">
            <a:avLst/>
          </a:prstGeom>
          <a:noFill/>
          <a:ln/>
        </p:spPr>
        <p:txBody>
          <a:bodyPr wrap="square" lIns="0" tIns="0" rIns="0" bIns="0" rtlCol="0" anchor="ctr"/>
          <a:lstStyle/>
          <a:p>
            <a:pPr indent="0" marL="0">
              <a:buNone/>
            </a:pPr>
            <a:r>
              <a:rPr lang="en-US" sz="900" dirty="0">
                <a:solidFill>
                  <a:srgbClr val="1A252F"/>
                </a:solidFill>
                <a:latin typeface="Calibri" pitchFamily="34" charset="0"/>
                <a:ea typeface="Calibri" pitchFamily="34" charset="-122"/>
                <a:cs typeface="Calibri" pitchFamily="34" charset="-120"/>
              </a:rPr>
              <a:t>✅ Classificateurs _TYPES (noms) et _ATTRS (adj.) → types d'abord, attributs ensuite</a:t>
            </a:r>
            <a:endParaRPr lang="en-US" sz="900" dirty="0"/>
          </a:p>
        </p:txBody>
      </p:sp>
      <p:sp>
        <p:nvSpPr>
          <p:cNvPr id="19" name="Shape 17"/>
          <p:cNvSpPr/>
          <p:nvPr/>
        </p:nvSpPr>
        <p:spPr>
          <a:xfrm>
            <a:off x="182880" y="2377440"/>
            <a:ext cx="8778240" cy="594360"/>
          </a:xfrm>
          <a:prstGeom prst="rect">
            <a:avLst/>
          </a:prstGeom>
          <a:solidFill>
            <a:srgbClr val="FFFFFF"/>
          </a:solidFill>
          <a:ln w="3810">
            <a:solidFill>
              <a:srgbClr val="E2E8F0"/>
            </a:solidFill>
            <a:prstDash val="solid"/>
          </a:ln>
        </p:spPr>
      </p:sp>
      <p:sp>
        <p:nvSpPr>
          <p:cNvPr id="20" name="Shape 18"/>
          <p:cNvSpPr/>
          <p:nvPr/>
        </p:nvSpPr>
        <p:spPr>
          <a:xfrm>
            <a:off x="182880" y="2377440"/>
            <a:ext cx="54864" cy="594360"/>
          </a:xfrm>
          <a:prstGeom prst="rect">
            <a:avLst/>
          </a:prstGeom>
          <a:solidFill>
            <a:srgbClr val="EF4444"/>
          </a:solidFill>
          <a:ln w="12700">
            <a:solidFill>
              <a:srgbClr val="EF4444"/>
            </a:solidFill>
            <a:prstDash val="solid"/>
          </a:ln>
        </p:spPr>
      </p:sp>
      <p:sp>
        <p:nvSpPr>
          <p:cNvPr id="21" name="Text 19"/>
          <p:cNvSpPr/>
          <p:nvPr/>
        </p:nvSpPr>
        <p:spPr>
          <a:xfrm>
            <a:off x="320040" y="2414016"/>
            <a:ext cx="3200400" cy="256032"/>
          </a:xfrm>
          <a:prstGeom prst="rect">
            <a:avLst/>
          </a:prstGeom>
          <a:noFill/>
          <a:ln/>
        </p:spPr>
        <p:txBody>
          <a:bodyPr wrap="square" lIns="0" tIns="0" rIns="0" bIns="0" rtlCol="0" anchor="ctr"/>
          <a:lstStyle/>
          <a:p>
            <a:pPr indent="0" marL="0">
              <a:buNone/>
            </a:pPr>
            <a:r>
              <a:rPr lang="en-US" sz="900" b="1" dirty="0">
                <a:solidFill>
                  <a:srgbClr val="1A252F"/>
                </a:solidFill>
                <a:latin typeface="Calibri" pitchFamily="34" charset="0"/>
                <a:ea typeface="Calibri" pitchFamily="34" charset="-122"/>
                <a:cs typeface="Calibri" pitchFamily="34" charset="-120"/>
              </a:rPr>
              <a:t>❌ Description en anglais brut ("the power bank is a portable charger...")</a:t>
            </a:r>
            <a:endParaRPr lang="en-US" sz="900" dirty="0"/>
          </a:p>
        </p:txBody>
      </p:sp>
      <p:sp>
        <p:nvSpPr>
          <p:cNvPr id="22" name="Text 20"/>
          <p:cNvSpPr/>
          <p:nvPr/>
        </p:nvSpPr>
        <p:spPr>
          <a:xfrm>
            <a:off x="320040" y="2670048"/>
            <a:ext cx="3200400" cy="25603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Cause : Légende BLIP insérée directement dans la description</a:t>
            </a:r>
            <a:endParaRPr lang="en-US" sz="850" dirty="0"/>
          </a:p>
        </p:txBody>
      </p:sp>
      <p:sp>
        <p:nvSpPr>
          <p:cNvPr id="23" name="Text 21"/>
          <p:cNvSpPr/>
          <p:nvPr/>
        </p:nvSpPr>
        <p:spPr>
          <a:xfrm>
            <a:off x="3547872" y="2542032"/>
            <a:ext cx="274320" cy="256032"/>
          </a:xfrm>
          <a:prstGeom prst="rect">
            <a:avLst/>
          </a:prstGeom>
          <a:noFill/>
          <a:ln/>
        </p:spPr>
        <p:txBody>
          <a:bodyPr wrap="square" lIns="0" tIns="0" rIns="0" bIns="0" rtlCol="0" anchor="ctr"/>
          <a:lstStyle/>
          <a:p>
            <a:pPr algn="ctr" indent="0" marL="0">
              <a:buNone/>
            </a:pPr>
            <a:r>
              <a:rPr lang="en-US" sz="1600" dirty="0">
                <a:solidFill>
                  <a:srgbClr val="0E8C9B"/>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3794760" y="2487168"/>
            <a:ext cx="54864" cy="384048"/>
          </a:xfrm>
          <a:prstGeom prst="rect">
            <a:avLst/>
          </a:prstGeom>
          <a:solidFill>
            <a:srgbClr val="22C55E"/>
          </a:solidFill>
          <a:ln w="12700">
            <a:solidFill>
              <a:srgbClr val="22C55E"/>
            </a:solidFill>
            <a:prstDash val="solid"/>
          </a:ln>
        </p:spPr>
      </p:sp>
      <p:sp>
        <p:nvSpPr>
          <p:cNvPr id="25" name="Text 23"/>
          <p:cNvSpPr/>
          <p:nvPr/>
        </p:nvSpPr>
        <p:spPr>
          <a:xfrm>
            <a:off x="3931920" y="2487168"/>
            <a:ext cx="4937760" cy="384048"/>
          </a:xfrm>
          <a:prstGeom prst="rect">
            <a:avLst/>
          </a:prstGeom>
          <a:noFill/>
          <a:ln/>
        </p:spPr>
        <p:txBody>
          <a:bodyPr wrap="square" lIns="0" tIns="0" rIns="0" bIns="0" rtlCol="0" anchor="ctr"/>
          <a:lstStyle/>
          <a:p>
            <a:pPr indent="0" marL="0">
              <a:buNone/>
            </a:pPr>
            <a:r>
              <a:rPr lang="en-US" sz="900" dirty="0">
                <a:solidFill>
                  <a:srgbClr val="1A252F"/>
                </a:solidFill>
                <a:latin typeface="Calibri" pitchFamily="34" charset="0"/>
                <a:ea typeface="Calibri" pitchFamily="34" charset="-122"/>
                <a:cs typeface="Calibri" pitchFamily="34" charset="-120"/>
              </a:rPr>
              <a:t>✅ Traduction via dictionnaire _EN_FR + génération de phrases françaises structurées</a:t>
            </a:r>
            <a:endParaRPr lang="en-US" sz="900" dirty="0"/>
          </a:p>
        </p:txBody>
      </p:sp>
      <p:sp>
        <p:nvSpPr>
          <p:cNvPr id="26" name="Shape 24"/>
          <p:cNvSpPr/>
          <p:nvPr/>
        </p:nvSpPr>
        <p:spPr>
          <a:xfrm>
            <a:off x="182880" y="3017520"/>
            <a:ext cx="8778240" cy="594360"/>
          </a:xfrm>
          <a:prstGeom prst="rect">
            <a:avLst/>
          </a:prstGeom>
          <a:solidFill>
            <a:srgbClr val="F0F5FA"/>
          </a:solidFill>
          <a:ln w="3810">
            <a:solidFill>
              <a:srgbClr val="E2E8F0"/>
            </a:solidFill>
            <a:prstDash val="solid"/>
          </a:ln>
        </p:spPr>
      </p:sp>
      <p:sp>
        <p:nvSpPr>
          <p:cNvPr id="27" name="Shape 25"/>
          <p:cNvSpPr/>
          <p:nvPr/>
        </p:nvSpPr>
        <p:spPr>
          <a:xfrm>
            <a:off x="182880" y="3017520"/>
            <a:ext cx="54864" cy="594360"/>
          </a:xfrm>
          <a:prstGeom prst="rect">
            <a:avLst/>
          </a:prstGeom>
          <a:solidFill>
            <a:srgbClr val="EF4444"/>
          </a:solidFill>
          <a:ln w="12700">
            <a:solidFill>
              <a:srgbClr val="EF4444"/>
            </a:solidFill>
            <a:prstDash val="solid"/>
          </a:ln>
        </p:spPr>
      </p:sp>
      <p:sp>
        <p:nvSpPr>
          <p:cNvPr id="28" name="Text 26"/>
          <p:cNvSpPr/>
          <p:nvPr/>
        </p:nvSpPr>
        <p:spPr>
          <a:xfrm>
            <a:off x="320040" y="3054096"/>
            <a:ext cx="3200400" cy="256032"/>
          </a:xfrm>
          <a:prstGeom prst="rect">
            <a:avLst/>
          </a:prstGeom>
          <a:noFill/>
          <a:ln/>
        </p:spPr>
        <p:txBody>
          <a:bodyPr wrap="square" lIns="0" tIns="0" rIns="0" bIns="0" rtlCol="0" anchor="ctr"/>
          <a:lstStyle/>
          <a:p>
            <a:pPr indent="0" marL="0">
              <a:buNone/>
            </a:pPr>
            <a:r>
              <a:rPr lang="en-US" sz="900" b="1" dirty="0">
                <a:solidFill>
                  <a:srgbClr val="1A252F"/>
                </a:solidFill>
                <a:latin typeface="Calibri" pitchFamily="34" charset="0"/>
                <a:ea typeface="Calibri" pitchFamily="34" charset="-122"/>
                <a:cs typeface="Calibri" pitchFamily="34" charset="-120"/>
              </a:rPr>
              <a:t>❌ Watermark "fallback" visible sur l'image de détection</a:t>
            </a:r>
            <a:endParaRPr lang="en-US" sz="900" dirty="0"/>
          </a:p>
        </p:txBody>
      </p:sp>
      <p:sp>
        <p:nvSpPr>
          <p:cNvPr id="29" name="Text 27"/>
          <p:cNvSpPr/>
          <p:nvPr/>
        </p:nvSpPr>
        <p:spPr>
          <a:xfrm>
            <a:off x="320040" y="3310128"/>
            <a:ext cx="3200400" cy="25603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Cause : visualize_detection() appelait detect_product() sans text_prompt</a:t>
            </a:r>
            <a:endParaRPr lang="en-US" sz="850" dirty="0"/>
          </a:p>
        </p:txBody>
      </p:sp>
      <p:sp>
        <p:nvSpPr>
          <p:cNvPr id="30" name="Text 28"/>
          <p:cNvSpPr/>
          <p:nvPr/>
        </p:nvSpPr>
        <p:spPr>
          <a:xfrm>
            <a:off x="3547872" y="3182112"/>
            <a:ext cx="274320" cy="256032"/>
          </a:xfrm>
          <a:prstGeom prst="rect">
            <a:avLst/>
          </a:prstGeom>
          <a:noFill/>
          <a:ln/>
        </p:spPr>
        <p:txBody>
          <a:bodyPr wrap="square" lIns="0" tIns="0" rIns="0" bIns="0" rtlCol="0" anchor="ctr"/>
          <a:lstStyle/>
          <a:p>
            <a:pPr algn="ctr" indent="0" marL="0">
              <a:buNone/>
            </a:pPr>
            <a:r>
              <a:rPr lang="en-US" sz="1600" dirty="0">
                <a:solidFill>
                  <a:srgbClr val="0E8C9B"/>
                </a:solidFill>
                <a:latin typeface="Calibri" pitchFamily="34" charset="0"/>
                <a:ea typeface="Calibri" pitchFamily="34" charset="-122"/>
                <a:cs typeface="Calibri" pitchFamily="34" charset="-120"/>
              </a:rPr>
              <a:t>→</a:t>
            </a:r>
            <a:endParaRPr lang="en-US" sz="1600" dirty="0"/>
          </a:p>
        </p:txBody>
      </p:sp>
      <p:sp>
        <p:nvSpPr>
          <p:cNvPr id="31" name="Shape 29"/>
          <p:cNvSpPr/>
          <p:nvPr/>
        </p:nvSpPr>
        <p:spPr>
          <a:xfrm>
            <a:off x="3794760" y="3127248"/>
            <a:ext cx="54864" cy="384048"/>
          </a:xfrm>
          <a:prstGeom prst="rect">
            <a:avLst/>
          </a:prstGeom>
          <a:solidFill>
            <a:srgbClr val="22C55E"/>
          </a:solidFill>
          <a:ln w="12700">
            <a:solidFill>
              <a:srgbClr val="22C55E"/>
            </a:solidFill>
            <a:prstDash val="solid"/>
          </a:ln>
        </p:spPr>
      </p:sp>
      <p:sp>
        <p:nvSpPr>
          <p:cNvPr id="32" name="Text 30"/>
          <p:cNvSpPr/>
          <p:nvPr/>
        </p:nvSpPr>
        <p:spPr>
          <a:xfrm>
            <a:off x="3931920" y="3127248"/>
            <a:ext cx="4937760" cy="384048"/>
          </a:xfrm>
          <a:prstGeom prst="rect">
            <a:avLst/>
          </a:prstGeom>
          <a:noFill/>
          <a:ln/>
        </p:spPr>
        <p:txBody>
          <a:bodyPr wrap="square" lIns="0" tIns="0" rIns="0" bIns="0" rtlCol="0" anchor="ctr"/>
          <a:lstStyle/>
          <a:p>
            <a:pPr indent="0" marL="0">
              <a:buNone/>
            </a:pPr>
            <a:r>
              <a:rPr lang="en-US" sz="900" dirty="0">
                <a:solidFill>
                  <a:srgbClr val="1A252F"/>
                </a:solidFill>
                <a:latin typeface="Calibri" pitchFamily="34" charset="0"/>
                <a:ea typeface="Calibri" pitchFamily="34" charset="-122"/>
                <a:cs typeface="Calibri" pitchFamily="34" charset="-120"/>
              </a:rPr>
              <a:t>✅ Passage du text_prompt à visualize_detection() + suppression du label fallback</a:t>
            </a:r>
            <a:endParaRPr lang="en-US" sz="900" dirty="0"/>
          </a:p>
        </p:txBody>
      </p:sp>
      <p:sp>
        <p:nvSpPr>
          <p:cNvPr id="33" name="Shape 31"/>
          <p:cNvSpPr/>
          <p:nvPr/>
        </p:nvSpPr>
        <p:spPr>
          <a:xfrm>
            <a:off x="182880" y="3657600"/>
            <a:ext cx="8778240" cy="594360"/>
          </a:xfrm>
          <a:prstGeom prst="rect">
            <a:avLst/>
          </a:prstGeom>
          <a:solidFill>
            <a:srgbClr val="FFFFFF"/>
          </a:solidFill>
          <a:ln w="3810">
            <a:solidFill>
              <a:srgbClr val="E2E8F0"/>
            </a:solidFill>
            <a:prstDash val="solid"/>
          </a:ln>
        </p:spPr>
      </p:sp>
      <p:sp>
        <p:nvSpPr>
          <p:cNvPr id="34" name="Shape 32"/>
          <p:cNvSpPr/>
          <p:nvPr/>
        </p:nvSpPr>
        <p:spPr>
          <a:xfrm>
            <a:off x="182880" y="3657600"/>
            <a:ext cx="54864" cy="594360"/>
          </a:xfrm>
          <a:prstGeom prst="rect">
            <a:avLst/>
          </a:prstGeom>
          <a:solidFill>
            <a:srgbClr val="EF4444"/>
          </a:solidFill>
          <a:ln w="12700">
            <a:solidFill>
              <a:srgbClr val="EF4444"/>
            </a:solidFill>
            <a:prstDash val="solid"/>
          </a:ln>
        </p:spPr>
      </p:sp>
      <p:sp>
        <p:nvSpPr>
          <p:cNvPr id="35" name="Text 33"/>
          <p:cNvSpPr/>
          <p:nvPr/>
        </p:nvSpPr>
        <p:spPr>
          <a:xfrm>
            <a:off x="320040" y="3694176"/>
            <a:ext cx="3200400" cy="256032"/>
          </a:xfrm>
          <a:prstGeom prst="rect">
            <a:avLst/>
          </a:prstGeom>
          <a:noFill/>
          <a:ln/>
        </p:spPr>
        <p:txBody>
          <a:bodyPr wrap="square" lIns="0" tIns="0" rIns="0" bIns="0" rtlCol="0" anchor="ctr"/>
          <a:lstStyle/>
          <a:p>
            <a:pPr indent="0" marL="0">
              <a:buNone/>
            </a:pPr>
            <a:r>
              <a:rPr lang="en-US" sz="900" b="1" dirty="0">
                <a:solidFill>
                  <a:srgbClr val="1A252F"/>
                </a:solidFill>
                <a:latin typeface="Calibri" pitchFamily="34" charset="0"/>
                <a:ea typeface="Calibri" pitchFamily="34" charset="-122"/>
                <a:cs typeface="Calibri" pitchFamily="34" charset="-120"/>
              </a:rPr>
              <a:t>❌ Analyse concurrentielle absente pour les images sans texte</a:t>
            </a:r>
            <a:endParaRPr lang="en-US" sz="900" dirty="0"/>
          </a:p>
        </p:txBody>
      </p:sp>
      <p:sp>
        <p:nvSpPr>
          <p:cNvPr id="36" name="Text 34"/>
          <p:cNvSpPr/>
          <p:nvPr/>
        </p:nvSpPr>
        <p:spPr>
          <a:xfrm>
            <a:off x="320040" y="3950208"/>
            <a:ext cx="3200400" cy="25603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Cause : Section retournait vide si search_query NLP était vide</a:t>
            </a:r>
            <a:endParaRPr lang="en-US" sz="850" dirty="0"/>
          </a:p>
        </p:txBody>
      </p:sp>
      <p:sp>
        <p:nvSpPr>
          <p:cNvPr id="37" name="Text 35"/>
          <p:cNvSpPr/>
          <p:nvPr/>
        </p:nvSpPr>
        <p:spPr>
          <a:xfrm>
            <a:off x="3547872" y="3822192"/>
            <a:ext cx="274320" cy="256032"/>
          </a:xfrm>
          <a:prstGeom prst="rect">
            <a:avLst/>
          </a:prstGeom>
          <a:noFill/>
          <a:ln/>
        </p:spPr>
        <p:txBody>
          <a:bodyPr wrap="square" lIns="0" tIns="0" rIns="0" bIns="0" rtlCol="0" anchor="ctr"/>
          <a:lstStyle/>
          <a:p>
            <a:pPr algn="ctr" indent="0" marL="0">
              <a:buNone/>
            </a:pPr>
            <a:r>
              <a:rPr lang="en-US" sz="1600" dirty="0">
                <a:solidFill>
                  <a:srgbClr val="0E8C9B"/>
                </a:solidFill>
                <a:latin typeface="Calibri" pitchFamily="34" charset="0"/>
                <a:ea typeface="Calibri" pitchFamily="34" charset="-122"/>
                <a:cs typeface="Calibri" pitchFamily="34" charset="-120"/>
              </a:rPr>
              <a:t>→</a:t>
            </a:r>
            <a:endParaRPr lang="en-US" sz="1600" dirty="0"/>
          </a:p>
        </p:txBody>
      </p:sp>
      <p:sp>
        <p:nvSpPr>
          <p:cNvPr id="38" name="Shape 36"/>
          <p:cNvSpPr/>
          <p:nvPr/>
        </p:nvSpPr>
        <p:spPr>
          <a:xfrm>
            <a:off x="3794760" y="3767328"/>
            <a:ext cx="54864" cy="384048"/>
          </a:xfrm>
          <a:prstGeom prst="rect">
            <a:avLst/>
          </a:prstGeom>
          <a:solidFill>
            <a:srgbClr val="22C55E"/>
          </a:solidFill>
          <a:ln w="12700">
            <a:solidFill>
              <a:srgbClr val="22C55E"/>
            </a:solidFill>
            <a:prstDash val="solid"/>
          </a:ln>
        </p:spPr>
      </p:sp>
      <p:sp>
        <p:nvSpPr>
          <p:cNvPr id="39" name="Text 37"/>
          <p:cNvSpPr/>
          <p:nvPr/>
        </p:nvSpPr>
        <p:spPr>
          <a:xfrm>
            <a:off x="3931920" y="3767328"/>
            <a:ext cx="4937760" cy="384048"/>
          </a:xfrm>
          <a:prstGeom prst="rect">
            <a:avLst/>
          </a:prstGeom>
          <a:noFill/>
          <a:ln/>
        </p:spPr>
        <p:txBody>
          <a:bodyPr wrap="square" lIns="0" tIns="0" rIns="0" bIns="0" rtlCol="0" anchor="ctr"/>
          <a:lstStyle/>
          <a:p>
            <a:pPr indent="0" marL="0">
              <a:buNone/>
            </a:pPr>
            <a:r>
              <a:rPr lang="en-US" sz="900" dirty="0">
                <a:solidFill>
                  <a:srgbClr val="1A252F"/>
                </a:solidFill>
                <a:latin typeface="Calibri" pitchFamily="34" charset="0"/>
                <a:ea typeface="Calibri" pitchFamily="34" charset="-122"/>
                <a:cs typeface="Calibri" pitchFamily="34" charset="-120"/>
              </a:rPr>
              <a:t>✅ Fallback 3 niveaux : NLP → session_state[_text_prompt] → champ manuel</a:t>
            </a:r>
            <a:endParaRPr lang="en-US" sz="900" dirty="0"/>
          </a:p>
        </p:txBody>
      </p:sp>
      <p:sp>
        <p:nvSpPr>
          <p:cNvPr id="40" name="Shape 38"/>
          <p:cNvSpPr/>
          <p:nvPr/>
        </p:nvSpPr>
        <p:spPr>
          <a:xfrm>
            <a:off x="182880" y="4297680"/>
            <a:ext cx="8778240" cy="594360"/>
          </a:xfrm>
          <a:prstGeom prst="rect">
            <a:avLst/>
          </a:prstGeom>
          <a:solidFill>
            <a:srgbClr val="F0F5FA"/>
          </a:solidFill>
          <a:ln w="3810">
            <a:solidFill>
              <a:srgbClr val="E2E8F0"/>
            </a:solidFill>
            <a:prstDash val="solid"/>
          </a:ln>
        </p:spPr>
      </p:sp>
      <p:sp>
        <p:nvSpPr>
          <p:cNvPr id="41" name="Shape 39"/>
          <p:cNvSpPr/>
          <p:nvPr/>
        </p:nvSpPr>
        <p:spPr>
          <a:xfrm>
            <a:off x="182880" y="4297680"/>
            <a:ext cx="54864" cy="594360"/>
          </a:xfrm>
          <a:prstGeom prst="rect">
            <a:avLst/>
          </a:prstGeom>
          <a:solidFill>
            <a:srgbClr val="EF4444"/>
          </a:solidFill>
          <a:ln w="12700">
            <a:solidFill>
              <a:srgbClr val="EF4444"/>
            </a:solidFill>
            <a:prstDash val="solid"/>
          </a:ln>
        </p:spPr>
      </p:sp>
      <p:sp>
        <p:nvSpPr>
          <p:cNvPr id="42" name="Text 40"/>
          <p:cNvSpPr/>
          <p:nvPr/>
        </p:nvSpPr>
        <p:spPr>
          <a:xfrm>
            <a:off x="320040" y="4334256"/>
            <a:ext cx="3200400" cy="256032"/>
          </a:xfrm>
          <a:prstGeom prst="rect">
            <a:avLst/>
          </a:prstGeom>
          <a:noFill/>
          <a:ln/>
        </p:spPr>
        <p:txBody>
          <a:bodyPr wrap="square" lIns="0" tIns="0" rIns="0" bIns="0" rtlCol="0" anchor="ctr"/>
          <a:lstStyle/>
          <a:p>
            <a:pPr indent="0" marL="0">
              <a:buNone/>
            </a:pPr>
            <a:r>
              <a:rPr lang="en-US" sz="900" b="1" dirty="0">
                <a:solidFill>
                  <a:srgbClr val="1A252F"/>
                </a:solidFill>
                <a:latin typeface="Calibri" pitchFamily="34" charset="0"/>
                <a:ea typeface="Calibri" pitchFamily="34" charset="-122"/>
                <a:cs typeface="Calibri" pitchFamily="34" charset="-120"/>
              </a:rPr>
              <a:t>❌ Scraper Jumia retournait 0 résultats</a:t>
            </a:r>
            <a:endParaRPr lang="en-US" sz="900" dirty="0"/>
          </a:p>
        </p:txBody>
      </p:sp>
      <p:sp>
        <p:nvSpPr>
          <p:cNvPr id="43" name="Text 41"/>
          <p:cNvSpPr/>
          <p:nvPr/>
        </p:nvSpPr>
        <p:spPr>
          <a:xfrm>
            <a:off x="320040" y="4590288"/>
            <a:ext cx="3200400" cy="25603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Cause : Sélecteur CSS obsolète article[data-sku] + User-Agent détecté</a:t>
            </a:r>
            <a:endParaRPr lang="en-US" sz="850" dirty="0"/>
          </a:p>
        </p:txBody>
      </p:sp>
      <p:sp>
        <p:nvSpPr>
          <p:cNvPr id="44" name="Text 42"/>
          <p:cNvSpPr/>
          <p:nvPr/>
        </p:nvSpPr>
        <p:spPr>
          <a:xfrm>
            <a:off x="3547872" y="4462272"/>
            <a:ext cx="274320" cy="256032"/>
          </a:xfrm>
          <a:prstGeom prst="rect">
            <a:avLst/>
          </a:prstGeom>
          <a:noFill/>
          <a:ln/>
        </p:spPr>
        <p:txBody>
          <a:bodyPr wrap="square" lIns="0" tIns="0" rIns="0" bIns="0" rtlCol="0" anchor="ctr"/>
          <a:lstStyle/>
          <a:p>
            <a:pPr algn="ctr" indent="0" marL="0">
              <a:buNone/>
            </a:pPr>
            <a:r>
              <a:rPr lang="en-US" sz="1600" dirty="0">
                <a:solidFill>
                  <a:srgbClr val="0E8C9B"/>
                </a:solidFill>
                <a:latin typeface="Calibri" pitchFamily="34" charset="0"/>
                <a:ea typeface="Calibri" pitchFamily="34" charset="-122"/>
                <a:cs typeface="Calibri" pitchFamily="34" charset="-120"/>
              </a:rPr>
              <a:t>→</a:t>
            </a:r>
            <a:endParaRPr lang="en-US" sz="1600" dirty="0"/>
          </a:p>
        </p:txBody>
      </p:sp>
      <p:sp>
        <p:nvSpPr>
          <p:cNvPr id="45" name="Shape 43"/>
          <p:cNvSpPr/>
          <p:nvPr/>
        </p:nvSpPr>
        <p:spPr>
          <a:xfrm>
            <a:off x="3794760" y="4407408"/>
            <a:ext cx="54864" cy="384048"/>
          </a:xfrm>
          <a:prstGeom prst="rect">
            <a:avLst/>
          </a:prstGeom>
          <a:solidFill>
            <a:srgbClr val="22C55E"/>
          </a:solidFill>
          <a:ln w="12700">
            <a:solidFill>
              <a:srgbClr val="22C55E"/>
            </a:solidFill>
            <a:prstDash val="solid"/>
          </a:ln>
        </p:spPr>
      </p:sp>
      <p:sp>
        <p:nvSpPr>
          <p:cNvPr id="46" name="Text 44"/>
          <p:cNvSpPr/>
          <p:nvPr/>
        </p:nvSpPr>
        <p:spPr>
          <a:xfrm>
            <a:off x="3931920" y="4407408"/>
            <a:ext cx="4937760" cy="384048"/>
          </a:xfrm>
          <a:prstGeom prst="rect">
            <a:avLst/>
          </a:prstGeom>
          <a:noFill/>
          <a:ln/>
        </p:spPr>
        <p:txBody>
          <a:bodyPr wrap="square" lIns="0" tIns="0" rIns="0" bIns="0" rtlCol="0" anchor="ctr"/>
          <a:lstStyle/>
          <a:p>
            <a:pPr indent="0" marL="0">
              <a:buNone/>
            </a:pPr>
            <a:r>
              <a:rPr lang="en-US" sz="900" dirty="0">
                <a:solidFill>
                  <a:srgbClr val="1A252F"/>
                </a:solidFill>
                <a:latin typeface="Calibri" pitchFamily="34" charset="0"/>
                <a:ea typeface="Calibri" pitchFamily="34" charset="-122"/>
                <a:cs typeface="Calibri" pitchFamily="34" charset="-120"/>
              </a:rPr>
              <a:t>✅ Sélecteur article.prd, balise img[data-src] lazy, User-Agent Chrome réel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2137"/>
          </a:solidFill>
          <a:ln w="12700">
            <a:solidFill>
              <a:srgbClr val="0D2137"/>
            </a:solidFill>
            <a:prstDash val="solid"/>
          </a:ln>
        </p:spPr>
      </p:sp>
      <p:sp>
        <p:nvSpPr>
          <p:cNvPr id="3" name="Shape 1"/>
          <p:cNvSpPr/>
          <p:nvPr/>
        </p:nvSpPr>
        <p:spPr>
          <a:xfrm>
            <a:off x="0" y="960120"/>
            <a:ext cx="9144000" cy="54864"/>
          </a:xfrm>
          <a:prstGeom prst="rect">
            <a:avLst/>
          </a:prstGeom>
          <a:solidFill>
            <a:srgbClr val="00B98A"/>
          </a:solidFill>
          <a:ln w="12700">
            <a:solidFill>
              <a:srgbClr val="00B98A"/>
            </a:solidFill>
            <a:prstDash val="solid"/>
          </a:ln>
        </p:spPr>
      </p:sp>
      <p:sp>
        <p:nvSpPr>
          <p:cNvPr id="4" name="Text 2"/>
          <p:cNvSpPr/>
          <p:nvPr/>
        </p:nvSpPr>
        <p:spPr>
          <a:xfrm>
            <a:off x="365760" y="0"/>
            <a:ext cx="8229600" cy="9601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État d'Avancement Global</a:t>
            </a:r>
            <a:endParaRPr lang="en-US" sz="2600" dirty="0"/>
          </a:p>
        </p:txBody>
      </p:sp>
      <p:sp>
        <p:nvSpPr>
          <p:cNvPr id="5" name="Text 3"/>
          <p:cNvSpPr/>
          <p:nvPr/>
        </p:nvSpPr>
        <p:spPr>
          <a:xfrm>
            <a:off x="365760" y="1115568"/>
            <a:ext cx="4572000" cy="274320"/>
          </a:xfrm>
          <a:prstGeom prst="rect">
            <a:avLst/>
          </a:prstGeom>
          <a:noFill/>
          <a:ln/>
        </p:spPr>
        <p:txBody>
          <a:bodyPr wrap="square" lIns="0" tIns="0" rIns="0" bIns="0" rtlCol="0" anchor="ctr"/>
          <a:lstStyle/>
          <a:p>
            <a:pPr indent="0" marL="0">
              <a:buNone/>
            </a:pPr>
            <a:r>
              <a:rPr lang="en-US" sz="1200" b="1" dirty="0">
                <a:solidFill>
                  <a:srgbClr val="1A252F"/>
                </a:solidFill>
                <a:latin typeface="Calibri" pitchFamily="34" charset="0"/>
                <a:ea typeface="Calibri" pitchFamily="34" charset="-122"/>
                <a:cs typeface="Calibri" pitchFamily="34" charset="-120"/>
              </a:rPr>
              <a:t>Avancement global du projet</a:t>
            </a:r>
            <a:endParaRPr lang="en-US" sz="1200" dirty="0"/>
          </a:p>
        </p:txBody>
      </p:sp>
      <p:sp>
        <p:nvSpPr>
          <p:cNvPr id="6" name="Text 4"/>
          <p:cNvSpPr/>
          <p:nvPr/>
        </p:nvSpPr>
        <p:spPr>
          <a:xfrm>
            <a:off x="8229600" y="1115568"/>
            <a:ext cx="731520" cy="274320"/>
          </a:xfrm>
          <a:prstGeom prst="rect">
            <a:avLst/>
          </a:prstGeom>
          <a:noFill/>
          <a:ln/>
        </p:spPr>
        <p:txBody>
          <a:bodyPr wrap="square" lIns="0" tIns="0" rIns="0" bIns="0" rtlCol="0" anchor="ctr"/>
          <a:lstStyle/>
          <a:p>
            <a:pPr algn="r" indent="0" marL="0">
              <a:buNone/>
            </a:pPr>
            <a:r>
              <a:rPr lang="en-US" sz="1300" b="1" dirty="0">
                <a:solidFill>
                  <a:srgbClr val="22C55E"/>
                </a:solidFill>
                <a:latin typeface="Calibri" pitchFamily="34" charset="0"/>
                <a:ea typeface="Calibri" pitchFamily="34" charset="-122"/>
                <a:cs typeface="Calibri" pitchFamily="34" charset="-120"/>
              </a:rPr>
              <a:t>100%</a:t>
            </a:r>
            <a:endParaRPr lang="en-US" sz="1300" dirty="0"/>
          </a:p>
        </p:txBody>
      </p:sp>
      <p:sp>
        <p:nvSpPr>
          <p:cNvPr id="7" name="Shape 5"/>
          <p:cNvSpPr/>
          <p:nvPr/>
        </p:nvSpPr>
        <p:spPr>
          <a:xfrm>
            <a:off x="365760" y="1417320"/>
            <a:ext cx="8412480" cy="256032"/>
          </a:xfrm>
          <a:prstGeom prst="rect">
            <a:avLst/>
          </a:prstGeom>
          <a:solidFill>
            <a:srgbClr val="E2E8F0"/>
          </a:solidFill>
          <a:ln w="12700">
            <a:solidFill>
              <a:srgbClr val="E2E8F0"/>
            </a:solidFill>
            <a:prstDash val="solid"/>
          </a:ln>
        </p:spPr>
      </p:sp>
      <p:sp>
        <p:nvSpPr>
          <p:cNvPr id="8" name="Shape 6"/>
          <p:cNvSpPr/>
          <p:nvPr/>
        </p:nvSpPr>
        <p:spPr>
          <a:xfrm>
            <a:off x="365760" y="1417320"/>
            <a:ext cx="8412480" cy="256032"/>
          </a:xfrm>
          <a:prstGeom prst="rect">
            <a:avLst/>
          </a:prstGeom>
          <a:solidFill>
            <a:srgbClr val="22C55E"/>
          </a:solidFill>
          <a:ln w="12700">
            <a:solidFill>
              <a:srgbClr val="22C55E"/>
            </a:solidFill>
            <a:prstDash val="solid"/>
          </a:ln>
        </p:spPr>
      </p:sp>
      <p:sp>
        <p:nvSpPr>
          <p:cNvPr id="9" name="Text 7"/>
          <p:cNvSpPr/>
          <p:nvPr/>
        </p:nvSpPr>
        <p:spPr>
          <a:xfrm>
            <a:off x="365760" y="1709928"/>
            <a:ext cx="8229600" cy="256032"/>
          </a:xfrm>
          <a:prstGeom prst="rect">
            <a:avLst/>
          </a:prstGeom>
          <a:noFill/>
          <a:ln/>
        </p:spPr>
        <p:txBody>
          <a:bodyPr wrap="square" lIns="0" tIns="0" rIns="0" bIns="0" rtlCol="0" anchor="ctr"/>
          <a:lstStyle/>
          <a:p>
            <a:pPr indent="0" marL="0">
              <a:buNone/>
            </a:pPr>
            <a:r>
              <a:rPr lang="en-US" sz="1000" i="1" dirty="0">
                <a:solidFill>
                  <a:srgbClr val="22C55E"/>
                </a:solidFill>
                <a:latin typeface="Calibri" pitchFamily="34" charset="0"/>
                <a:ea typeface="Calibri" pitchFamily="34" charset="-122"/>
                <a:cs typeface="Calibri" pitchFamily="34" charset="-120"/>
              </a:rPr>
              <a:t>✅ Toutes les fonctionnalités développées et testées</a:t>
            </a:r>
            <a:endParaRPr lang="en-US" sz="1000" dirty="0"/>
          </a:p>
        </p:txBody>
      </p:sp>
      <p:sp>
        <p:nvSpPr>
          <p:cNvPr id="10" name="Shape 8"/>
          <p:cNvSpPr/>
          <p:nvPr/>
        </p:nvSpPr>
        <p:spPr>
          <a:xfrm>
            <a:off x="182880" y="2103120"/>
            <a:ext cx="2084832" cy="260604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0000"/>
              </a:srgbClr>
            </a:outerShdw>
          </a:effectLst>
        </p:spPr>
      </p:sp>
      <p:sp>
        <p:nvSpPr>
          <p:cNvPr id="11" name="Shape 9"/>
          <p:cNvSpPr/>
          <p:nvPr/>
        </p:nvSpPr>
        <p:spPr>
          <a:xfrm>
            <a:off x="182880" y="2103120"/>
            <a:ext cx="2084832" cy="384048"/>
          </a:xfrm>
          <a:prstGeom prst="rect">
            <a:avLst/>
          </a:prstGeom>
          <a:solidFill>
            <a:srgbClr val="0D2137"/>
          </a:solidFill>
          <a:ln w="12700">
            <a:solidFill>
              <a:srgbClr val="0D2137"/>
            </a:solidFill>
            <a:prstDash val="solid"/>
          </a:ln>
        </p:spPr>
      </p:sp>
      <p:sp>
        <p:nvSpPr>
          <p:cNvPr id="12" name="Text 10"/>
          <p:cNvSpPr/>
          <p:nvPr/>
        </p:nvSpPr>
        <p:spPr>
          <a:xfrm>
            <a:off x="256032" y="2121408"/>
            <a:ext cx="1993392" cy="34747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Infrastructure &amp; Interface</a:t>
            </a:r>
            <a:endParaRPr lang="en-US" sz="950" dirty="0"/>
          </a:p>
        </p:txBody>
      </p:sp>
      <p:sp>
        <p:nvSpPr>
          <p:cNvPr id="13" name="Text 11"/>
          <p:cNvSpPr/>
          <p:nvPr/>
        </p:nvSpPr>
        <p:spPr>
          <a:xfrm>
            <a:off x="274320" y="2560320"/>
            <a:ext cx="274320" cy="365760"/>
          </a:xfrm>
          <a:prstGeom prst="rect">
            <a:avLst/>
          </a:prstGeom>
          <a:noFill/>
          <a:ln/>
        </p:spPr>
        <p:txBody>
          <a:bodyPr wrap="square" lIns="0" tIns="0" rIns="0" bIns="0" rtlCol="0" anchor="ctr"/>
          <a:lstStyle/>
          <a:p>
            <a:pPr indent="0" marL="0">
              <a:buNone/>
            </a:pPr>
            <a:r>
              <a:rPr lang="en-US" sz="1100" dirty="0">
                <a:solidFill>
                  <a:srgbClr val="22C55E"/>
                </a:solidFill>
                <a:latin typeface="Calibri" pitchFamily="34" charset="0"/>
                <a:ea typeface="Calibri" pitchFamily="34" charset="-122"/>
                <a:cs typeface="Calibri" pitchFamily="34" charset="-120"/>
              </a:rPr>
              <a:t>✅</a:t>
            </a:r>
            <a:endParaRPr lang="en-US" sz="1100" dirty="0"/>
          </a:p>
        </p:txBody>
      </p:sp>
      <p:sp>
        <p:nvSpPr>
          <p:cNvPr id="14" name="Text 12"/>
          <p:cNvSpPr/>
          <p:nvPr/>
        </p:nvSpPr>
        <p:spPr>
          <a:xfrm>
            <a:off x="566928" y="2606040"/>
            <a:ext cx="1609344" cy="347472"/>
          </a:xfrm>
          <a:prstGeom prst="rect">
            <a:avLst/>
          </a:prstGeom>
          <a:noFill/>
          <a:ln/>
        </p:spPr>
        <p:txBody>
          <a:bodyPr wrap="square" lIns="0" tIns="0" rIns="0" bIns="0" rtlCol="0" anchor="t"/>
          <a:lstStyle/>
          <a:p>
            <a:pPr indent="0" marL="0">
              <a:buNone/>
            </a:pPr>
            <a:r>
              <a:rPr lang="en-US" sz="850" dirty="0">
                <a:solidFill>
                  <a:srgbClr val="1A252F"/>
                </a:solidFill>
                <a:latin typeface="Calibri" pitchFamily="34" charset="0"/>
                <a:ea typeface="Calibri" pitchFamily="34" charset="-122"/>
                <a:cs typeface="Calibri" pitchFamily="34" charset="-120"/>
              </a:rPr>
              <a:t>Interface Streamlit (upload, analyse, fiche, comparatif)</a:t>
            </a:r>
            <a:endParaRPr lang="en-US" sz="850" dirty="0"/>
          </a:p>
        </p:txBody>
      </p:sp>
      <p:sp>
        <p:nvSpPr>
          <p:cNvPr id="15" name="Text 13"/>
          <p:cNvSpPr/>
          <p:nvPr/>
        </p:nvSpPr>
        <p:spPr>
          <a:xfrm>
            <a:off x="274320" y="3063240"/>
            <a:ext cx="274320" cy="365760"/>
          </a:xfrm>
          <a:prstGeom prst="rect">
            <a:avLst/>
          </a:prstGeom>
          <a:noFill/>
          <a:ln/>
        </p:spPr>
        <p:txBody>
          <a:bodyPr wrap="square" lIns="0" tIns="0" rIns="0" bIns="0" rtlCol="0" anchor="ctr"/>
          <a:lstStyle/>
          <a:p>
            <a:pPr indent="0" marL="0">
              <a:buNone/>
            </a:pPr>
            <a:r>
              <a:rPr lang="en-US" sz="1100" dirty="0">
                <a:solidFill>
                  <a:srgbClr val="22C55E"/>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566928" y="3108960"/>
            <a:ext cx="1609344" cy="347472"/>
          </a:xfrm>
          <a:prstGeom prst="rect">
            <a:avLst/>
          </a:prstGeom>
          <a:noFill/>
          <a:ln/>
        </p:spPr>
        <p:txBody>
          <a:bodyPr wrap="square" lIns="0" tIns="0" rIns="0" bIns="0" rtlCol="0" anchor="t"/>
          <a:lstStyle/>
          <a:p>
            <a:pPr indent="0" marL="0">
              <a:buNone/>
            </a:pPr>
            <a:r>
              <a:rPr lang="en-US" sz="850" dirty="0">
                <a:solidFill>
                  <a:srgbClr val="1A252F"/>
                </a:solidFill>
                <a:latin typeface="Calibri" pitchFamily="34" charset="0"/>
                <a:ea typeface="Calibri" pitchFamily="34" charset="-122"/>
                <a:cs typeface="Calibri" pitchFamily="34" charset="-120"/>
              </a:rPr>
              <a:t>Gestion état session (session_state)</a:t>
            </a:r>
            <a:endParaRPr lang="en-US" sz="850" dirty="0"/>
          </a:p>
        </p:txBody>
      </p:sp>
      <p:sp>
        <p:nvSpPr>
          <p:cNvPr id="17" name="Text 15"/>
          <p:cNvSpPr/>
          <p:nvPr/>
        </p:nvSpPr>
        <p:spPr>
          <a:xfrm>
            <a:off x="274320" y="3566160"/>
            <a:ext cx="274320" cy="365760"/>
          </a:xfrm>
          <a:prstGeom prst="rect">
            <a:avLst/>
          </a:prstGeom>
          <a:noFill/>
          <a:ln/>
        </p:spPr>
        <p:txBody>
          <a:bodyPr wrap="square" lIns="0" tIns="0" rIns="0" bIns="0" rtlCol="0" anchor="ctr"/>
          <a:lstStyle/>
          <a:p>
            <a:pPr indent="0" marL="0">
              <a:buNone/>
            </a:pPr>
            <a:r>
              <a:rPr lang="en-US" sz="1100" dirty="0">
                <a:solidFill>
                  <a:srgbClr val="22C55E"/>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566928" y="3611880"/>
            <a:ext cx="1609344" cy="347472"/>
          </a:xfrm>
          <a:prstGeom prst="rect">
            <a:avLst/>
          </a:prstGeom>
          <a:noFill/>
          <a:ln/>
        </p:spPr>
        <p:txBody>
          <a:bodyPr wrap="square" lIns="0" tIns="0" rIns="0" bIns="0" rtlCol="0" anchor="t"/>
          <a:lstStyle/>
          <a:p>
            <a:pPr indent="0" marL="0">
              <a:buNone/>
            </a:pPr>
            <a:r>
              <a:rPr lang="en-US" sz="850" dirty="0">
                <a:solidFill>
                  <a:srgbClr val="1A252F"/>
                </a:solidFill>
                <a:latin typeface="Calibri" pitchFamily="34" charset="0"/>
                <a:ea typeface="Calibri" pitchFamily="34" charset="-122"/>
                <a:cs typeface="Calibri" pitchFamily="34" charset="-120"/>
              </a:rPr>
              <a:t>Pipeline complet bout-en-bout</a:t>
            </a:r>
            <a:endParaRPr lang="en-US" sz="850" dirty="0"/>
          </a:p>
        </p:txBody>
      </p:sp>
      <p:sp>
        <p:nvSpPr>
          <p:cNvPr id="19" name="Text 17"/>
          <p:cNvSpPr/>
          <p:nvPr/>
        </p:nvSpPr>
        <p:spPr>
          <a:xfrm>
            <a:off x="274320" y="4069080"/>
            <a:ext cx="274320" cy="365760"/>
          </a:xfrm>
          <a:prstGeom prst="rect">
            <a:avLst/>
          </a:prstGeom>
          <a:noFill/>
          <a:ln/>
        </p:spPr>
        <p:txBody>
          <a:bodyPr wrap="square" lIns="0" tIns="0" rIns="0" bIns="0" rtlCol="0" anchor="ctr"/>
          <a:lstStyle/>
          <a:p>
            <a:pPr indent="0" marL="0">
              <a:buNone/>
            </a:pPr>
            <a:r>
              <a:rPr lang="en-US" sz="1100" dirty="0">
                <a:solidFill>
                  <a:srgbClr val="22C55E"/>
                </a:solidFill>
                <a:latin typeface="Calibri" pitchFamily="34" charset="0"/>
                <a:ea typeface="Calibri" pitchFamily="34" charset="-122"/>
                <a:cs typeface="Calibri" pitchFamily="34" charset="-120"/>
              </a:rPr>
              <a:t>✅</a:t>
            </a:r>
            <a:endParaRPr lang="en-US" sz="1100" dirty="0"/>
          </a:p>
        </p:txBody>
      </p:sp>
      <p:sp>
        <p:nvSpPr>
          <p:cNvPr id="20" name="Text 18"/>
          <p:cNvSpPr/>
          <p:nvPr/>
        </p:nvSpPr>
        <p:spPr>
          <a:xfrm>
            <a:off x="566928" y="4114800"/>
            <a:ext cx="1609344" cy="347472"/>
          </a:xfrm>
          <a:prstGeom prst="rect">
            <a:avLst/>
          </a:prstGeom>
          <a:noFill/>
          <a:ln/>
        </p:spPr>
        <p:txBody>
          <a:bodyPr wrap="square" lIns="0" tIns="0" rIns="0" bIns="0" rtlCol="0" anchor="t"/>
          <a:lstStyle/>
          <a:p>
            <a:pPr indent="0" marL="0">
              <a:buNone/>
            </a:pPr>
            <a:r>
              <a:rPr lang="en-US" sz="850" dirty="0">
                <a:solidFill>
                  <a:srgbClr val="1A252F"/>
                </a:solidFill>
                <a:latin typeface="Calibri" pitchFamily="34" charset="0"/>
                <a:ea typeface="Calibri" pitchFamily="34" charset="-122"/>
                <a:cs typeface="Calibri" pitchFamily="34" charset="-120"/>
              </a:rPr>
              <a:t>Déploiement local testé</a:t>
            </a:r>
            <a:endParaRPr lang="en-US" sz="850" dirty="0"/>
          </a:p>
        </p:txBody>
      </p:sp>
      <p:sp>
        <p:nvSpPr>
          <p:cNvPr id="21" name="Shape 19"/>
          <p:cNvSpPr/>
          <p:nvPr/>
        </p:nvSpPr>
        <p:spPr>
          <a:xfrm>
            <a:off x="2395728" y="2103120"/>
            <a:ext cx="2084832" cy="260604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0000"/>
              </a:srgbClr>
            </a:outerShdw>
          </a:effectLst>
        </p:spPr>
      </p:sp>
      <p:sp>
        <p:nvSpPr>
          <p:cNvPr id="22" name="Shape 20"/>
          <p:cNvSpPr/>
          <p:nvPr/>
        </p:nvSpPr>
        <p:spPr>
          <a:xfrm>
            <a:off x="2395728" y="2103120"/>
            <a:ext cx="2084832" cy="384048"/>
          </a:xfrm>
          <a:prstGeom prst="rect">
            <a:avLst/>
          </a:prstGeom>
          <a:solidFill>
            <a:srgbClr val="1060A0"/>
          </a:solidFill>
          <a:ln w="12700">
            <a:solidFill>
              <a:srgbClr val="1060A0"/>
            </a:solidFill>
            <a:prstDash val="solid"/>
          </a:ln>
        </p:spPr>
      </p:sp>
      <p:sp>
        <p:nvSpPr>
          <p:cNvPr id="23" name="Text 21"/>
          <p:cNvSpPr/>
          <p:nvPr/>
        </p:nvSpPr>
        <p:spPr>
          <a:xfrm>
            <a:off x="2468880" y="2121408"/>
            <a:ext cx="1993392" cy="34747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Analyse Qualité</a:t>
            </a:r>
            <a:endParaRPr lang="en-US" sz="950" dirty="0"/>
          </a:p>
        </p:txBody>
      </p:sp>
      <p:sp>
        <p:nvSpPr>
          <p:cNvPr id="24" name="Text 22"/>
          <p:cNvSpPr/>
          <p:nvPr/>
        </p:nvSpPr>
        <p:spPr>
          <a:xfrm>
            <a:off x="2487168" y="2560320"/>
            <a:ext cx="274320" cy="365760"/>
          </a:xfrm>
          <a:prstGeom prst="rect">
            <a:avLst/>
          </a:prstGeom>
          <a:noFill/>
          <a:ln/>
        </p:spPr>
        <p:txBody>
          <a:bodyPr wrap="square" lIns="0" tIns="0" rIns="0" bIns="0" rtlCol="0" anchor="ctr"/>
          <a:lstStyle/>
          <a:p>
            <a:pPr indent="0" marL="0">
              <a:buNone/>
            </a:pPr>
            <a:r>
              <a:rPr lang="en-US" sz="1100" dirty="0">
                <a:solidFill>
                  <a:srgbClr val="22C55E"/>
                </a:solidFill>
                <a:latin typeface="Calibri" pitchFamily="34" charset="0"/>
                <a:ea typeface="Calibri" pitchFamily="34" charset="-122"/>
                <a:cs typeface="Calibri" pitchFamily="34" charset="-120"/>
              </a:rPr>
              <a:t>✅</a:t>
            </a:r>
            <a:endParaRPr lang="en-US" sz="1100" dirty="0"/>
          </a:p>
        </p:txBody>
      </p:sp>
      <p:sp>
        <p:nvSpPr>
          <p:cNvPr id="25" name="Text 23"/>
          <p:cNvSpPr/>
          <p:nvPr/>
        </p:nvSpPr>
        <p:spPr>
          <a:xfrm>
            <a:off x="2779776" y="2606040"/>
            <a:ext cx="1609344" cy="347472"/>
          </a:xfrm>
          <a:prstGeom prst="rect">
            <a:avLst/>
          </a:prstGeom>
          <a:noFill/>
          <a:ln/>
        </p:spPr>
        <p:txBody>
          <a:bodyPr wrap="square" lIns="0" tIns="0" rIns="0" bIns="0" rtlCol="0" anchor="t"/>
          <a:lstStyle/>
          <a:p>
            <a:pPr indent="0" marL="0">
              <a:buNone/>
            </a:pPr>
            <a:r>
              <a:rPr lang="en-US" sz="850" dirty="0">
                <a:solidFill>
                  <a:srgbClr val="1A252F"/>
                </a:solidFill>
                <a:latin typeface="Calibri" pitchFamily="34" charset="0"/>
                <a:ea typeface="Calibri" pitchFamily="34" charset="-122"/>
                <a:cs typeface="Calibri" pitchFamily="34" charset="-120"/>
              </a:rPr>
              <a:t>6 critères techniques implémentés</a:t>
            </a:r>
            <a:endParaRPr lang="en-US" sz="850" dirty="0"/>
          </a:p>
        </p:txBody>
      </p:sp>
      <p:sp>
        <p:nvSpPr>
          <p:cNvPr id="26" name="Text 24"/>
          <p:cNvSpPr/>
          <p:nvPr/>
        </p:nvSpPr>
        <p:spPr>
          <a:xfrm>
            <a:off x="2487168" y="3063240"/>
            <a:ext cx="274320" cy="365760"/>
          </a:xfrm>
          <a:prstGeom prst="rect">
            <a:avLst/>
          </a:prstGeom>
          <a:noFill/>
          <a:ln/>
        </p:spPr>
        <p:txBody>
          <a:bodyPr wrap="square" lIns="0" tIns="0" rIns="0" bIns="0" rtlCol="0" anchor="ctr"/>
          <a:lstStyle/>
          <a:p>
            <a:pPr indent="0" marL="0">
              <a:buNone/>
            </a:pPr>
            <a:r>
              <a:rPr lang="en-US" sz="1100" dirty="0">
                <a:solidFill>
                  <a:srgbClr val="22C55E"/>
                </a:solidFill>
                <a:latin typeface="Calibri" pitchFamily="34" charset="0"/>
                <a:ea typeface="Calibri" pitchFamily="34" charset="-122"/>
                <a:cs typeface="Calibri" pitchFamily="34" charset="-120"/>
              </a:rPr>
              <a:t>✅</a:t>
            </a:r>
            <a:endParaRPr lang="en-US" sz="1100" dirty="0"/>
          </a:p>
        </p:txBody>
      </p:sp>
      <p:sp>
        <p:nvSpPr>
          <p:cNvPr id="27" name="Text 25"/>
          <p:cNvSpPr/>
          <p:nvPr/>
        </p:nvSpPr>
        <p:spPr>
          <a:xfrm>
            <a:off x="2779776" y="3108960"/>
            <a:ext cx="1609344" cy="347472"/>
          </a:xfrm>
          <a:prstGeom prst="rect">
            <a:avLst/>
          </a:prstGeom>
          <a:noFill/>
          <a:ln/>
        </p:spPr>
        <p:txBody>
          <a:bodyPr wrap="square" lIns="0" tIns="0" rIns="0" bIns="0" rtlCol="0" anchor="t"/>
          <a:lstStyle/>
          <a:p>
            <a:pPr indent="0" marL="0">
              <a:buNone/>
            </a:pPr>
            <a:r>
              <a:rPr lang="en-US" sz="850" dirty="0">
                <a:solidFill>
                  <a:srgbClr val="1A252F"/>
                </a:solidFill>
                <a:latin typeface="Calibri" pitchFamily="34" charset="0"/>
                <a:ea typeface="Calibri" pitchFamily="34" charset="-122"/>
                <a:cs typeface="Calibri" pitchFamily="34" charset="-120"/>
              </a:rPr>
              <a:t>Calibration sur 300 images Jumia</a:t>
            </a:r>
            <a:endParaRPr lang="en-US" sz="850" dirty="0"/>
          </a:p>
        </p:txBody>
      </p:sp>
      <p:sp>
        <p:nvSpPr>
          <p:cNvPr id="28" name="Text 26"/>
          <p:cNvSpPr/>
          <p:nvPr/>
        </p:nvSpPr>
        <p:spPr>
          <a:xfrm>
            <a:off x="2487168" y="3566160"/>
            <a:ext cx="274320" cy="365760"/>
          </a:xfrm>
          <a:prstGeom prst="rect">
            <a:avLst/>
          </a:prstGeom>
          <a:noFill/>
          <a:ln/>
        </p:spPr>
        <p:txBody>
          <a:bodyPr wrap="square" lIns="0" tIns="0" rIns="0" bIns="0" rtlCol="0" anchor="ctr"/>
          <a:lstStyle/>
          <a:p>
            <a:pPr indent="0" marL="0">
              <a:buNone/>
            </a:pPr>
            <a:r>
              <a:rPr lang="en-US" sz="1100" dirty="0">
                <a:solidFill>
                  <a:srgbClr val="22C55E"/>
                </a:solidFill>
                <a:latin typeface="Calibri" pitchFamily="34" charset="0"/>
                <a:ea typeface="Calibri" pitchFamily="34" charset="-122"/>
                <a:cs typeface="Calibri" pitchFamily="34" charset="-120"/>
              </a:rPr>
              <a:t>✅</a:t>
            </a:r>
            <a:endParaRPr lang="en-US" sz="1100" dirty="0"/>
          </a:p>
        </p:txBody>
      </p:sp>
      <p:sp>
        <p:nvSpPr>
          <p:cNvPr id="29" name="Text 27"/>
          <p:cNvSpPr/>
          <p:nvPr/>
        </p:nvSpPr>
        <p:spPr>
          <a:xfrm>
            <a:off x="2779776" y="3611880"/>
            <a:ext cx="1609344" cy="347472"/>
          </a:xfrm>
          <a:prstGeom prst="rect">
            <a:avLst/>
          </a:prstGeom>
          <a:noFill/>
          <a:ln/>
        </p:spPr>
        <p:txBody>
          <a:bodyPr wrap="square" lIns="0" tIns="0" rIns="0" bIns="0" rtlCol="0" anchor="t"/>
          <a:lstStyle/>
          <a:p>
            <a:pPr indent="0" marL="0">
              <a:buNone/>
            </a:pPr>
            <a:r>
              <a:rPr lang="en-US" sz="850" dirty="0">
                <a:solidFill>
                  <a:srgbClr val="1A252F"/>
                </a:solidFill>
                <a:latin typeface="Calibri" pitchFamily="34" charset="0"/>
                <a:ea typeface="Calibri" pitchFamily="34" charset="-122"/>
                <a:cs typeface="Calibri" pitchFamily="34" charset="-120"/>
              </a:rPr>
              <a:t>Score global pondéré + grade A-F</a:t>
            </a:r>
            <a:endParaRPr lang="en-US" sz="850" dirty="0"/>
          </a:p>
        </p:txBody>
      </p:sp>
      <p:sp>
        <p:nvSpPr>
          <p:cNvPr id="30" name="Text 28"/>
          <p:cNvSpPr/>
          <p:nvPr/>
        </p:nvSpPr>
        <p:spPr>
          <a:xfrm>
            <a:off x="2487168" y="4069080"/>
            <a:ext cx="274320" cy="365760"/>
          </a:xfrm>
          <a:prstGeom prst="rect">
            <a:avLst/>
          </a:prstGeom>
          <a:noFill/>
          <a:ln/>
        </p:spPr>
        <p:txBody>
          <a:bodyPr wrap="square" lIns="0" tIns="0" rIns="0" bIns="0" rtlCol="0" anchor="ctr"/>
          <a:lstStyle/>
          <a:p>
            <a:pPr indent="0" marL="0">
              <a:buNone/>
            </a:pPr>
            <a:r>
              <a:rPr lang="en-US" sz="1100" dirty="0">
                <a:solidFill>
                  <a:srgbClr val="22C55E"/>
                </a:solidFill>
                <a:latin typeface="Calibri" pitchFamily="34" charset="0"/>
                <a:ea typeface="Calibri" pitchFamily="34" charset="-122"/>
                <a:cs typeface="Calibri" pitchFamily="34" charset="-120"/>
              </a:rPr>
              <a:t>✅</a:t>
            </a:r>
            <a:endParaRPr lang="en-US" sz="1100" dirty="0"/>
          </a:p>
        </p:txBody>
      </p:sp>
      <p:sp>
        <p:nvSpPr>
          <p:cNvPr id="31" name="Text 29"/>
          <p:cNvSpPr/>
          <p:nvPr/>
        </p:nvSpPr>
        <p:spPr>
          <a:xfrm>
            <a:off x="2779776" y="4114800"/>
            <a:ext cx="1609344" cy="347472"/>
          </a:xfrm>
          <a:prstGeom prst="rect">
            <a:avLst/>
          </a:prstGeom>
          <a:noFill/>
          <a:ln/>
        </p:spPr>
        <p:txBody>
          <a:bodyPr wrap="square" lIns="0" tIns="0" rIns="0" bIns="0" rtlCol="0" anchor="t"/>
          <a:lstStyle/>
          <a:p>
            <a:pPr indent="0" marL="0">
              <a:buNone/>
            </a:pPr>
            <a:r>
              <a:rPr lang="en-US" sz="850" dirty="0">
                <a:solidFill>
                  <a:srgbClr val="1A252F"/>
                </a:solidFill>
                <a:latin typeface="Calibri" pitchFamily="34" charset="0"/>
                <a:ea typeface="Calibri" pitchFamily="34" charset="-122"/>
                <a:cs typeface="Calibri" pitchFamily="34" charset="-120"/>
              </a:rPr>
              <a:t>Visualisation détection (overlay)</a:t>
            </a:r>
            <a:endParaRPr lang="en-US" sz="850" dirty="0"/>
          </a:p>
        </p:txBody>
      </p:sp>
      <p:sp>
        <p:nvSpPr>
          <p:cNvPr id="32" name="Shape 30"/>
          <p:cNvSpPr/>
          <p:nvPr/>
        </p:nvSpPr>
        <p:spPr>
          <a:xfrm>
            <a:off x="4608576" y="2103120"/>
            <a:ext cx="2084832" cy="260604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0000"/>
              </a:srgbClr>
            </a:outerShdw>
          </a:effectLst>
        </p:spPr>
      </p:sp>
      <p:sp>
        <p:nvSpPr>
          <p:cNvPr id="33" name="Shape 31"/>
          <p:cNvSpPr/>
          <p:nvPr/>
        </p:nvSpPr>
        <p:spPr>
          <a:xfrm>
            <a:off x="4608576" y="2103120"/>
            <a:ext cx="2084832" cy="384048"/>
          </a:xfrm>
          <a:prstGeom prst="rect">
            <a:avLst/>
          </a:prstGeom>
          <a:solidFill>
            <a:srgbClr val="0E8C9B"/>
          </a:solidFill>
          <a:ln w="12700">
            <a:solidFill>
              <a:srgbClr val="0E8C9B"/>
            </a:solidFill>
            <a:prstDash val="solid"/>
          </a:ln>
        </p:spPr>
      </p:sp>
      <p:sp>
        <p:nvSpPr>
          <p:cNvPr id="34" name="Text 32"/>
          <p:cNvSpPr/>
          <p:nvPr/>
        </p:nvSpPr>
        <p:spPr>
          <a:xfrm>
            <a:off x="4681728" y="2121408"/>
            <a:ext cx="1993392" cy="34747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IA &amp; NLP</a:t>
            </a:r>
            <a:endParaRPr lang="en-US" sz="950" dirty="0"/>
          </a:p>
        </p:txBody>
      </p:sp>
      <p:sp>
        <p:nvSpPr>
          <p:cNvPr id="35" name="Text 33"/>
          <p:cNvSpPr/>
          <p:nvPr/>
        </p:nvSpPr>
        <p:spPr>
          <a:xfrm>
            <a:off x="4700016" y="2560320"/>
            <a:ext cx="274320" cy="365760"/>
          </a:xfrm>
          <a:prstGeom prst="rect">
            <a:avLst/>
          </a:prstGeom>
          <a:noFill/>
          <a:ln/>
        </p:spPr>
        <p:txBody>
          <a:bodyPr wrap="square" lIns="0" tIns="0" rIns="0" bIns="0" rtlCol="0" anchor="ctr"/>
          <a:lstStyle/>
          <a:p>
            <a:pPr indent="0" marL="0">
              <a:buNone/>
            </a:pPr>
            <a:r>
              <a:rPr lang="en-US" sz="1100" dirty="0">
                <a:solidFill>
                  <a:srgbClr val="22C55E"/>
                </a:solidFill>
                <a:latin typeface="Calibri" pitchFamily="34" charset="0"/>
                <a:ea typeface="Calibri" pitchFamily="34" charset="-122"/>
                <a:cs typeface="Calibri" pitchFamily="34" charset="-120"/>
              </a:rPr>
              <a:t>✅</a:t>
            </a:r>
            <a:endParaRPr lang="en-US" sz="1100" dirty="0"/>
          </a:p>
        </p:txBody>
      </p:sp>
      <p:sp>
        <p:nvSpPr>
          <p:cNvPr id="36" name="Text 34"/>
          <p:cNvSpPr/>
          <p:nvPr/>
        </p:nvSpPr>
        <p:spPr>
          <a:xfrm>
            <a:off x="4992624" y="2606040"/>
            <a:ext cx="1609344" cy="347472"/>
          </a:xfrm>
          <a:prstGeom prst="rect">
            <a:avLst/>
          </a:prstGeom>
          <a:noFill/>
          <a:ln/>
        </p:spPr>
        <p:txBody>
          <a:bodyPr wrap="square" lIns="0" tIns="0" rIns="0" bIns="0" rtlCol="0" anchor="t"/>
          <a:lstStyle/>
          <a:p>
            <a:pPr indent="0" marL="0">
              <a:buNone/>
            </a:pPr>
            <a:r>
              <a:rPr lang="en-US" sz="850" dirty="0">
                <a:solidFill>
                  <a:srgbClr val="1A252F"/>
                </a:solidFill>
                <a:latin typeface="Calibri" pitchFamily="34" charset="0"/>
                <a:ea typeface="Calibri" pitchFamily="34" charset="-122"/>
                <a:cs typeface="Calibri" pitchFamily="34" charset="-120"/>
              </a:rPr>
              <a:t>Grounding DINO + GrabCut + Otsu</a:t>
            </a:r>
            <a:endParaRPr lang="en-US" sz="850" dirty="0"/>
          </a:p>
        </p:txBody>
      </p:sp>
      <p:sp>
        <p:nvSpPr>
          <p:cNvPr id="37" name="Text 35"/>
          <p:cNvSpPr/>
          <p:nvPr/>
        </p:nvSpPr>
        <p:spPr>
          <a:xfrm>
            <a:off x="4700016" y="3063240"/>
            <a:ext cx="274320" cy="365760"/>
          </a:xfrm>
          <a:prstGeom prst="rect">
            <a:avLst/>
          </a:prstGeom>
          <a:noFill/>
          <a:ln/>
        </p:spPr>
        <p:txBody>
          <a:bodyPr wrap="square" lIns="0" tIns="0" rIns="0" bIns="0" rtlCol="0" anchor="ctr"/>
          <a:lstStyle/>
          <a:p>
            <a:pPr indent="0" marL="0">
              <a:buNone/>
            </a:pPr>
            <a:r>
              <a:rPr lang="en-US" sz="1100" dirty="0">
                <a:solidFill>
                  <a:srgbClr val="22C55E"/>
                </a:solidFill>
                <a:latin typeface="Calibri" pitchFamily="34" charset="0"/>
                <a:ea typeface="Calibri" pitchFamily="34" charset="-122"/>
                <a:cs typeface="Calibri" pitchFamily="34" charset="-120"/>
              </a:rPr>
              <a:t>✅</a:t>
            </a:r>
            <a:endParaRPr lang="en-US" sz="1100" dirty="0"/>
          </a:p>
        </p:txBody>
      </p:sp>
      <p:sp>
        <p:nvSpPr>
          <p:cNvPr id="38" name="Text 36"/>
          <p:cNvSpPr/>
          <p:nvPr/>
        </p:nvSpPr>
        <p:spPr>
          <a:xfrm>
            <a:off x="4992624" y="3108960"/>
            <a:ext cx="1609344" cy="347472"/>
          </a:xfrm>
          <a:prstGeom prst="rect">
            <a:avLst/>
          </a:prstGeom>
          <a:noFill/>
          <a:ln/>
        </p:spPr>
        <p:txBody>
          <a:bodyPr wrap="square" lIns="0" tIns="0" rIns="0" bIns="0" rtlCol="0" anchor="t"/>
          <a:lstStyle/>
          <a:p>
            <a:pPr indent="0" marL="0">
              <a:buNone/>
            </a:pPr>
            <a:r>
              <a:rPr lang="en-US" sz="850" dirty="0">
                <a:solidFill>
                  <a:srgbClr val="1A252F"/>
                </a:solidFill>
                <a:latin typeface="Calibri" pitchFamily="34" charset="0"/>
                <a:ea typeface="Calibri" pitchFamily="34" charset="-122"/>
                <a:cs typeface="Calibri" pitchFamily="34" charset="-120"/>
              </a:rPr>
              <a:t>BLIP captioning → fiche FR</a:t>
            </a:r>
            <a:endParaRPr lang="en-US" sz="850" dirty="0"/>
          </a:p>
        </p:txBody>
      </p:sp>
      <p:sp>
        <p:nvSpPr>
          <p:cNvPr id="39" name="Text 37"/>
          <p:cNvSpPr/>
          <p:nvPr/>
        </p:nvSpPr>
        <p:spPr>
          <a:xfrm>
            <a:off x="4700016" y="3566160"/>
            <a:ext cx="274320" cy="365760"/>
          </a:xfrm>
          <a:prstGeom prst="rect">
            <a:avLst/>
          </a:prstGeom>
          <a:noFill/>
          <a:ln/>
        </p:spPr>
        <p:txBody>
          <a:bodyPr wrap="square" lIns="0" tIns="0" rIns="0" bIns="0" rtlCol="0" anchor="ctr"/>
          <a:lstStyle/>
          <a:p>
            <a:pPr indent="0" marL="0">
              <a:buNone/>
            </a:pPr>
            <a:r>
              <a:rPr lang="en-US" sz="1100" dirty="0">
                <a:solidFill>
                  <a:srgbClr val="22C55E"/>
                </a:solidFill>
                <a:latin typeface="Calibri" pitchFamily="34" charset="0"/>
                <a:ea typeface="Calibri" pitchFamily="34" charset="-122"/>
                <a:cs typeface="Calibri" pitchFamily="34" charset="-120"/>
              </a:rPr>
              <a:t>✅</a:t>
            </a:r>
            <a:endParaRPr lang="en-US" sz="1100" dirty="0"/>
          </a:p>
        </p:txBody>
      </p:sp>
      <p:sp>
        <p:nvSpPr>
          <p:cNvPr id="40" name="Text 38"/>
          <p:cNvSpPr/>
          <p:nvPr/>
        </p:nvSpPr>
        <p:spPr>
          <a:xfrm>
            <a:off x="4992624" y="3611880"/>
            <a:ext cx="1609344" cy="347472"/>
          </a:xfrm>
          <a:prstGeom prst="rect">
            <a:avLst/>
          </a:prstGeom>
          <a:noFill/>
          <a:ln/>
        </p:spPr>
        <p:txBody>
          <a:bodyPr wrap="square" lIns="0" tIns="0" rIns="0" bIns="0" rtlCol="0" anchor="t"/>
          <a:lstStyle/>
          <a:p>
            <a:pPr indent="0" marL="0">
              <a:buNone/>
            </a:pPr>
            <a:r>
              <a:rPr lang="en-US" sz="850" dirty="0">
                <a:solidFill>
                  <a:srgbClr val="1A252F"/>
                </a:solidFill>
                <a:latin typeface="Calibri" pitchFamily="34" charset="0"/>
                <a:ea typeface="Calibri" pitchFamily="34" charset="-122"/>
                <a:cs typeface="Calibri" pitchFamily="34" charset="-120"/>
              </a:rPr>
              <a:t>CLIP cohérence image-texte</a:t>
            </a:r>
            <a:endParaRPr lang="en-US" sz="850" dirty="0"/>
          </a:p>
        </p:txBody>
      </p:sp>
      <p:sp>
        <p:nvSpPr>
          <p:cNvPr id="41" name="Text 39"/>
          <p:cNvSpPr/>
          <p:nvPr/>
        </p:nvSpPr>
        <p:spPr>
          <a:xfrm>
            <a:off x="4700016" y="4069080"/>
            <a:ext cx="274320" cy="365760"/>
          </a:xfrm>
          <a:prstGeom prst="rect">
            <a:avLst/>
          </a:prstGeom>
          <a:noFill/>
          <a:ln/>
        </p:spPr>
        <p:txBody>
          <a:bodyPr wrap="square" lIns="0" tIns="0" rIns="0" bIns="0" rtlCol="0" anchor="ctr"/>
          <a:lstStyle/>
          <a:p>
            <a:pPr indent="0" marL="0">
              <a:buNone/>
            </a:pPr>
            <a:r>
              <a:rPr lang="en-US" sz="1100" dirty="0">
                <a:solidFill>
                  <a:srgbClr val="22C55E"/>
                </a:solidFill>
                <a:latin typeface="Calibri" pitchFamily="34" charset="0"/>
                <a:ea typeface="Calibri" pitchFamily="34" charset="-122"/>
                <a:cs typeface="Calibri" pitchFamily="34" charset="-120"/>
              </a:rPr>
              <a:t>✅</a:t>
            </a:r>
            <a:endParaRPr lang="en-US" sz="1100" dirty="0"/>
          </a:p>
        </p:txBody>
      </p:sp>
      <p:sp>
        <p:nvSpPr>
          <p:cNvPr id="42" name="Text 40"/>
          <p:cNvSpPr/>
          <p:nvPr/>
        </p:nvSpPr>
        <p:spPr>
          <a:xfrm>
            <a:off x="4992624" y="4114800"/>
            <a:ext cx="1609344" cy="347472"/>
          </a:xfrm>
          <a:prstGeom prst="rect">
            <a:avLst/>
          </a:prstGeom>
          <a:noFill/>
          <a:ln/>
        </p:spPr>
        <p:txBody>
          <a:bodyPr wrap="square" lIns="0" tIns="0" rIns="0" bIns="0" rtlCol="0" anchor="t"/>
          <a:lstStyle/>
          <a:p>
            <a:pPr indent="0" marL="0">
              <a:buNone/>
            </a:pPr>
            <a:r>
              <a:rPr lang="en-US" sz="850" dirty="0">
                <a:solidFill>
                  <a:srgbClr val="1A252F"/>
                </a:solidFill>
                <a:latin typeface="Calibri" pitchFamily="34" charset="0"/>
                <a:ea typeface="Calibri" pitchFamily="34" charset="-122"/>
                <a:cs typeface="Calibri" pitchFamily="34" charset="-120"/>
              </a:rPr>
              <a:t>EasyOCR + extracteur entités NLP</a:t>
            </a:r>
            <a:endParaRPr lang="en-US" sz="850" dirty="0"/>
          </a:p>
        </p:txBody>
      </p:sp>
      <p:sp>
        <p:nvSpPr>
          <p:cNvPr id="43" name="Shape 41"/>
          <p:cNvSpPr/>
          <p:nvPr/>
        </p:nvSpPr>
        <p:spPr>
          <a:xfrm>
            <a:off x="6821424" y="2103120"/>
            <a:ext cx="2084832" cy="260604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0000"/>
              </a:srgbClr>
            </a:outerShdw>
          </a:effectLst>
        </p:spPr>
      </p:sp>
      <p:sp>
        <p:nvSpPr>
          <p:cNvPr id="44" name="Shape 42"/>
          <p:cNvSpPr/>
          <p:nvPr/>
        </p:nvSpPr>
        <p:spPr>
          <a:xfrm>
            <a:off x="6821424" y="2103120"/>
            <a:ext cx="2084832" cy="384048"/>
          </a:xfrm>
          <a:prstGeom prst="rect">
            <a:avLst/>
          </a:prstGeom>
          <a:solidFill>
            <a:srgbClr val="00B98A"/>
          </a:solidFill>
          <a:ln w="12700">
            <a:solidFill>
              <a:srgbClr val="00B98A"/>
            </a:solidFill>
            <a:prstDash val="solid"/>
          </a:ln>
        </p:spPr>
      </p:sp>
      <p:sp>
        <p:nvSpPr>
          <p:cNvPr id="45" name="Text 43"/>
          <p:cNvSpPr/>
          <p:nvPr/>
        </p:nvSpPr>
        <p:spPr>
          <a:xfrm>
            <a:off x="6894576" y="2121408"/>
            <a:ext cx="1993392" cy="34747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Documentation</a:t>
            </a:r>
            <a:endParaRPr lang="en-US" sz="950" dirty="0"/>
          </a:p>
        </p:txBody>
      </p:sp>
      <p:sp>
        <p:nvSpPr>
          <p:cNvPr id="46" name="Text 44"/>
          <p:cNvSpPr/>
          <p:nvPr/>
        </p:nvSpPr>
        <p:spPr>
          <a:xfrm>
            <a:off x="6912864" y="2560320"/>
            <a:ext cx="274320" cy="365760"/>
          </a:xfrm>
          <a:prstGeom prst="rect">
            <a:avLst/>
          </a:prstGeom>
          <a:noFill/>
          <a:ln/>
        </p:spPr>
        <p:txBody>
          <a:bodyPr wrap="square" lIns="0" tIns="0" rIns="0" bIns="0" rtlCol="0" anchor="ctr"/>
          <a:lstStyle/>
          <a:p>
            <a:pPr indent="0" marL="0">
              <a:buNone/>
            </a:pPr>
            <a:r>
              <a:rPr lang="en-US" sz="1100" dirty="0">
                <a:solidFill>
                  <a:srgbClr val="22C55E"/>
                </a:solidFill>
                <a:latin typeface="Calibri" pitchFamily="34" charset="0"/>
                <a:ea typeface="Calibri" pitchFamily="34" charset="-122"/>
                <a:cs typeface="Calibri" pitchFamily="34" charset="-120"/>
              </a:rPr>
              <a:t>✅</a:t>
            </a:r>
            <a:endParaRPr lang="en-US" sz="1100" dirty="0"/>
          </a:p>
        </p:txBody>
      </p:sp>
      <p:sp>
        <p:nvSpPr>
          <p:cNvPr id="47" name="Text 45"/>
          <p:cNvSpPr/>
          <p:nvPr/>
        </p:nvSpPr>
        <p:spPr>
          <a:xfrm>
            <a:off x="7205472" y="2606040"/>
            <a:ext cx="1609344" cy="347472"/>
          </a:xfrm>
          <a:prstGeom prst="rect">
            <a:avLst/>
          </a:prstGeom>
          <a:noFill/>
          <a:ln/>
        </p:spPr>
        <p:txBody>
          <a:bodyPr wrap="square" lIns="0" tIns="0" rIns="0" bIns="0" rtlCol="0" anchor="t"/>
          <a:lstStyle/>
          <a:p>
            <a:pPr indent="0" marL="0">
              <a:buNone/>
            </a:pPr>
            <a:r>
              <a:rPr lang="en-US" sz="850" dirty="0">
                <a:solidFill>
                  <a:srgbClr val="1A252F"/>
                </a:solidFill>
                <a:latin typeface="Calibri" pitchFamily="34" charset="0"/>
                <a:ea typeface="Calibri" pitchFamily="34" charset="-122"/>
                <a:cs typeface="Calibri" pitchFamily="34" charset="-120"/>
              </a:rPr>
              <a:t>README.md complet (FR)</a:t>
            </a:r>
            <a:endParaRPr lang="en-US" sz="850" dirty="0"/>
          </a:p>
        </p:txBody>
      </p:sp>
      <p:sp>
        <p:nvSpPr>
          <p:cNvPr id="48" name="Text 46"/>
          <p:cNvSpPr/>
          <p:nvPr/>
        </p:nvSpPr>
        <p:spPr>
          <a:xfrm>
            <a:off x="6912864" y="3063240"/>
            <a:ext cx="274320" cy="365760"/>
          </a:xfrm>
          <a:prstGeom prst="rect">
            <a:avLst/>
          </a:prstGeom>
          <a:noFill/>
          <a:ln/>
        </p:spPr>
        <p:txBody>
          <a:bodyPr wrap="square" lIns="0" tIns="0" rIns="0" bIns="0" rtlCol="0" anchor="ctr"/>
          <a:lstStyle/>
          <a:p>
            <a:pPr indent="0" marL="0">
              <a:buNone/>
            </a:pPr>
            <a:r>
              <a:rPr lang="en-US" sz="1100" dirty="0">
                <a:solidFill>
                  <a:srgbClr val="22C55E"/>
                </a:solidFill>
                <a:latin typeface="Calibri" pitchFamily="34" charset="0"/>
                <a:ea typeface="Calibri" pitchFamily="34" charset="-122"/>
                <a:cs typeface="Calibri" pitchFamily="34" charset="-120"/>
              </a:rPr>
              <a:t>✅</a:t>
            </a:r>
            <a:endParaRPr lang="en-US" sz="1100" dirty="0"/>
          </a:p>
        </p:txBody>
      </p:sp>
      <p:sp>
        <p:nvSpPr>
          <p:cNvPr id="49" name="Text 47"/>
          <p:cNvSpPr/>
          <p:nvPr/>
        </p:nvSpPr>
        <p:spPr>
          <a:xfrm>
            <a:off x="7205472" y="3108960"/>
            <a:ext cx="1609344" cy="347472"/>
          </a:xfrm>
          <a:prstGeom prst="rect">
            <a:avLst/>
          </a:prstGeom>
          <a:noFill/>
          <a:ln/>
        </p:spPr>
        <p:txBody>
          <a:bodyPr wrap="square" lIns="0" tIns="0" rIns="0" bIns="0" rtlCol="0" anchor="t"/>
          <a:lstStyle/>
          <a:p>
            <a:pPr indent="0" marL="0">
              <a:buNone/>
            </a:pPr>
            <a:r>
              <a:rPr lang="en-US" sz="850" dirty="0">
                <a:solidFill>
                  <a:srgbClr val="1A252F"/>
                </a:solidFill>
                <a:latin typeface="Calibri" pitchFamily="34" charset="0"/>
                <a:ea typeface="Calibri" pitchFamily="34" charset="-122"/>
                <a:cs typeface="Calibri" pitchFamily="34" charset="-120"/>
              </a:rPr>
              <a:t>DOCUMENTATION.md technique</a:t>
            </a:r>
            <a:endParaRPr lang="en-US" sz="850" dirty="0"/>
          </a:p>
        </p:txBody>
      </p:sp>
      <p:sp>
        <p:nvSpPr>
          <p:cNvPr id="50" name="Text 48"/>
          <p:cNvSpPr/>
          <p:nvPr/>
        </p:nvSpPr>
        <p:spPr>
          <a:xfrm>
            <a:off x="6912864" y="3566160"/>
            <a:ext cx="274320" cy="365760"/>
          </a:xfrm>
          <a:prstGeom prst="rect">
            <a:avLst/>
          </a:prstGeom>
          <a:noFill/>
          <a:ln/>
        </p:spPr>
        <p:txBody>
          <a:bodyPr wrap="square" lIns="0" tIns="0" rIns="0" bIns="0" rtlCol="0" anchor="ctr"/>
          <a:lstStyle/>
          <a:p>
            <a:pPr indent="0" marL="0">
              <a:buNone/>
            </a:pPr>
            <a:r>
              <a:rPr lang="en-US" sz="1100" dirty="0">
                <a:solidFill>
                  <a:srgbClr val="22C55E"/>
                </a:solidFill>
                <a:latin typeface="Calibri" pitchFamily="34" charset="0"/>
                <a:ea typeface="Calibri" pitchFamily="34" charset="-122"/>
                <a:cs typeface="Calibri" pitchFamily="34" charset="-120"/>
              </a:rPr>
              <a:t>✅</a:t>
            </a:r>
            <a:endParaRPr lang="en-US" sz="1100" dirty="0"/>
          </a:p>
        </p:txBody>
      </p:sp>
      <p:sp>
        <p:nvSpPr>
          <p:cNvPr id="51" name="Text 49"/>
          <p:cNvSpPr/>
          <p:nvPr/>
        </p:nvSpPr>
        <p:spPr>
          <a:xfrm>
            <a:off x="7205472" y="3611880"/>
            <a:ext cx="1609344" cy="347472"/>
          </a:xfrm>
          <a:prstGeom prst="rect">
            <a:avLst/>
          </a:prstGeom>
          <a:noFill/>
          <a:ln/>
        </p:spPr>
        <p:txBody>
          <a:bodyPr wrap="square" lIns="0" tIns="0" rIns="0" bIns="0" rtlCol="0" anchor="t"/>
          <a:lstStyle/>
          <a:p>
            <a:pPr indent="0" marL="0">
              <a:buNone/>
            </a:pPr>
            <a:r>
              <a:rPr lang="en-US" sz="850" dirty="0">
                <a:solidFill>
                  <a:srgbClr val="1A252F"/>
                </a:solidFill>
                <a:latin typeface="Calibri" pitchFamily="34" charset="0"/>
                <a:ea typeface="Calibri" pitchFamily="34" charset="-122"/>
                <a:cs typeface="Calibri" pitchFamily="34" charset="-120"/>
              </a:rPr>
              <a:t>Commentaires inline dans le code</a:t>
            </a:r>
            <a:endParaRPr lang="en-US" sz="850" dirty="0"/>
          </a:p>
        </p:txBody>
      </p:sp>
      <p:sp>
        <p:nvSpPr>
          <p:cNvPr id="52" name="Text 50"/>
          <p:cNvSpPr/>
          <p:nvPr/>
        </p:nvSpPr>
        <p:spPr>
          <a:xfrm>
            <a:off x="6912864" y="4069080"/>
            <a:ext cx="274320" cy="365760"/>
          </a:xfrm>
          <a:prstGeom prst="rect">
            <a:avLst/>
          </a:prstGeom>
          <a:noFill/>
          <a:ln/>
        </p:spPr>
        <p:txBody>
          <a:bodyPr wrap="square" lIns="0" tIns="0" rIns="0" bIns="0" rtlCol="0" anchor="ctr"/>
          <a:lstStyle/>
          <a:p>
            <a:pPr indent="0" marL="0">
              <a:buNone/>
            </a:pPr>
            <a:r>
              <a:rPr lang="en-US" sz="1100" dirty="0">
                <a:solidFill>
                  <a:srgbClr val="22C55E"/>
                </a:solidFill>
                <a:latin typeface="Calibri" pitchFamily="34" charset="0"/>
                <a:ea typeface="Calibri" pitchFamily="34" charset="-122"/>
                <a:cs typeface="Calibri" pitchFamily="34" charset="-120"/>
              </a:rPr>
              <a:t>✅</a:t>
            </a:r>
            <a:endParaRPr lang="en-US" sz="1100" dirty="0"/>
          </a:p>
        </p:txBody>
      </p:sp>
      <p:sp>
        <p:nvSpPr>
          <p:cNvPr id="53" name="Text 51"/>
          <p:cNvSpPr/>
          <p:nvPr/>
        </p:nvSpPr>
        <p:spPr>
          <a:xfrm>
            <a:off x="7205472" y="4114800"/>
            <a:ext cx="1609344" cy="347472"/>
          </a:xfrm>
          <a:prstGeom prst="rect">
            <a:avLst/>
          </a:prstGeom>
          <a:noFill/>
          <a:ln/>
        </p:spPr>
        <p:txBody>
          <a:bodyPr wrap="square" lIns="0" tIns="0" rIns="0" bIns="0" rtlCol="0" anchor="t"/>
          <a:lstStyle/>
          <a:p>
            <a:pPr indent="0" marL="0">
              <a:buNone/>
            </a:pPr>
            <a:r>
              <a:rPr lang="en-US" sz="850" dirty="0">
                <a:solidFill>
                  <a:srgbClr val="1A252F"/>
                </a:solidFill>
                <a:latin typeface="Calibri" pitchFamily="34" charset="0"/>
                <a:ea typeface="Calibri" pitchFamily="34" charset="-122"/>
                <a:cs typeface="Calibri" pitchFamily="34" charset="-120"/>
              </a:rPr>
              <a:t>Guide jury technique</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2137"/>
          </a:solidFill>
          <a:ln w="12700">
            <a:solidFill>
              <a:srgbClr val="0D2137"/>
            </a:solidFill>
            <a:prstDash val="solid"/>
          </a:ln>
        </p:spPr>
      </p:sp>
      <p:sp>
        <p:nvSpPr>
          <p:cNvPr id="3" name="Shape 1"/>
          <p:cNvSpPr/>
          <p:nvPr/>
        </p:nvSpPr>
        <p:spPr>
          <a:xfrm>
            <a:off x="0" y="960120"/>
            <a:ext cx="9144000" cy="54864"/>
          </a:xfrm>
          <a:prstGeom prst="rect">
            <a:avLst/>
          </a:prstGeom>
          <a:solidFill>
            <a:srgbClr val="00B98A"/>
          </a:solidFill>
          <a:ln w="12700">
            <a:solidFill>
              <a:srgbClr val="00B98A"/>
            </a:solidFill>
            <a:prstDash val="solid"/>
          </a:ln>
        </p:spPr>
      </p:sp>
      <p:sp>
        <p:nvSpPr>
          <p:cNvPr id="4" name="Text 2"/>
          <p:cNvSpPr/>
          <p:nvPr/>
        </p:nvSpPr>
        <p:spPr>
          <a:xfrm>
            <a:off x="365760" y="0"/>
            <a:ext cx="8229600" cy="9601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Stack Technologique</a:t>
            </a:r>
            <a:endParaRPr lang="en-US" sz="2600" dirty="0"/>
          </a:p>
        </p:txBody>
      </p:sp>
      <p:sp>
        <p:nvSpPr>
          <p:cNvPr id="5" name="Shape 3"/>
          <p:cNvSpPr/>
          <p:nvPr/>
        </p:nvSpPr>
        <p:spPr>
          <a:xfrm>
            <a:off x="274320" y="1143000"/>
            <a:ext cx="4160520" cy="178308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0000"/>
              </a:srgbClr>
            </a:outerShdw>
          </a:effectLst>
        </p:spPr>
      </p:sp>
      <p:sp>
        <p:nvSpPr>
          <p:cNvPr id="6" name="Shape 4"/>
          <p:cNvSpPr/>
          <p:nvPr/>
        </p:nvSpPr>
        <p:spPr>
          <a:xfrm>
            <a:off x="274320" y="1143000"/>
            <a:ext cx="4160520" cy="384048"/>
          </a:xfrm>
          <a:prstGeom prst="rect">
            <a:avLst/>
          </a:prstGeom>
          <a:solidFill>
            <a:srgbClr val="1060A0"/>
          </a:solidFill>
          <a:ln w="12700">
            <a:solidFill>
              <a:srgbClr val="1060A0"/>
            </a:solidFill>
            <a:prstDash val="solid"/>
          </a:ln>
        </p:spPr>
      </p:sp>
      <p:sp>
        <p:nvSpPr>
          <p:cNvPr id="7" name="Text 5"/>
          <p:cNvSpPr/>
          <p:nvPr/>
        </p:nvSpPr>
        <p:spPr>
          <a:xfrm>
            <a:off x="365760" y="1161288"/>
            <a:ext cx="402336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Vision par Ordinateur</a:t>
            </a:r>
            <a:endParaRPr lang="en-US" sz="1200" dirty="0"/>
          </a:p>
        </p:txBody>
      </p:sp>
      <p:sp>
        <p:nvSpPr>
          <p:cNvPr id="8" name="Text 6"/>
          <p:cNvSpPr/>
          <p:nvPr/>
        </p:nvSpPr>
        <p:spPr>
          <a:xfrm>
            <a:off x="438912" y="1600200"/>
            <a:ext cx="3886200" cy="365760"/>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  OpenCV 4 — morphologie, GrabCut, Canny, Laplacien</a:t>
            </a:r>
            <a:endParaRPr lang="en-US" sz="1050" dirty="0"/>
          </a:p>
        </p:txBody>
      </p:sp>
      <p:sp>
        <p:nvSpPr>
          <p:cNvPr id="9" name="Text 7"/>
          <p:cNvSpPr/>
          <p:nvPr/>
        </p:nvSpPr>
        <p:spPr>
          <a:xfrm>
            <a:off x="438912" y="2020824"/>
            <a:ext cx="3886200" cy="365760"/>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  Pillow (PIL) — chargement, conversion formats</a:t>
            </a:r>
            <a:endParaRPr lang="en-US" sz="1050" dirty="0"/>
          </a:p>
        </p:txBody>
      </p:sp>
      <p:sp>
        <p:nvSpPr>
          <p:cNvPr id="10" name="Text 8"/>
          <p:cNvSpPr/>
          <p:nvPr/>
        </p:nvSpPr>
        <p:spPr>
          <a:xfrm>
            <a:off x="438912" y="2441448"/>
            <a:ext cx="3886200" cy="365760"/>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  NumPy — opérations matricielles sur masques</a:t>
            </a:r>
            <a:endParaRPr lang="en-US" sz="1050" dirty="0"/>
          </a:p>
        </p:txBody>
      </p:sp>
      <p:sp>
        <p:nvSpPr>
          <p:cNvPr id="11" name="Shape 9"/>
          <p:cNvSpPr/>
          <p:nvPr/>
        </p:nvSpPr>
        <p:spPr>
          <a:xfrm>
            <a:off x="4709160" y="1143000"/>
            <a:ext cx="4160520" cy="178308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0000"/>
              </a:srgbClr>
            </a:outerShdw>
          </a:effectLst>
        </p:spPr>
      </p:sp>
      <p:sp>
        <p:nvSpPr>
          <p:cNvPr id="12" name="Shape 10"/>
          <p:cNvSpPr/>
          <p:nvPr/>
        </p:nvSpPr>
        <p:spPr>
          <a:xfrm>
            <a:off x="4709160" y="1143000"/>
            <a:ext cx="4160520" cy="384048"/>
          </a:xfrm>
          <a:prstGeom prst="rect">
            <a:avLst/>
          </a:prstGeom>
          <a:solidFill>
            <a:srgbClr val="0E8C9B"/>
          </a:solidFill>
          <a:ln w="12700">
            <a:solidFill>
              <a:srgbClr val="0E8C9B"/>
            </a:solidFill>
            <a:prstDash val="solid"/>
          </a:ln>
        </p:spPr>
      </p:sp>
      <p:sp>
        <p:nvSpPr>
          <p:cNvPr id="13" name="Text 11"/>
          <p:cNvSpPr/>
          <p:nvPr/>
        </p:nvSpPr>
        <p:spPr>
          <a:xfrm>
            <a:off x="4800600" y="1161288"/>
            <a:ext cx="402336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Modèles Transformers</a:t>
            </a:r>
            <a:endParaRPr lang="en-US" sz="1200" dirty="0"/>
          </a:p>
        </p:txBody>
      </p:sp>
      <p:sp>
        <p:nvSpPr>
          <p:cNvPr id="14" name="Text 12"/>
          <p:cNvSpPr/>
          <p:nvPr/>
        </p:nvSpPr>
        <p:spPr>
          <a:xfrm>
            <a:off x="4873752" y="1600200"/>
            <a:ext cx="3886200" cy="365760"/>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  Grounding DINO Tiny — IDEA-Research/HuggingFace</a:t>
            </a:r>
            <a:endParaRPr lang="en-US" sz="1050" dirty="0"/>
          </a:p>
        </p:txBody>
      </p:sp>
      <p:sp>
        <p:nvSpPr>
          <p:cNvPr id="15" name="Text 13"/>
          <p:cNvSpPr/>
          <p:nvPr/>
        </p:nvSpPr>
        <p:spPr>
          <a:xfrm>
            <a:off x="4873752" y="2020824"/>
            <a:ext cx="3886200" cy="365760"/>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  BLIP Base — Salesforce/blip-image-captioning-base</a:t>
            </a:r>
            <a:endParaRPr lang="en-US" sz="1050" dirty="0"/>
          </a:p>
        </p:txBody>
      </p:sp>
      <p:sp>
        <p:nvSpPr>
          <p:cNvPr id="16" name="Text 14"/>
          <p:cNvSpPr/>
          <p:nvPr/>
        </p:nvSpPr>
        <p:spPr>
          <a:xfrm>
            <a:off x="4873752" y="2441448"/>
            <a:ext cx="3886200" cy="365760"/>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  CLIP ViT-B/32 — openai/clip-vit-base-patch32</a:t>
            </a:r>
            <a:endParaRPr lang="en-US" sz="1050" dirty="0"/>
          </a:p>
        </p:txBody>
      </p:sp>
      <p:sp>
        <p:nvSpPr>
          <p:cNvPr id="17" name="Shape 15"/>
          <p:cNvSpPr/>
          <p:nvPr/>
        </p:nvSpPr>
        <p:spPr>
          <a:xfrm>
            <a:off x="274320" y="3063240"/>
            <a:ext cx="4160520" cy="178308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0000"/>
              </a:srgbClr>
            </a:outerShdw>
          </a:effectLst>
        </p:spPr>
      </p:sp>
      <p:sp>
        <p:nvSpPr>
          <p:cNvPr id="18" name="Shape 16"/>
          <p:cNvSpPr/>
          <p:nvPr/>
        </p:nvSpPr>
        <p:spPr>
          <a:xfrm>
            <a:off x="274320" y="3063240"/>
            <a:ext cx="4160520" cy="384048"/>
          </a:xfrm>
          <a:prstGeom prst="rect">
            <a:avLst/>
          </a:prstGeom>
          <a:solidFill>
            <a:srgbClr val="00B98A"/>
          </a:solidFill>
          <a:ln w="12700">
            <a:solidFill>
              <a:srgbClr val="00B98A"/>
            </a:solidFill>
            <a:prstDash val="solid"/>
          </a:ln>
        </p:spPr>
      </p:sp>
      <p:sp>
        <p:nvSpPr>
          <p:cNvPr id="19" name="Text 17"/>
          <p:cNvSpPr/>
          <p:nvPr/>
        </p:nvSpPr>
        <p:spPr>
          <a:xfrm>
            <a:off x="365760" y="3081528"/>
            <a:ext cx="402336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Traitement Texte &amp; OCR</a:t>
            </a:r>
            <a:endParaRPr lang="en-US" sz="1200" dirty="0"/>
          </a:p>
        </p:txBody>
      </p:sp>
      <p:sp>
        <p:nvSpPr>
          <p:cNvPr id="20" name="Text 18"/>
          <p:cNvSpPr/>
          <p:nvPr/>
        </p:nvSpPr>
        <p:spPr>
          <a:xfrm>
            <a:off x="438912" y="3520440"/>
            <a:ext cx="3886200" cy="365760"/>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  EasyOCR — Reconnaissance FR + EN (CPU mode)</a:t>
            </a:r>
            <a:endParaRPr lang="en-US" sz="1050" dirty="0"/>
          </a:p>
        </p:txBody>
      </p:sp>
      <p:sp>
        <p:nvSpPr>
          <p:cNvPr id="21" name="Text 19"/>
          <p:cNvSpPr/>
          <p:nvPr/>
        </p:nvSpPr>
        <p:spPr>
          <a:xfrm>
            <a:off x="438912" y="3941064"/>
            <a:ext cx="3886200" cy="365760"/>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  Regex Python — Extraction entités (prix, marque...)</a:t>
            </a:r>
            <a:endParaRPr lang="en-US" sz="1050" dirty="0"/>
          </a:p>
        </p:txBody>
      </p:sp>
      <p:sp>
        <p:nvSpPr>
          <p:cNvPr id="22" name="Text 20"/>
          <p:cNvSpPr/>
          <p:nvPr/>
        </p:nvSpPr>
        <p:spPr>
          <a:xfrm>
            <a:off x="438912" y="4361688"/>
            <a:ext cx="3886200" cy="365760"/>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  BeautifulSoup4 — Scraping HTML Jumia Maroc</a:t>
            </a:r>
            <a:endParaRPr lang="en-US" sz="1050" dirty="0"/>
          </a:p>
        </p:txBody>
      </p:sp>
      <p:sp>
        <p:nvSpPr>
          <p:cNvPr id="23" name="Shape 21"/>
          <p:cNvSpPr/>
          <p:nvPr/>
        </p:nvSpPr>
        <p:spPr>
          <a:xfrm>
            <a:off x="4709160" y="3063240"/>
            <a:ext cx="4160520" cy="178308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0000"/>
              </a:srgbClr>
            </a:outerShdw>
          </a:effectLst>
        </p:spPr>
      </p:sp>
      <p:sp>
        <p:nvSpPr>
          <p:cNvPr id="24" name="Shape 22"/>
          <p:cNvSpPr/>
          <p:nvPr/>
        </p:nvSpPr>
        <p:spPr>
          <a:xfrm>
            <a:off x="4709160" y="3063240"/>
            <a:ext cx="4160520" cy="384048"/>
          </a:xfrm>
          <a:prstGeom prst="rect">
            <a:avLst/>
          </a:prstGeom>
          <a:solidFill>
            <a:srgbClr val="0D2137"/>
          </a:solidFill>
          <a:ln w="12700">
            <a:solidFill>
              <a:srgbClr val="0D2137"/>
            </a:solidFill>
            <a:prstDash val="solid"/>
          </a:ln>
        </p:spPr>
      </p:sp>
      <p:sp>
        <p:nvSpPr>
          <p:cNvPr id="25" name="Text 23"/>
          <p:cNvSpPr/>
          <p:nvPr/>
        </p:nvSpPr>
        <p:spPr>
          <a:xfrm>
            <a:off x="4800600" y="3081528"/>
            <a:ext cx="402336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Interface &amp; Déploiement</a:t>
            </a:r>
            <a:endParaRPr lang="en-US" sz="1200" dirty="0"/>
          </a:p>
        </p:txBody>
      </p:sp>
      <p:sp>
        <p:nvSpPr>
          <p:cNvPr id="26" name="Text 24"/>
          <p:cNvSpPr/>
          <p:nvPr/>
        </p:nvSpPr>
        <p:spPr>
          <a:xfrm>
            <a:off x="4873752" y="3520440"/>
            <a:ext cx="3886200" cy="365760"/>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  Streamlit — Interface web interactive (sidebar, session)</a:t>
            </a:r>
            <a:endParaRPr lang="en-US" sz="1050" dirty="0"/>
          </a:p>
        </p:txBody>
      </p:sp>
      <p:sp>
        <p:nvSpPr>
          <p:cNvPr id="27" name="Text 25"/>
          <p:cNvSpPr/>
          <p:nvPr/>
        </p:nvSpPr>
        <p:spPr>
          <a:xfrm>
            <a:off x="4873752" y="3941064"/>
            <a:ext cx="3886200" cy="365760"/>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  Requests — HTTP (scraping Jumia + download images)</a:t>
            </a:r>
            <a:endParaRPr lang="en-US" sz="1050" dirty="0"/>
          </a:p>
        </p:txBody>
      </p:sp>
      <p:sp>
        <p:nvSpPr>
          <p:cNvPr id="28" name="Text 26"/>
          <p:cNvSpPr/>
          <p:nvPr/>
        </p:nvSpPr>
        <p:spPr>
          <a:xfrm>
            <a:off x="4873752" y="4361688"/>
            <a:ext cx="3886200" cy="365760"/>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  Python 3.11 + venv — Environnement isolé</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2137"/>
          </a:solidFill>
          <a:ln w="12700">
            <a:solidFill>
              <a:srgbClr val="0D2137"/>
            </a:solidFill>
            <a:prstDash val="solid"/>
          </a:ln>
        </p:spPr>
      </p:sp>
      <p:sp>
        <p:nvSpPr>
          <p:cNvPr id="3" name="Shape 1"/>
          <p:cNvSpPr/>
          <p:nvPr/>
        </p:nvSpPr>
        <p:spPr>
          <a:xfrm>
            <a:off x="0" y="960120"/>
            <a:ext cx="9144000" cy="54864"/>
          </a:xfrm>
          <a:prstGeom prst="rect">
            <a:avLst/>
          </a:prstGeom>
          <a:solidFill>
            <a:srgbClr val="00B98A"/>
          </a:solidFill>
          <a:ln w="12700">
            <a:solidFill>
              <a:srgbClr val="00B98A"/>
            </a:solidFill>
            <a:prstDash val="solid"/>
          </a:ln>
        </p:spPr>
      </p:sp>
      <p:sp>
        <p:nvSpPr>
          <p:cNvPr id="4" name="Text 2"/>
          <p:cNvSpPr/>
          <p:nvPr/>
        </p:nvSpPr>
        <p:spPr>
          <a:xfrm>
            <a:off x="365760" y="0"/>
            <a:ext cx="8229600" cy="9601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Limites &amp; Perspectives</a:t>
            </a:r>
            <a:endParaRPr lang="en-US" sz="2600" dirty="0"/>
          </a:p>
        </p:txBody>
      </p:sp>
      <p:sp>
        <p:nvSpPr>
          <p:cNvPr id="5" name="Shape 3"/>
          <p:cNvSpPr/>
          <p:nvPr/>
        </p:nvSpPr>
        <p:spPr>
          <a:xfrm>
            <a:off x="274320" y="1143000"/>
            <a:ext cx="4114800" cy="361188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0000"/>
              </a:srgbClr>
            </a:outerShdw>
          </a:effectLst>
        </p:spPr>
      </p:sp>
      <p:sp>
        <p:nvSpPr>
          <p:cNvPr id="6" name="Shape 4"/>
          <p:cNvSpPr/>
          <p:nvPr/>
        </p:nvSpPr>
        <p:spPr>
          <a:xfrm>
            <a:off x="274320" y="1143000"/>
            <a:ext cx="54864" cy="3611880"/>
          </a:xfrm>
          <a:prstGeom prst="rect">
            <a:avLst/>
          </a:prstGeom>
          <a:solidFill>
            <a:srgbClr val="EF4444"/>
          </a:solidFill>
          <a:ln w="12700">
            <a:solidFill>
              <a:srgbClr val="EF4444"/>
            </a:solidFill>
            <a:prstDash val="solid"/>
          </a:ln>
        </p:spPr>
      </p:sp>
      <p:sp>
        <p:nvSpPr>
          <p:cNvPr id="7" name="Text 5"/>
          <p:cNvSpPr/>
          <p:nvPr/>
        </p:nvSpPr>
        <p:spPr>
          <a:xfrm>
            <a:off x="502920" y="1216152"/>
            <a:ext cx="3657600" cy="365760"/>
          </a:xfrm>
          <a:prstGeom prst="rect">
            <a:avLst/>
          </a:prstGeom>
          <a:noFill/>
          <a:ln/>
        </p:spPr>
        <p:txBody>
          <a:bodyPr wrap="square" lIns="0" tIns="0" rIns="0" bIns="0" rtlCol="0" anchor="ctr"/>
          <a:lstStyle/>
          <a:p>
            <a:pPr indent="0" marL="0">
              <a:buNone/>
            </a:pPr>
            <a:r>
              <a:rPr lang="en-US" sz="1400" b="1" dirty="0">
                <a:solidFill>
                  <a:srgbClr val="EF4444"/>
                </a:solidFill>
                <a:latin typeface="Calibri" pitchFamily="34" charset="0"/>
                <a:ea typeface="Calibri" pitchFamily="34" charset="-122"/>
                <a:cs typeface="Calibri" pitchFamily="34" charset="-120"/>
              </a:rPr>
              <a:t>Limites actuelles</a:t>
            </a:r>
            <a:endParaRPr lang="en-US" sz="1400" dirty="0"/>
          </a:p>
        </p:txBody>
      </p:sp>
      <p:sp>
        <p:nvSpPr>
          <p:cNvPr id="8" name="Text 6"/>
          <p:cNvSpPr/>
          <p:nvPr/>
        </p:nvSpPr>
        <p:spPr>
          <a:xfrm>
            <a:off x="502920" y="1664208"/>
            <a:ext cx="3749040" cy="384048"/>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 Images 300×300 px CDN → seuils calibrés petite résolution</a:t>
            </a:r>
            <a:endParaRPr lang="en-US" sz="1050" dirty="0"/>
          </a:p>
        </p:txBody>
      </p:sp>
      <p:sp>
        <p:nvSpPr>
          <p:cNvPr id="9" name="Text 7"/>
          <p:cNvSpPr/>
          <p:nvPr/>
        </p:nvSpPr>
        <p:spPr>
          <a:xfrm>
            <a:off x="502920" y="2148840"/>
            <a:ext cx="3749040" cy="384048"/>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 EasyOCR lent en CPU (~3s / image)</a:t>
            </a:r>
            <a:endParaRPr lang="en-US" sz="1050" dirty="0"/>
          </a:p>
        </p:txBody>
      </p:sp>
      <p:sp>
        <p:nvSpPr>
          <p:cNvPr id="10" name="Text 8"/>
          <p:cNvSpPr/>
          <p:nvPr/>
        </p:nvSpPr>
        <p:spPr>
          <a:xfrm>
            <a:off x="502920" y="2633472"/>
            <a:ext cx="3749040" cy="384048"/>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 Scraping Jumia peut être bloqué (anti-bot)</a:t>
            </a:r>
            <a:endParaRPr lang="en-US" sz="1050" dirty="0"/>
          </a:p>
        </p:txBody>
      </p:sp>
      <p:sp>
        <p:nvSpPr>
          <p:cNvPr id="11" name="Text 9"/>
          <p:cNvSpPr/>
          <p:nvPr/>
        </p:nvSpPr>
        <p:spPr>
          <a:xfrm>
            <a:off x="502920" y="3118104"/>
            <a:ext cx="3749040" cy="384048"/>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 CLIP indisponible hors connexion (modèle cloud)</a:t>
            </a:r>
            <a:endParaRPr lang="en-US" sz="1050" dirty="0"/>
          </a:p>
        </p:txBody>
      </p:sp>
      <p:sp>
        <p:nvSpPr>
          <p:cNvPr id="12" name="Text 10"/>
          <p:cNvSpPr/>
          <p:nvPr/>
        </p:nvSpPr>
        <p:spPr>
          <a:xfrm>
            <a:off x="502920" y="3602736"/>
            <a:ext cx="3749040" cy="384048"/>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 Fiche produit en français uniquement</a:t>
            </a:r>
            <a:endParaRPr lang="en-US" sz="1050" dirty="0"/>
          </a:p>
        </p:txBody>
      </p:sp>
      <p:sp>
        <p:nvSpPr>
          <p:cNvPr id="13" name="Text 11"/>
          <p:cNvSpPr/>
          <p:nvPr/>
        </p:nvSpPr>
        <p:spPr>
          <a:xfrm>
            <a:off x="502920" y="4087368"/>
            <a:ext cx="3749040" cy="384048"/>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 Score non validé par A/B test e-commerce réel</a:t>
            </a:r>
            <a:endParaRPr lang="en-US" sz="1050" dirty="0"/>
          </a:p>
        </p:txBody>
      </p:sp>
      <p:sp>
        <p:nvSpPr>
          <p:cNvPr id="14" name="Shape 12"/>
          <p:cNvSpPr/>
          <p:nvPr/>
        </p:nvSpPr>
        <p:spPr>
          <a:xfrm>
            <a:off x="4754880" y="1143000"/>
            <a:ext cx="4114800" cy="361188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0000"/>
              </a:srgbClr>
            </a:outerShdw>
          </a:effectLst>
        </p:spPr>
      </p:sp>
      <p:sp>
        <p:nvSpPr>
          <p:cNvPr id="15" name="Shape 13"/>
          <p:cNvSpPr/>
          <p:nvPr/>
        </p:nvSpPr>
        <p:spPr>
          <a:xfrm>
            <a:off x="4754880" y="1143000"/>
            <a:ext cx="54864" cy="3611880"/>
          </a:xfrm>
          <a:prstGeom prst="rect">
            <a:avLst/>
          </a:prstGeom>
          <a:solidFill>
            <a:srgbClr val="22C55E"/>
          </a:solidFill>
          <a:ln w="12700">
            <a:solidFill>
              <a:srgbClr val="22C55E"/>
            </a:solidFill>
            <a:prstDash val="solid"/>
          </a:ln>
        </p:spPr>
      </p:sp>
      <p:sp>
        <p:nvSpPr>
          <p:cNvPr id="16" name="Text 14"/>
          <p:cNvSpPr/>
          <p:nvPr/>
        </p:nvSpPr>
        <p:spPr>
          <a:xfrm>
            <a:off x="4983480" y="1216152"/>
            <a:ext cx="3657600" cy="365760"/>
          </a:xfrm>
          <a:prstGeom prst="rect">
            <a:avLst/>
          </a:prstGeom>
          <a:noFill/>
          <a:ln/>
        </p:spPr>
        <p:txBody>
          <a:bodyPr wrap="square" lIns="0" tIns="0" rIns="0" bIns="0" rtlCol="0" anchor="ctr"/>
          <a:lstStyle/>
          <a:p>
            <a:pPr indent="0" marL="0">
              <a:buNone/>
            </a:pPr>
            <a:r>
              <a:rPr lang="en-US" sz="1400" b="1" dirty="0">
                <a:solidFill>
                  <a:srgbClr val="22C55E"/>
                </a:solidFill>
                <a:latin typeface="Calibri" pitchFamily="34" charset="0"/>
                <a:ea typeface="Calibri" pitchFamily="34" charset="-122"/>
                <a:cs typeface="Calibri" pitchFamily="34" charset="-120"/>
              </a:rPr>
              <a:t>Pistes d'amélioration</a:t>
            </a:r>
            <a:endParaRPr lang="en-US" sz="1400" dirty="0"/>
          </a:p>
        </p:txBody>
      </p:sp>
      <p:sp>
        <p:nvSpPr>
          <p:cNvPr id="17" name="Text 15"/>
          <p:cNvSpPr/>
          <p:nvPr/>
        </p:nvSpPr>
        <p:spPr>
          <a:xfrm>
            <a:off x="4983480" y="1664208"/>
            <a:ext cx="3749040" cy="384048"/>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 Recalibrer sur images haute résolution (800×800+)</a:t>
            </a:r>
            <a:endParaRPr lang="en-US" sz="1050" dirty="0"/>
          </a:p>
        </p:txBody>
      </p:sp>
      <p:sp>
        <p:nvSpPr>
          <p:cNvPr id="18" name="Text 16"/>
          <p:cNvSpPr/>
          <p:nvPr/>
        </p:nvSpPr>
        <p:spPr>
          <a:xfrm>
            <a:off x="4983480" y="2148840"/>
            <a:ext cx="3749040" cy="384048"/>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 Remplacer EasyOCR par PaddleOCR (5x plus rapide)</a:t>
            </a:r>
            <a:endParaRPr lang="en-US" sz="1050" dirty="0"/>
          </a:p>
        </p:txBody>
      </p:sp>
      <p:sp>
        <p:nvSpPr>
          <p:cNvPr id="19" name="Text 17"/>
          <p:cNvSpPr/>
          <p:nvPr/>
        </p:nvSpPr>
        <p:spPr>
          <a:xfrm>
            <a:off x="4983480" y="2633472"/>
            <a:ext cx="3749040" cy="384048"/>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 Intégrer API officielle Jumia via n8n</a:t>
            </a:r>
            <a:endParaRPr lang="en-US" sz="1050" dirty="0"/>
          </a:p>
        </p:txBody>
      </p:sp>
      <p:sp>
        <p:nvSpPr>
          <p:cNvPr id="20" name="Text 18"/>
          <p:cNvSpPr/>
          <p:nvPr/>
        </p:nvSpPr>
        <p:spPr>
          <a:xfrm>
            <a:off x="4983480" y="3118104"/>
            <a:ext cx="3749040" cy="384048"/>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 Ajouter cache CLIP local (offline)</a:t>
            </a:r>
            <a:endParaRPr lang="en-US" sz="1050" dirty="0"/>
          </a:p>
        </p:txBody>
      </p:sp>
      <p:sp>
        <p:nvSpPr>
          <p:cNvPr id="21" name="Text 19"/>
          <p:cNvSpPr/>
          <p:nvPr/>
        </p:nvSpPr>
        <p:spPr>
          <a:xfrm>
            <a:off x="4983480" y="3602736"/>
            <a:ext cx="3749040" cy="384048"/>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 Fiches en darija / arabe marocain</a:t>
            </a:r>
            <a:endParaRPr lang="en-US" sz="1050" dirty="0"/>
          </a:p>
        </p:txBody>
      </p:sp>
      <p:sp>
        <p:nvSpPr>
          <p:cNvPr id="22" name="Text 20"/>
          <p:cNvSpPr/>
          <p:nvPr/>
        </p:nvSpPr>
        <p:spPr>
          <a:xfrm>
            <a:off x="4983480" y="4087368"/>
            <a:ext cx="3749040" cy="384048"/>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 Corrélation score ↔ taux de clics réels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98A"/>
          </a:solidFill>
          <a:ln w="12700">
            <a:solidFill>
              <a:srgbClr val="00B98A"/>
            </a:solidFill>
            <a:prstDash val="solid"/>
          </a:ln>
        </p:spPr>
      </p:sp>
      <p:sp>
        <p:nvSpPr>
          <p:cNvPr id="3" name="Shape 1"/>
          <p:cNvSpPr/>
          <p:nvPr/>
        </p:nvSpPr>
        <p:spPr>
          <a:xfrm>
            <a:off x="0" y="5065776"/>
            <a:ext cx="9144000" cy="73152"/>
          </a:xfrm>
          <a:prstGeom prst="rect">
            <a:avLst/>
          </a:prstGeom>
          <a:solidFill>
            <a:srgbClr val="00B98A"/>
          </a:solidFill>
          <a:ln w="12700">
            <a:solidFill>
              <a:srgbClr val="00B98A"/>
            </a:solidFill>
            <a:prstDash val="solid"/>
          </a:ln>
        </p:spPr>
      </p:sp>
      <p:sp>
        <p:nvSpPr>
          <p:cNvPr id="4" name="Text 2"/>
          <p:cNvSpPr/>
          <p:nvPr/>
        </p:nvSpPr>
        <p:spPr>
          <a:xfrm>
            <a:off x="457200" y="457200"/>
            <a:ext cx="8229600" cy="54864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Conclusion</a:t>
            </a:r>
            <a:endParaRPr lang="en-US" sz="3000" dirty="0"/>
          </a:p>
        </p:txBody>
      </p:sp>
      <p:sp>
        <p:nvSpPr>
          <p:cNvPr id="5" name="Shape 3"/>
          <p:cNvSpPr/>
          <p:nvPr/>
        </p:nvSpPr>
        <p:spPr>
          <a:xfrm>
            <a:off x="457200" y="1005840"/>
            <a:ext cx="3657600" cy="0"/>
          </a:xfrm>
          <a:prstGeom prst="line">
            <a:avLst/>
          </a:prstGeom>
          <a:noFill/>
          <a:ln w="25400">
            <a:solidFill>
              <a:srgbClr val="00B98A"/>
            </a:solidFill>
            <a:prstDash val="solid"/>
          </a:ln>
        </p:spPr>
      </p:sp>
      <p:sp>
        <p:nvSpPr>
          <p:cNvPr id="6" name="Shape 4"/>
          <p:cNvSpPr/>
          <p:nvPr/>
        </p:nvSpPr>
        <p:spPr>
          <a:xfrm>
            <a:off x="457200" y="1234440"/>
            <a:ext cx="54864" cy="256032"/>
          </a:xfrm>
          <a:prstGeom prst="rect">
            <a:avLst/>
          </a:prstGeom>
          <a:solidFill>
            <a:srgbClr val="00B98A"/>
          </a:solidFill>
          <a:ln w="12700">
            <a:solidFill>
              <a:srgbClr val="00B98A"/>
            </a:solidFill>
            <a:prstDash val="solid"/>
          </a:ln>
        </p:spPr>
      </p:sp>
      <p:sp>
        <p:nvSpPr>
          <p:cNvPr id="7" name="Text 5"/>
          <p:cNvSpPr/>
          <p:nvPr/>
        </p:nvSpPr>
        <p:spPr>
          <a:xfrm>
            <a:off x="658368" y="1188720"/>
            <a:ext cx="7772400" cy="38404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Système complet d'analyse qualité d'images e-commerce développé et testé</a:t>
            </a:r>
            <a:endParaRPr lang="en-US" sz="1250" dirty="0"/>
          </a:p>
        </p:txBody>
      </p:sp>
      <p:sp>
        <p:nvSpPr>
          <p:cNvPr id="8" name="Shape 6"/>
          <p:cNvSpPr/>
          <p:nvPr/>
        </p:nvSpPr>
        <p:spPr>
          <a:xfrm>
            <a:off x="457200" y="1764792"/>
            <a:ext cx="54864" cy="256032"/>
          </a:xfrm>
          <a:prstGeom prst="rect">
            <a:avLst/>
          </a:prstGeom>
          <a:solidFill>
            <a:srgbClr val="00B98A"/>
          </a:solidFill>
          <a:ln w="12700">
            <a:solidFill>
              <a:srgbClr val="00B98A"/>
            </a:solidFill>
            <a:prstDash val="solid"/>
          </a:ln>
        </p:spPr>
      </p:sp>
      <p:sp>
        <p:nvSpPr>
          <p:cNvPr id="9" name="Text 7"/>
          <p:cNvSpPr/>
          <p:nvPr/>
        </p:nvSpPr>
        <p:spPr>
          <a:xfrm>
            <a:off x="658368" y="1719072"/>
            <a:ext cx="7772400" cy="38404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6 critères techniques calibrés sur données réelles Jumia Maroc</a:t>
            </a:r>
            <a:endParaRPr lang="en-US" sz="1250" dirty="0"/>
          </a:p>
        </p:txBody>
      </p:sp>
      <p:sp>
        <p:nvSpPr>
          <p:cNvPr id="10" name="Shape 8"/>
          <p:cNvSpPr/>
          <p:nvPr/>
        </p:nvSpPr>
        <p:spPr>
          <a:xfrm>
            <a:off x="457200" y="2295144"/>
            <a:ext cx="54864" cy="256032"/>
          </a:xfrm>
          <a:prstGeom prst="rect">
            <a:avLst/>
          </a:prstGeom>
          <a:solidFill>
            <a:srgbClr val="00B98A"/>
          </a:solidFill>
          <a:ln w="12700">
            <a:solidFill>
              <a:srgbClr val="00B98A"/>
            </a:solidFill>
            <a:prstDash val="solid"/>
          </a:ln>
        </p:spPr>
      </p:sp>
      <p:sp>
        <p:nvSpPr>
          <p:cNvPr id="11" name="Text 9"/>
          <p:cNvSpPr/>
          <p:nvPr/>
        </p:nvSpPr>
        <p:spPr>
          <a:xfrm>
            <a:off x="658368" y="2249424"/>
            <a:ext cx="7772400" cy="38404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Pipeline IA : DINO · GrabCut · BLIP · CLIP · EasyOCR · NLP</a:t>
            </a:r>
            <a:endParaRPr lang="en-US" sz="1250" dirty="0"/>
          </a:p>
        </p:txBody>
      </p:sp>
      <p:sp>
        <p:nvSpPr>
          <p:cNvPr id="12" name="Shape 10"/>
          <p:cNvSpPr/>
          <p:nvPr/>
        </p:nvSpPr>
        <p:spPr>
          <a:xfrm>
            <a:off x="457200" y="2825496"/>
            <a:ext cx="54864" cy="256032"/>
          </a:xfrm>
          <a:prstGeom prst="rect">
            <a:avLst/>
          </a:prstGeom>
          <a:solidFill>
            <a:srgbClr val="00B98A"/>
          </a:solidFill>
          <a:ln w="12700">
            <a:solidFill>
              <a:srgbClr val="00B98A"/>
            </a:solidFill>
            <a:prstDash val="solid"/>
          </a:ln>
        </p:spPr>
      </p:sp>
      <p:sp>
        <p:nvSpPr>
          <p:cNvPr id="13" name="Text 11"/>
          <p:cNvSpPr/>
          <p:nvPr/>
        </p:nvSpPr>
        <p:spPr>
          <a:xfrm>
            <a:off x="658368" y="2779776"/>
            <a:ext cx="7772400" cy="38404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Génération automatique de fiches produit en français</a:t>
            </a:r>
            <a:endParaRPr lang="en-US" sz="1250" dirty="0"/>
          </a:p>
        </p:txBody>
      </p:sp>
      <p:sp>
        <p:nvSpPr>
          <p:cNvPr id="14" name="Shape 12"/>
          <p:cNvSpPr/>
          <p:nvPr/>
        </p:nvSpPr>
        <p:spPr>
          <a:xfrm>
            <a:off x="457200" y="3355848"/>
            <a:ext cx="54864" cy="256032"/>
          </a:xfrm>
          <a:prstGeom prst="rect">
            <a:avLst/>
          </a:prstGeom>
          <a:solidFill>
            <a:srgbClr val="00B98A"/>
          </a:solidFill>
          <a:ln w="12700">
            <a:solidFill>
              <a:srgbClr val="00B98A"/>
            </a:solidFill>
            <a:prstDash val="solid"/>
          </a:ln>
        </p:spPr>
      </p:sp>
      <p:sp>
        <p:nvSpPr>
          <p:cNvPr id="15" name="Text 13"/>
          <p:cNvSpPr/>
          <p:nvPr/>
        </p:nvSpPr>
        <p:spPr>
          <a:xfrm>
            <a:off x="658368" y="3310128"/>
            <a:ext cx="7772400" cy="38404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Analyse concurrentielle Jumia en temps réel</a:t>
            </a:r>
            <a:endParaRPr lang="en-US" sz="1250" dirty="0"/>
          </a:p>
        </p:txBody>
      </p:sp>
      <p:sp>
        <p:nvSpPr>
          <p:cNvPr id="16" name="Shape 14"/>
          <p:cNvSpPr/>
          <p:nvPr/>
        </p:nvSpPr>
        <p:spPr>
          <a:xfrm>
            <a:off x="457200" y="3886200"/>
            <a:ext cx="54864" cy="256032"/>
          </a:xfrm>
          <a:prstGeom prst="rect">
            <a:avLst/>
          </a:prstGeom>
          <a:solidFill>
            <a:srgbClr val="00B98A"/>
          </a:solidFill>
          <a:ln w="12700">
            <a:solidFill>
              <a:srgbClr val="00B98A"/>
            </a:solidFill>
            <a:prstDash val="solid"/>
          </a:ln>
        </p:spPr>
      </p:sp>
      <p:sp>
        <p:nvSpPr>
          <p:cNvPr id="17" name="Text 15"/>
          <p:cNvSpPr/>
          <p:nvPr/>
        </p:nvSpPr>
        <p:spPr>
          <a:xfrm>
            <a:off x="658368" y="3840480"/>
            <a:ext cx="7772400" cy="38404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Interface Streamlit opérationnelle et documentée</a:t>
            </a:r>
            <a:endParaRPr lang="en-US" sz="1250" dirty="0"/>
          </a:p>
        </p:txBody>
      </p:sp>
      <p:sp>
        <p:nvSpPr>
          <p:cNvPr id="18" name="Text 16"/>
          <p:cNvSpPr/>
          <p:nvPr/>
        </p:nvSpPr>
        <p:spPr>
          <a:xfrm>
            <a:off x="0" y="4480560"/>
            <a:ext cx="9144000" cy="502920"/>
          </a:xfrm>
          <a:prstGeom prst="rect">
            <a:avLst/>
          </a:prstGeom>
          <a:noFill/>
          <a:ln/>
        </p:spPr>
        <p:txBody>
          <a:bodyPr wrap="square" lIns="0" tIns="0" rIns="0" bIns="0" rtlCol="0" anchor="ctr"/>
          <a:lstStyle/>
          <a:p>
            <a:pPr algn="ctr" indent="0" marL="0">
              <a:buNone/>
            </a:pPr>
            <a:r>
              <a:rPr lang="en-US" sz="1600" b="1" dirty="0">
                <a:solidFill>
                  <a:srgbClr val="00B98A"/>
                </a:solidFill>
                <a:latin typeface="Calibri" pitchFamily="34" charset="0"/>
                <a:ea typeface="Calibri" pitchFamily="34" charset="-122"/>
                <a:cs typeface="Calibri" pitchFamily="34" charset="-120"/>
              </a:rPr>
              <a:t>Merci pour votre attention</a:t>
            </a:r>
            <a:endParaRPr lang="en-US" sz="1600" dirty="0"/>
          </a:p>
        </p:txBody>
      </p:sp>
      <p:sp>
        <p:nvSpPr>
          <p:cNvPr id="19" name="Shape 17"/>
          <p:cNvSpPr/>
          <p:nvPr/>
        </p:nvSpPr>
        <p:spPr>
          <a:xfrm>
            <a:off x="7132320" y="914400"/>
            <a:ext cx="2926080" cy="2926080"/>
          </a:xfrm>
          <a:prstGeom prst="ellipse">
            <a:avLst/>
          </a:prstGeom>
          <a:solidFill>
            <a:srgbClr val="0E8C9B">
              <a:alpha val="12000"/>
            </a:srgbClr>
          </a:solidFill>
          <a:ln w="12700">
            <a:solidFill>
              <a:srgbClr val="0E8C9B"/>
            </a:solidFill>
            <a:prstDash val="solid"/>
          </a:ln>
        </p:spPr>
      </p:sp>
      <p:sp>
        <p:nvSpPr>
          <p:cNvPr id="20" name="Shape 18"/>
          <p:cNvSpPr/>
          <p:nvPr/>
        </p:nvSpPr>
        <p:spPr>
          <a:xfrm>
            <a:off x="7772400" y="1828800"/>
            <a:ext cx="1645920" cy="1645920"/>
          </a:xfrm>
          <a:prstGeom prst="ellipse">
            <a:avLst/>
          </a:prstGeom>
          <a:solidFill>
            <a:srgbClr val="00B98A">
              <a:alpha val="20000"/>
            </a:srgbClr>
          </a:solidFill>
          <a:ln w="12700">
            <a:solidFill>
              <a:srgbClr val="00B98A"/>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État d'Avancement — Analyse Qualité Images E-commerce</dc:title>
  <dc:subject>PptxGenJS Presentation</dc:subject>
  <dc:creator>Ahadj Idouae</dc:creator>
  <cp:lastModifiedBy>Ahadj Idouae</cp:lastModifiedBy>
  <cp:revision>1</cp:revision>
  <dcterms:created xsi:type="dcterms:W3CDTF">2026-05-12T08:24:41Z</dcterms:created>
  <dcterms:modified xsi:type="dcterms:W3CDTF">2026-05-12T08:24:41Z</dcterms:modified>
</cp:coreProperties>
</file>