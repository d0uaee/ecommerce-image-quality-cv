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0beda654fc4c62" /><Relationship Type="http://schemas.openxmlformats.org/officeDocument/2006/relationships/extended-properties" Target="/docProps/app.xml" Id="Rec9018dcff31409d" /><Relationship Type="http://schemas.openxmlformats.org/officeDocument/2006/relationships/officeDocument" Target="/ppt/presentation.xml" Id="Re7e05b2101b44d8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eb3403b613947d1"/>
  </p:sldMasterIdLst>
  <p:notesMasterIdLst>
    <p:notesMasterId xmlns:r="http://schemas.openxmlformats.org/officeDocument/2006/relationships" r:id="Ra7149b515fbf49d5"/>
  </p:notesMasterIdLst>
  <p:sldIdLst>
    <p:sldId xmlns:r="http://schemas.openxmlformats.org/officeDocument/2006/relationships" id="256" r:id="R1f139bf8ab384772"/>
    <p:sldId xmlns:r="http://schemas.openxmlformats.org/officeDocument/2006/relationships" id="257" r:id="R7f44bbde6171409c"/>
    <p:sldId xmlns:r="http://schemas.openxmlformats.org/officeDocument/2006/relationships" id="258" r:id="R25ea0903895642a8"/>
    <p:sldId xmlns:r="http://schemas.openxmlformats.org/officeDocument/2006/relationships" id="259" r:id="Rd0c5d66b6a4a49bc"/>
    <p:sldId xmlns:r="http://schemas.openxmlformats.org/officeDocument/2006/relationships" id="260" r:id="Rfa1f70b91d4346fc"/>
    <p:sldId xmlns:r="http://schemas.openxmlformats.org/officeDocument/2006/relationships" id="261" r:id="Rdde89635b40c4bd1"/>
    <p:sldId xmlns:r="http://schemas.openxmlformats.org/officeDocument/2006/relationships" id="262" r:id="R94c77cd47ca14b6d"/>
    <p:sldId xmlns:r="http://schemas.openxmlformats.org/officeDocument/2006/relationships" id="263" r:id="R0f0cf81744e54602"/>
    <p:sldId xmlns:r="http://schemas.openxmlformats.org/officeDocument/2006/relationships" id="264" r:id="Rbe3708808be14775"/>
    <p:sldId xmlns:r="http://schemas.openxmlformats.org/officeDocument/2006/relationships" id="265" r:id="R82af4dcaa3e9418d"/>
    <p:sldId xmlns:r="http://schemas.openxmlformats.org/officeDocument/2006/relationships" id="266" r:id="R2b0ac6f368434f43"/>
    <p:sldId xmlns:r="http://schemas.openxmlformats.org/officeDocument/2006/relationships" id="267" r:id="Ref41fa58724b4d93"/>
    <p:sldId xmlns:r="http://schemas.openxmlformats.org/officeDocument/2006/relationships" id="268" r:id="Rb1cb3a8dada94cd0"/>
    <p:sldId xmlns:r="http://schemas.openxmlformats.org/officeDocument/2006/relationships" id="269" r:id="R42c9a41187e34f74"/>
    <p:sldId xmlns:r="http://schemas.openxmlformats.org/officeDocument/2006/relationships" id="270" r:id="Re9287e9e05234df8"/>
    <p:sldId xmlns:r="http://schemas.openxmlformats.org/officeDocument/2006/relationships" id="271" r:id="R407dd57827004082"/>
    <p:sldId xmlns:r="http://schemas.openxmlformats.org/officeDocument/2006/relationships" id="272" r:id="Re54a0a65d0a8431d"/>
    <p:sldId xmlns:r="http://schemas.openxmlformats.org/officeDocument/2006/relationships" id="273" r:id="Rdc0a88655605451a"/>
    <p:sldId xmlns:r="http://schemas.openxmlformats.org/officeDocument/2006/relationships" id="274" r:id="Rc602b02243964dad"/>
    <p:sldId xmlns:r="http://schemas.openxmlformats.org/officeDocument/2006/relationships" id="275" r:id="Rf1f4db082cf64566"/>
    <p:sldId xmlns:r="http://schemas.openxmlformats.org/officeDocument/2006/relationships" id="276" r:id="R6977d17575b541ff"/>
    <p:sldId xmlns:r="http://schemas.openxmlformats.org/officeDocument/2006/relationships" id="277" r:id="R97011c217c4d4b1c"/>
    <p:sldId xmlns:r="http://schemas.openxmlformats.org/officeDocument/2006/relationships" id="278" r:id="R6167f094b01e4e6f"/>
    <p:sldId xmlns:r="http://schemas.openxmlformats.org/officeDocument/2006/relationships" id="279" r:id="R81b76fc5a11c4608"/>
    <p:sldId xmlns:r="http://schemas.openxmlformats.org/officeDocument/2006/relationships" id="280" r:id="R76af94e284c249ab"/>
    <p:sldId xmlns:r="http://schemas.openxmlformats.org/officeDocument/2006/relationships" id="281" r:id="R66ddc03d2b34488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b3403b613947d1" /><Relationship Type="http://schemas.openxmlformats.org/officeDocument/2006/relationships/theme" Target="/ppt/theme/theme1.xml" Id="R05447033b96d4dcd" /><Relationship Type="http://schemas.openxmlformats.org/officeDocument/2006/relationships/notesMaster" Target="/ppt/notesMasters/notesMaster1.xml" Id="Ra7149b515fbf49d5" /><Relationship Type="http://schemas.openxmlformats.org/officeDocument/2006/relationships/presProps" Target="/ppt/presProps.xml" Id="R24e67f2f85934317" /><Relationship Type="http://schemas.openxmlformats.org/officeDocument/2006/relationships/viewProps" Target="/ppt/viewProps.xml" Id="Rb4f2e6dfaccf4ef9" /><Relationship Type="http://schemas.openxmlformats.org/officeDocument/2006/relationships/tableStyles" Target="/ppt/tableStyles.xml" Id="R03e356da472d4b90" /><Relationship Type="http://schemas.openxmlformats.org/officeDocument/2006/relationships/slide" Target="/ppt/slides/slide1.xml" Id="R1f139bf8ab384772" /><Relationship Type="http://schemas.openxmlformats.org/officeDocument/2006/relationships/slide" Target="/ppt/slides/slide2.xml" Id="R7f44bbde6171409c" /><Relationship Type="http://schemas.openxmlformats.org/officeDocument/2006/relationships/slide" Target="/ppt/slides/slide3.xml" Id="R25ea0903895642a8" /><Relationship Type="http://schemas.openxmlformats.org/officeDocument/2006/relationships/slide" Target="/ppt/slides/slide4.xml" Id="Rd0c5d66b6a4a49bc" /><Relationship Type="http://schemas.openxmlformats.org/officeDocument/2006/relationships/slide" Target="/ppt/slides/slide5.xml" Id="Rfa1f70b91d4346fc" /><Relationship Type="http://schemas.openxmlformats.org/officeDocument/2006/relationships/slide" Target="/ppt/slides/slide6.xml" Id="Rdde89635b40c4bd1" /><Relationship Type="http://schemas.openxmlformats.org/officeDocument/2006/relationships/slide" Target="/ppt/slides/slide7.xml" Id="R94c77cd47ca14b6d" /><Relationship Type="http://schemas.openxmlformats.org/officeDocument/2006/relationships/slide" Target="/ppt/slides/slide8.xml" Id="R0f0cf81744e54602" /><Relationship Type="http://schemas.openxmlformats.org/officeDocument/2006/relationships/slide" Target="/ppt/slides/slide9.xml" Id="Rbe3708808be14775" /><Relationship Type="http://schemas.openxmlformats.org/officeDocument/2006/relationships/slide" Target="/ppt/slides/slide10.xml" Id="R82af4dcaa3e9418d" /><Relationship Type="http://schemas.openxmlformats.org/officeDocument/2006/relationships/slide" Target="/ppt/slides/slide11.xml" Id="R2b0ac6f368434f43" /><Relationship Type="http://schemas.openxmlformats.org/officeDocument/2006/relationships/slide" Target="/ppt/slides/slide12.xml" Id="Ref41fa58724b4d93" /><Relationship Type="http://schemas.openxmlformats.org/officeDocument/2006/relationships/slide" Target="/ppt/slides/slide13.xml" Id="Rb1cb3a8dada94cd0" /><Relationship Type="http://schemas.openxmlformats.org/officeDocument/2006/relationships/slide" Target="/ppt/slides/slide14.xml" Id="R42c9a41187e34f74" /><Relationship Type="http://schemas.openxmlformats.org/officeDocument/2006/relationships/slide" Target="/ppt/slides/slide15.xml" Id="Re9287e9e05234df8" /><Relationship Type="http://schemas.openxmlformats.org/officeDocument/2006/relationships/slide" Target="/ppt/slides/slide16.xml" Id="R407dd57827004082" /><Relationship Type="http://schemas.openxmlformats.org/officeDocument/2006/relationships/slide" Target="/ppt/slides/slide17.xml" Id="Re54a0a65d0a8431d" /><Relationship Type="http://schemas.openxmlformats.org/officeDocument/2006/relationships/slide" Target="/ppt/slides/slide18.xml" Id="Rdc0a88655605451a" /><Relationship Type="http://schemas.openxmlformats.org/officeDocument/2006/relationships/slide" Target="/ppt/slides/slide19.xml" Id="Rc602b02243964dad" /><Relationship Type="http://schemas.openxmlformats.org/officeDocument/2006/relationships/slide" Target="/ppt/slides/slide20.xml" Id="Rf1f4db082cf64566" /><Relationship Type="http://schemas.openxmlformats.org/officeDocument/2006/relationships/slide" Target="/ppt/slides/slide21.xml" Id="R6977d17575b541ff" /><Relationship Type="http://schemas.openxmlformats.org/officeDocument/2006/relationships/slide" Target="/ppt/slides/slide22.xml" Id="R97011c217c4d4b1c" /><Relationship Type="http://schemas.openxmlformats.org/officeDocument/2006/relationships/slide" Target="/ppt/slides/slide23.xml" Id="R6167f094b01e4e6f" /><Relationship Type="http://schemas.openxmlformats.org/officeDocument/2006/relationships/slide" Target="/ppt/slides/slide24.xml" Id="R81b76fc5a11c4608" /><Relationship Type="http://schemas.openxmlformats.org/officeDocument/2006/relationships/slide" Target="/ppt/slides/slide25.xml" Id="R76af94e284c249ab" /><Relationship Type="http://schemas.openxmlformats.org/officeDocument/2006/relationships/slide" Target="/ppt/slides/slide26.xml" Id="R66ddc03d2b3448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c655d0645614f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58a55c764b4bb4" /><Relationship Type="http://schemas.openxmlformats.org/officeDocument/2006/relationships/notesMaster" Target="/ppt/notesMasters/notesMaster1.xml" Id="Rf1e8389320fd43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5415fbf34a04bc2" /><Relationship Type="http://schemas.openxmlformats.org/officeDocument/2006/relationships/notesMaster" Target="/ppt/notesMasters/notesMaster1.xml" Id="R85d28edf8bce45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55732daad14fd8" /><Relationship Type="http://schemas.openxmlformats.org/officeDocument/2006/relationships/notesMaster" Target="/ppt/notesMasters/notesMaster1.xml" Id="Rc18d9c80d69a4b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92ed6b3c0fd4b84" /><Relationship Type="http://schemas.openxmlformats.org/officeDocument/2006/relationships/notesMaster" Target="/ppt/notesMasters/notesMaster1.xml" Id="Ra5253e5cfe0d48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d4189f50d446d9" /><Relationship Type="http://schemas.openxmlformats.org/officeDocument/2006/relationships/notesMaster" Target="/ppt/notesMasters/notesMaster1.xml" Id="Rfe495d83a30d41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050307ca11846bf" /><Relationship Type="http://schemas.openxmlformats.org/officeDocument/2006/relationships/notesMaster" Target="/ppt/notesMasters/notesMaster1.xml" Id="R4051bb4ff9864b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9cd260c1794309" /><Relationship Type="http://schemas.openxmlformats.org/officeDocument/2006/relationships/notesMaster" Target="/ppt/notesMasters/notesMaster1.xml" Id="R5811a30e76514a3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a1b8b301c94b0f" /><Relationship Type="http://schemas.openxmlformats.org/officeDocument/2006/relationships/notesMaster" Target="/ppt/notesMasters/notesMaster1.xml" Id="R3ab0605ad40840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4adf6da1c474832" /><Relationship Type="http://schemas.openxmlformats.org/officeDocument/2006/relationships/notesMaster" Target="/ppt/notesMasters/notesMaster1.xml" Id="R6c97374b490a4fe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0cb7e776f84420" /><Relationship Type="http://schemas.openxmlformats.org/officeDocument/2006/relationships/notesMaster" Target="/ppt/notesMasters/notesMaster1.xml" Id="R8866449a3f6a496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42b47869094918" /><Relationship Type="http://schemas.openxmlformats.org/officeDocument/2006/relationships/notesMaster" Target="/ppt/notesMasters/notesMaster1.xml" Id="R3791717916fb4c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f9dbf09104e41c3" /><Relationship Type="http://schemas.openxmlformats.org/officeDocument/2006/relationships/notesMaster" Target="/ppt/notesMasters/notesMaster1.xml" Id="Rc398a66ef6684d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cd3b4488e7a40d7" /><Relationship Type="http://schemas.openxmlformats.org/officeDocument/2006/relationships/notesMaster" Target="/ppt/notesMasters/notesMaster1.xml" Id="R19f5cdfa2bf049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f0e0f20aa804341" /><Relationship Type="http://schemas.openxmlformats.org/officeDocument/2006/relationships/notesMaster" Target="/ppt/notesMasters/notesMaster1.xml" Id="R0ee14611162a44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d72a12b03dc4251" /><Relationship Type="http://schemas.openxmlformats.org/officeDocument/2006/relationships/notesMaster" Target="/ppt/notesMasters/notesMaster1.xml" Id="R333c84ae5bb7447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980e224f736445b" /><Relationship Type="http://schemas.openxmlformats.org/officeDocument/2006/relationships/notesMaster" Target="/ppt/notesMasters/notesMaster1.xml" Id="R67ce88e9affa4c1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a0e7f8c8fd483e" /><Relationship Type="http://schemas.openxmlformats.org/officeDocument/2006/relationships/notesMaster" Target="/ppt/notesMasters/notesMaster1.xml" Id="R7a1819ee80824e0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ac9a729d27a43b1" /><Relationship Type="http://schemas.openxmlformats.org/officeDocument/2006/relationships/notesMaster" Target="/ppt/notesMasters/notesMaster1.xml" Id="Rcb086f848fef4b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f81c4ad22a74303" /><Relationship Type="http://schemas.openxmlformats.org/officeDocument/2006/relationships/notesMaster" Target="/ppt/notesMasters/notesMaster1.xml" Id="Rd6661d705a664f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b46cc2eb7234986" /><Relationship Type="http://schemas.openxmlformats.org/officeDocument/2006/relationships/notesMaster" Target="/ppt/notesMasters/notesMaster1.xml" Id="R62cb856c7f30469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55d7507917442a" /><Relationship Type="http://schemas.openxmlformats.org/officeDocument/2006/relationships/notesMaster" Target="/ppt/notesMasters/notesMaster1.xml" Id="R9a2257ed6e144b2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9956dd70df54ddd" /><Relationship Type="http://schemas.openxmlformats.org/officeDocument/2006/relationships/notesMaster" Target="/ppt/notesMasters/notesMaster1.xml" Id="R56bad552bcbb444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c37ae4619844ee7" /><Relationship Type="http://schemas.openxmlformats.org/officeDocument/2006/relationships/notesMaster" Target="/ppt/notesMasters/notesMaster1.xml" Id="R173f710207df465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6af93cf7e2f4095" /><Relationship Type="http://schemas.openxmlformats.org/officeDocument/2006/relationships/notesMaster" Target="/ppt/notesMasters/notesMaster1.xml" Id="R73896eea735c423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0dcccbd74d9e4de9" /><Relationship Type="http://schemas.openxmlformats.org/officeDocument/2006/relationships/notesMaster" Target="/ppt/notesMasters/notesMaster1.xml" Id="R667e422e842249a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8f404d749324233" /><Relationship Type="http://schemas.openxmlformats.org/officeDocument/2006/relationships/notesMaster" Target="/ppt/notesMasters/notesMaster1.xml" Id="Rdcd26a571d7e424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b561eba46843f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58a799269e947ed" /><Relationship Type="http://schemas.openxmlformats.org/officeDocument/2006/relationships/slideLayout" Target="/ppt/slideLayouts/slideLayout2.xml" Id="Rdf02a69d49ef4e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02a69d49ef4e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fbb8d8c49c436c" /><Relationship Type="http://schemas.openxmlformats.org/officeDocument/2006/relationships/notesSlide" Target="/ppt/notesSlides/notesSlide1.xml" Id="Rfddee1b7384b4df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5d3650ca6aa4023" /><Relationship Type="http://schemas.openxmlformats.org/officeDocument/2006/relationships/notesSlide" Target="/ppt/notesSlides/notesSlide2.xml" Id="R23ce6fb277804af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c9c23db13e4af5" /><Relationship Type="http://schemas.openxmlformats.org/officeDocument/2006/relationships/notesSlide" Target="/ppt/notesSlides/notesSlide3.xml" Id="R59f97c9b764c42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852f96b12a488b" /><Relationship Type="http://schemas.openxmlformats.org/officeDocument/2006/relationships/notesSlide" Target="/ppt/notesSlides/notesSlide4.xml" Id="R32329094f39644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c849ec9d8f4744" /><Relationship Type="http://schemas.openxmlformats.org/officeDocument/2006/relationships/notesSlide" Target="/ppt/notesSlides/notesSlide5.xml" Id="R0f75ad1df0a34a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bff05a638c4234" /><Relationship Type="http://schemas.openxmlformats.org/officeDocument/2006/relationships/notesSlide" Target="/ppt/notesSlides/notesSlide6.xml" Id="Rf12fedb83208435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e93d8cac1c42c9" /><Relationship Type="http://schemas.openxmlformats.org/officeDocument/2006/relationships/notesSlide" Target="/ppt/notesSlides/notesSlide7.xml" Id="R15284af5e85040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4dbabb91ad405a" /><Relationship Type="http://schemas.openxmlformats.org/officeDocument/2006/relationships/notesSlide" Target="/ppt/notesSlides/notesSlide8.xml" Id="R5ad36daf650c41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6d0e5228914d99" /><Relationship Type="http://schemas.openxmlformats.org/officeDocument/2006/relationships/notesSlide" Target="/ppt/notesSlides/notesSlide9.xml" Id="R4c5cf3299dfb421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d04117a89c45c3" /><Relationship Type="http://schemas.openxmlformats.org/officeDocument/2006/relationships/notesSlide" Target="/ppt/notesSlides/notesSlide10.xml" Id="R00bf3ea12a5e4d9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26490f49d54284" /><Relationship Type="http://schemas.openxmlformats.org/officeDocument/2006/relationships/notesSlide" Target="/ppt/notesSlides/notesSlide11.xml" Id="R0c914f8a816948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f11169faab465c" /><Relationship Type="http://schemas.openxmlformats.org/officeDocument/2006/relationships/notesSlide" Target="/ppt/notesSlides/notesSlide12.xml" Id="Refba7d33685143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329ac450e94b30" /><Relationship Type="http://schemas.openxmlformats.org/officeDocument/2006/relationships/notesSlide" Target="/ppt/notesSlides/notesSlide13.xml" Id="R25b95563b3a8447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3844f7a614528" /><Relationship Type="http://schemas.openxmlformats.org/officeDocument/2006/relationships/notesSlide" Target="/ppt/notesSlides/notesSlide14.xml" Id="Rae550011efba4e0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2cfef81744fb2" /><Relationship Type="http://schemas.openxmlformats.org/officeDocument/2006/relationships/notesSlide" Target="/ppt/notesSlides/notesSlide15.xml" Id="R7adad3f8efcd498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4ec18b4e494ee7" /><Relationship Type="http://schemas.openxmlformats.org/officeDocument/2006/relationships/notesSlide" Target="/ppt/notesSlides/notesSlide16.xml" Id="R96ecdfda76f2454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faa63d86914382" /><Relationship Type="http://schemas.openxmlformats.org/officeDocument/2006/relationships/image" Target="/ppt/media/image.jpeg" Id="Reacab9c4285142b0" /><Relationship Type="http://schemas.openxmlformats.org/officeDocument/2006/relationships/image" Target="/ppt/media/image2.jpeg" Id="R95ff515041094c92" /><Relationship Type="http://schemas.openxmlformats.org/officeDocument/2006/relationships/image" Target="/ppt/media/image3.jpeg" Id="R7cb9a5d3d4ed449a" /><Relationship Type="http://schemas.openxmlformats.org/officeDocument/2006/relationships/notesSlide" Target="/ppt/notesSlides/notesSlide17.xml" Id="R50cb05772ad4409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47aba837d34f22" /><Relationship Type="http://schemas.openxmlformats.org/officeDocument/2006/relationships/image" Target="/ppt/media/image4.jpeg" Id="R8ba9973d6fcf4e09" /><Relationship Type="http://schemas.openxmlformats.org/officeDocument/2006/relationships/image" Target="/ppt/media/image5.jpeg" Id="R04ecce0480684bdc" /><Relationship Type="http://schemas.openxmlformats.org/officeDocument/2006/relationships/image" Target="/ppt/media/image6.jpeg" Id="R31eb665c40d747c4" /><Relationship Type="http://schemas.openxmlformats.org/officeDocument/2006/relationships/image" Target="/ppt/media/image7.jpeg" Id="R61ba314f6f904379" /><Relationship Type="http://schemas.openxmlformats.org/officeDocument/2006/relationships/notesSlide" Target="/ppt/notesSlides/notesSlide18.xml" Id="R764cbe5bee6e4bf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a1b611bbe4664" /><Relationship Type="http://schemas.openxmlformats.org/officeDocument/2006/relationships/notesSlide" Target="/ppt/notesSlides/notesSlide19.xml" Id="R58c09d965e0a4d0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817c385e5e04cf1" /><Relationship Type="http://schemas.openxmlformats.org/officeDocument/2006/relationships/notesSlide" Target="/ppt/notesSlides/notesSlide20.xml" Id="Reb877e0d07c04a2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56921a875f4c6e" /><Relationship Type="http://schemas.openxmlformats.org/officeDocument/2006/relationships/image" Target="/ppt/media/image.png" Id="R25d6cf23ae0d49fa" /><Relationship Type="http://schemas.openxmlformats.org/officeDocument/2006/relationships/notesSlide" Target="/ppt/notesSlides/notesSlide21.xml" Id="Re3a514a3bcac4e1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15af3468dc54f86" /><Relationship Type="http://schemas.openxmlformats.org/officeDocument/2006/relationships/image" Target="/ppt/media/image8.jpeg" Id="R398ed248b4c64dfe" /><Relationship Type="http://schemas.openxmlformats.org/officeDocument/2006/relationships/notesSlide" Target="/ppt/notesSlides/notesSlide22.xml" Id="R58c601dbbaf8449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abbc79aa814e35" /><Relationship Type="http://schemas.openxmlformats.org/officeDocument/2006/relationships/notesSlide" Target="/ppt/notesSlides/notesSlide23.xml" Id="R145421f6ecd4483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116e4d291c44f77" /><Relationship Type="http://schemas.openxmlformats.org/officeDocument/2006/relationships/notesSlide" Target="/ppt/notesSlides/notesSlide24.xml" Id="Rd458c9c6e05d413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283d7a132749d3" /><Relationship Type="http://schemas.openxmlformats.org/officeDocument/2006/relationships/notesSlide" Target="/ppt/notesSlides/notesSlide25.xml" Id="Rc9673a1aa1f3456b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53894cb2064cdf" /><Relationship Type="http://schemas.openxmlformats.org/officeDocument/2006/relationships/notesSlide" Target="/ppt/notesSlides/notesSlide26.xml" Id="R133f8e0fb6dd4b1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262BCD-BD07-4397-8833-FD170C83C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1BEC28-B023-48F8-B447-8A7F4DA7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C6FAB-B79D-4834-8187-FC6F2243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9650"/>
            <a:ext cx="952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6D227-EFB8-4B4D-AA97-F5A7D02F1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047750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Soutenance PFE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536816-F340-4C5A-9CD0-7CA95AA4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85900"/>
            <a:ext cx="61912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Systeme zero-shot d'evaluation automatique de la qualite d'images produit e-commerce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D6C0C-06E9-4F6D-AB31-1F9B5BBF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00400"/>
            <a:ext cx="571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Pipeline multimodal explicable combinant NLP, region proposal, CLIP, heuristiques visuelles et recommandations vendeur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87C20-086E-4758-8B6D-F30E6AEA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276350"/>
            <a:ext cx="1714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58DB3-D29E-4425-AE75-3018C9788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4478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rPr>
              <a:t>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C2378C-2735-448C-AB9F-891683D4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19050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entrainement local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CA46C-5CBD-4075-AC85-0EFAD263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127635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B56415-6F9F-4ED5-B1C2-FF92F40A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4478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rPr>
              <a:t>180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3AACDD-58DF-48C4-9FED-FEF46169C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050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images propres finales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91F8CC-F801-44C0-82B2-6E2374360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33650"/>
            <a:ext cx="1714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CCC0C6-2E52-4B60-AAC0-1B28CD000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051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rPr>
              <a:t>3240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5C54FE-34A1-4CA4-80F7-EB88CBF0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1623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images degradees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E87329-1725-4322-A772-55150A6F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3365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B4E326-2C6C-4D43-8F1D-602F3C1C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051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rPr>
              <a:t>rho = 0.38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7A8D07-5090-4C90-B276-9D11C005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1623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correlation Spearman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5BBA9-C459-43D1-AED8-6F77896E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1025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Duree cible de la soutenance : environ 1 heure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9E9A31-C0D6-401C-A6F1-E4CBE471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6D94A-89FA-4B2D-A152-1B0CBFBE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3586386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193122-31A9-4058-BFBA-E4C2C6CC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2F9DD-08F3-4723-B539-3177B4F0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1B3FC-74FF-44FC-BAAF-CBB4B0123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DB6CBA-0538-41F5-B78B-C47FC52F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Plan detaille de la soutenance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EFF32C-2D8B-4503-BF70-914FB1933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Une progression en 8 chapitres pour couvrir le probleme, la conception, l'evaluation et les limites.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C4596-4AE4-4BB1-987A-019CBF35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93B96-BAD2-4FB7-9926-255E91A1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Partie 1 - Cadrage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017FD-4188-4CBE-A950-E0E1DCDAA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AC162-EBF5-4B99-8DB3-A273FD6F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Contexte e-commerce et motivation du sujet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6E93B9-8C57-429B-8AFF-0C53DCA17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17808-E911-4F2D-824C-C8435C85B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Problematique, question de recherche et objectifs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40EBD6-0DA5-47C1-B8FF-D92A3C52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D7CE5-68DB-4AE8-8DFD-4EB07668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Hypotheses scientifiques et contraintes du PFE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9A77DC-39B9-47E5-88FA-444AC3B8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185453-64E6-4BA4-8BC6-4FBB1736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Partie 2 - Conception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96EBAC-343B-4A71-91E2-F57DDE27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25BD17-E324-44DB-9433-27775E23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Architecture globale du pipeline zero-shot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3E4775-928E-4C0E-93AA-C966B202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494F66-23EF-4F24-AF0B-F48B61B4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Description detaillee de chaque module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5096BF-2C7F-4665-BA9D-0A95EF8F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8271ED-937A-4A74-BF9C-661CD287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Choix techniques et configuration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F98DAD-8726-4F7A-883C-DD89D41AB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F6E050-5BDA-411E-AD6C-12A4F254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Partie 3 - Donnees et validation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7663D2-AB2C-4A94-B7F3-EAA6A4B95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D080F1-EBAE-40AA-B170-82B8D659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Construction du dataset final et degradations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ACDC4E-8D49-402C-AAF1-374E1207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C4F45-99E5-47DE-B9F4-5FB5DBFD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Protocoles d'evaluation auto et humaine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6673FE-8117-49F7-8861-35EDD602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76AC23-E143-48D5-B0E8-62C675EA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Resultats, limites et perspectives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1252C2-F0AF-4638-9AD9-AA85BE89B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74AFF4-8A9B-41D0-8BCC-2163BB3F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10591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Temps moyen recommande : 2 a 3 minutes par slide technique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EB8654-0518-4CB3-AB19-4BA3C2C1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EAAF65-8640-4E60-BE6E-5EED41A3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10591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Deux moments demo possibles : architecture et application Streamlit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797D39-4B54-4C68-AE9A-7EE416C5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C57223-1E85-4191-9925-7A42561C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105918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Les chiffres montres dans le deck viennent des rapports du projet final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95F9E1-8526-4629-B664-FFCB1FCC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C862649-88CF-4AED-B75B-FFDC4084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76985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CC18D3-35B4-4745-8136-C889C81E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06284-1B89-43A4-8FEB-C01C8313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25B089-8527-4C6F-843D-8D789996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CONTEXTE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DBBB9D-12D0-41A4-9CA0-A56667FEC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Pourquoi ce sujet est utile pour le e-commerce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E60B0-CF9F-4680-88A0-3A780B985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Les petits vendeurs ont rarement des moyens professionnels pour produire des photos produit constantes.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C9A01-E183-47CB-A595-D0CA99F7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524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7137A0-1316-43A5-8297-A91CE24A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Problemes observes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60DBB-40CE-4814-ADA6-A53E1E17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9AB15-0B5B-45AA-B29A-B689ACF88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Photos floues ou mal exposees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3B753-4B97-4518-8310-6D58CBEF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5B5ECC-865F-4D24-9E87-84BA98FAA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Cadrage incomplet ou produit trop petit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A6949-B5DE-4B2E-B9F0-FECF2905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F6033-80A9-40D5-9E62-550B85E5A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Incoherence entre image et fiche produit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862605-475E-45B3-8BF2-1F90A7C22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8C05DD-B4A9-42AC-AF96-D3A9C91A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Qualite visuelle tres heterogene d'une annonce a l'autre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B02F9C-61A0-4556-88EA-B345ADA1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3524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6D60EB-A3D8-4892-9A09-CD040230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47900"/>
            <a:ext cx="3181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Impact metier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FEF84E-B86D-48BA-AB66-F225E74B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921DF-4314-45FA-A103-09AB61B8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289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Moindre confiance du client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8A9904-F591-480D-B85D-DB9BB56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41A10F-4FE1-44F1-A3DA-69E45B5F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956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Baisse du taux de conversion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EE7BDB-FD7A-4272-99B8-ED6D0C54B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40337B-5C5B-4ED6-84DA-9CF8423F1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623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Retours plus probables si le produit est mal represente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A74FCB-E3E1-4EC4-8988-1D9A0174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974C3C-0C6E-415C-86AF-63BEA50D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Temps perdu a corriger ou republier des fiches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410646-A0C7-4DE0-AB05-01D25B917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3524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CB1353-A9E6-4573-B28A-E746DD68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3181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Besoin reel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DC6DED-5780-4AA8-96A5-80C055EB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75565D-A0EA-4B9D-9A9E-9801ECE5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Un outil simple, rapide et interpretable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533C93-D639-43C6-A87D-2A8A53BA1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99C247-F1FD-4559-A343-4BD861397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Sans entrainement couteux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4C06EE-EE55-4EBE-A9F0-AC85549D7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F5580D-E3AF-4D69-960E-8921052A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Capable de donner un score et des conseils concrets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93BCC3-26B3-4A16-A09C-3D116A278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94378F-CC9D-49E6-95F9-9608CC4A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29000"/>
            <a:ext cx="3009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Utilisable par un non-expert de la photographie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537A284-3E84-4A91-BF29-5D7CF075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D87DDF-BD08-408D-B2D2-1C9F0A1AE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098235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92F36B-BF14-4852-A3D3-9BD15521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7D1C8-B8E2-4E88-B0C5-88DDFF22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9D958D-DF6E-40A2-A029-D028A5C1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D543E-DCE6-4243-8E1D-F70B1AA3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Problematique et question de recherche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9C0CD-0377-4A09-BE7D-2AB2C80D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Comment evaluer automatiquement la qualite d'une photo produit sans entrainer un modele specifique 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C3BC4-51F6-486A-AC57-3B847951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334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9AA1A-2809-4D80-AB7B-4BC69AEAB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99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Question de recherche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BE9AD7-3200-4190-B56A-1D53C9756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A41B82-2236-46D3-BF0B-A524F42C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Peut-on construire un score de qualite pertinent en combinant texte, vision classique et CLIP 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20B90E-9015-447E-B06F-06966C747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7D2BA-4B92-4F11-9FE3-40AAB78F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Peut-on garder un systeme explicable et defendable scientifiquement dans un delai court 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7EA795-1B1C-40A3-8DEC-D95718745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DE0A9C-089B-4DB3-BC9E-CAC43C18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2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Reponse proposee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7AB15-D149-4DF2-B6AD-E2F367DB2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17A60-D25D-4E63-B083-AABE7A8F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Oui, via une architecture zero-shot multimodale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A09B9A-0952-40F7-92F1-7A3070AB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A6276C-DBC4-401C-9EE1-94342BA6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56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texte de l'annonce sert de verite d'entree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ACC69B-41AD-4BEC-BE75-6D4D82A8B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C50360-9311-48C3-88FB-756ADE62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produit cible est selectionne avant l'analyse de qualite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F1DC63-E14F-49FF-8BA5-7B9AB9C6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E27408-DEE8-4F83-8443-ABB92CC1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Les mesures sont interpretable et visibles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7F9C57-7416-4DB3-A08F-60833D16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0A159C-ECC1-49A3-9A7D-44CA0A02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4340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Objectif principal : score global de qualite photo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75B7F0-5CB6-4E3D-9171-1448B543A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8307FD-4B08-4C4F-8695-DEDA477B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Objectif secondaire : conseils d'amelioration directement actionnables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E39370-F428-4AEF-8720-2DACEF54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D83FA0-514F-49E7-B580-8E269B37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9110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Objectif methodologique : eviter l'entrainement local tout en gardant une evaluation quantitative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606FF4-9FBF-4700-ACCF-BC53DAFF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EA844C2-385D-4EAF-95B9-BFFC8AEE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0846105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09B59C-018A-4D0D-B6DC-1847DE2C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30BB6-3E07-444E-972E-5DFFAF2B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644BB0-9270-471B-AC88-C06CAB4E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CONTRIBUTIONS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4DC9F5-73BE-4100-84F2-5FE15B12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Contributions du projet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BBCDA-9ADD-4E2C-A751-43189B0BD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projet apporte une solution complete, explicable et evaluee experimentalement.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60101-CEE3-46A1-ACF6-4B72C0B4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A93941-ABF8-4CF4-A316-207A63458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Contribution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1B3DA-441B-4557-A061-1EAE171D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142038-66AE-43E8-97E0-4315F988A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Architecture zero-shot complete pour l'evaluation photo e-commerce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596D84-D2F7-4B9C-B041-D8EA081D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6BB66-B2C1-4E05-A0CC-4B570DA23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Aucun entrainement de modele dans le depot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747D47-48D7-4C0E-A3C5-905C47C95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C995D-B8FB-4126-9C13-46CA18653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Contribution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681E8-8324-474F-8E61-9AA5CAB8B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DB954E-EFF6-47C6-8088-A3DC0566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Selection du bon produit via regions candidates + CLIP + heuristiques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FE73C6-9295-4820-9981-8D84108A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4535E0-957B-42DD-91A2-7D195240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Explicabilite du crop retenu et des sous-scores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94F8D-D1E5-4511-BB6F-2A45142A7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4BDF93-8695-46D3-B491-042DA2FF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Contribution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4F337-14EB-489F-8C22-27122EAF5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A00677-E953-4D7A-AB0F-9CB37615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Dataset final propre + degradations controlees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650546-C79A-4507-B0F8-711FE1448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2FD31F-3A28-4A78-8107-8C1B09F0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Validation automatique et evaluation humaine finale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6DA366-5DC3-43F4-9D6F-B8424C9B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17A58A-4F48-4EAF-8352-87D56EFC6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Valeur scientifique : combinaison multimodale explicable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346B3-7CFC-4088-8271-16FDDA91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A14706-5280-4B1B-A9A8-98DC50C81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Valeur pratique : application Streamlit demonstrable pour un vendeur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42D9DE-0CBE-4477-89B4-EEA1F2D0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9BABF7-232E-4AB5-9D88-FDCA7C19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24450"/>
            <a:ext cx="10496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Valeur experimentale : protocoles reproductibles et rapport final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422546-663B-47CE-BCAF-5FC25BEA5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4E1C3D-F29E-403F-AC7C-1ABB67124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3070633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1E4977-3C95-4D3E-9744-37A32BDE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8C8A1D-84C5-432C-BF89-EBB947E97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497FC-9E50-45C6-9781-C0E29453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HYPOTHESES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2D727B-74FA-4A87-ABC5-FBC45452C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Hypotheses structurantes et contraintes du PFE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083DF4-2551-44F1-A42E-D470A701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Ces choix delimitent le scope et rendent le projet realisable sur environ deux mois.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336CDF-51B7-48B9-8A14-45303B46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334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2129A-6F60-49FF-AE6D-64240F145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99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Hypotheses fortes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3D9D10-CD5F-4CBF-80EE-CA4A38E56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823E6-5B85-46BA-ACB4-0717575A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texte de l'annonce est la source de verite principale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B852C4-8144-4DFA-8757-99EE8F33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58B60D-7DF9-4133-ABF8-4A36986A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Pas d'OCR dans le chemin critique du scoring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18604-C1CD-4FAF-853E-E3C8BBA0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3BA1AB-2DE4-485D-A6AD-D25C70E4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Pas d'entrainement local de modele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EA54B5-7824-45BC-B684-55E24DD5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6993E4-8036-47D3-9DA1-5815CE1C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Les mauvaises images sont generees par degradations controlees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26A0B-8C7F-4F1D-ACBA-D0BB3D00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384E48-4F5E-47C4-96B9-F0D238249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2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Contraintes de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47221C-15DA-497E-A1B5-1F884FB6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B53BEB-A1EB-46A3-84B1-9270DE1B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Trois familles seulement : shoes, clothing, portable_electronics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311D5B-0180-4725-98B1-EDCB48FC7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38482F-0A3B-4951-A8B0-C6B9893E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56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systeme doit rester interpretable et presentable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982421-3B4D-4758-A869-41B6AC5D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EFFDC3-834B-4004-937F-DBC49C2E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temps disponible impose des choix pragmatiques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2230CA-F1CA-4A8F-A1F9-50DB0F4A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A016D7-2370-4767-8CD2-B44A56B4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Les recommandations doivent rester simples pour un vendeur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C15CC0-BB21-420E-9D80-468F34F2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0C513F-5BE2-4608-B3C3-FCE6F8FF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2049363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10AB0D-87CE-4E90-A1E2-74F50FCC2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5AD6A-F70F-4EF4-BF55-F661A1FB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C713D-9C62-4C10-A865-4AAA80343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POSITIONNEMENT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1781CE-72AD-4713-93C9-511B36FB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Pourquoi une approche zero-shot plutot qu'une approche supervisee 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D689E7-841A-4C0E-94F7-F55A6A7E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choix n'est pas de battre un benchmark deep learning, mais de construire une solution credible, legere et explicable.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A9520-7567-4E10-BD53-70B83993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FBC25-EB3C-4328-87BC-4E300E93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99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Approche supervisee classique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3A5BBE-D4AA-41A4-A9DF-4E0D22A0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5D4D4-AE0E-4E52-B5A5-EA2B1C04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Besoin d'un grand dataset annote manuellement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7D3F52-ECB3-41C8-8417-1486DB85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A751E8-981B-469C-8569-2E8CEAECE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Cout de preparation et d'entrainement eleve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185325-18BD-4D6C-A2F8-8CB32A1B7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B057D-6A98-43E0-A58E-F7BA5FEB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Moins interpretable pour un petit PFE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B75FD-C449-495D-843C-8A928FA46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CEE8E5-2CE4-482A-9765-52B1BC2A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Risque d'etre hors delai pour 2 mois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CC0909-549D-476A-A434-1DBDAFEB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8C9D00-AF07-4AE5-AE23-6BFB2569E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2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Approche retenue ici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E1832D-FB5E-4BFC-934A-32F8E770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5DB104-3A8C-4A91-A4AB-92F5E9935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Reutilisation de modeles pre-entraines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53ABC5-FC8C-49C9-A3C3-363E511B4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F802A5-304B-4DD0-A6A1-09C32234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56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Fusion texte + image + heuristiques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D94C32-0BF1-4384-B91D-A04C15BB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93D429-753F-48C0-A86A-427FBFA60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Explicabilite des etapes de decision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540658-6423-400E-8ADA-12CD87F1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109336-C68C-4C08-B92D-7EA121A1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Validation via degradations controlees et corrrelation humaine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C2CAE8-6366-411B-A88C-089E34D3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464B0F-F11C-4BA9-BB45-4F5FA98C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1521150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ECF763-22E7-48A0-9CE9-AE36FCE0B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1815A-9A12-40F7-80B3-66EAAF34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76D6A-AFC9-4B3E-B624-9D25347A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062E47-8EA2-4D47-A7D2-769A5D8C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Architecture globale du systeme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685B3D-08D1-495A-9C9E-98D3D635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pipeline suit une logique simple : comprendre le texte, localiser le produit, analyser sa qualite, puis expliquer le resultat.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231184-5A36-4AA2-86C9-FABC486C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17145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33A"/>
          </a:solidFill>
          <a:ln xmlns:a="http://schemas.openxmlformats.org/drawingml/2006/main" w="9525">
            <a:solidFill>
              <a:srgbClr val="2C3B5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8545D2-41B0-4305-B9D1-A20CE7B9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Entree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08E3A7-C282-4318-976A-9376E330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40970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Image produit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+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Titre + description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461A32-AB98-41FE-AA88-57C4D4E4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81250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33A"/>
          </a:solidFill>
          <a:ln xmlns:a="http://schemas.openxmlformats.org/drawingml/2006/main" w="9525">
            <a:solidFill>
              <a:srgbClr val="2C3B5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8CAF3-C627-4EB6-9795-910C46E2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146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Text Processor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0B240-495E-4092-ABF3-7D40BF30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00350"/>
            <a:ext cx="15049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Nettoyage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Extraction couleur / categorie / marque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Embedding CLIP texte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F1B13A-87C2-4280-A9C2-500A88F1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81250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33A"/>
          </a:solidFill>
          <a:ln xmlns:a="http://schemas.openxmlformats.org/drawingml/2006/main" w="9525">
            <a:solidFill>
              <a:srgbClr val="2C3B5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9D0C35-6965-4609-963A-A56A1A71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146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Region Generator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241C3A-07C7-42C4-B67F-44D952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800350"/>
            <a:ext cx="15049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Saliency OpenCV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Contours fallback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Maximum 5 regions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528953-9A2D-41F5-99CE-548C49C4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381250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33A"/>
          </a:solidFill>
          <a:ln xmlns:a="http://schemas.openxmlformats.org/drawingml/2006/main" w="9525">
            <a:solidFill>
              <a:srgbClr val="2C3B5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D9804D-7E51-465A-9AF6-3C1DE541A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5146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Selector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127E67-5A4B-44B9-AF95-111A2928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00350"/>
            <a:ext cx="15049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CLIP image/texte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 visuel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Coherence categorie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0FBAE-8DDD-45A3-89F6-B3DF2116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381250"/>
            <a:ext cx="180975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233A"/>
          </a:solidFill>
          <a:ln xmlns:a="http://schemas.openxmlformats.org/drawingml/2006/main" w="9525">
            <a:solidFill>
              <a:srgbClr val="2C3B5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2D6F81-B462-4249-A62C-6BA3C5AA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146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Analyzer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63A3C-215D-4579-BC80-7920CCE0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800350"/>
            <a:ext cx="1504950" cy="847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Nettete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Exposition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Contraste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Resolution</a:t>
            </a:r>
          </a:p>
          <a:p xmlns:a="http://schemas.openxmlformats.org/drawingml/2006/main">
            <a:pPr algn="ctr">
              <a:defRPr sz="9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Coherence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F8955-6059-4A35-90FF-7C0A2DB0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057525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F98A34-5E79-42D4-A629-4B9EFA1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9900"/>
            <a:ext cx="13335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133DA0-5950-4F4D-B840-469F517C0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57525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FFCC05-8445-45C3-9443-B57B778A2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09900"/>
            <a:ext cx="13335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DB7FCE-511C-49B0-B469-0FF23115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57525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AE8F9D-D6E3-4C78-9062-0AF29E46B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009900"/>
            <a:ext cx="13335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1B47F8-53D2-4FCD-8E15-9D6D6946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57525"/>
            <a:ext cx="47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4051D4-54C9-4ECE-A035-64E6BA325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009900"/>
            <a:ext cx="133350" cy="13335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41CE4B-C63D-4D0F-BD68-1D99D778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434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Sorties finales : crop selectionne, score global, sous-scores explicables, recommandations FR / Darija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4A791-726E-4D09-BC80-164EA8BFD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F16094-AC1F-4AFD-8B9A-51D6FBAEC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28669105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7464B0-1A16-4AE5-B5DB-D23CF1B47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F380BF-1D39-47CF-9A8E-BEDE644A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B46BF-446C-40E4-9973-389A3C16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962A17-E16E-4631-BF9E-B5CA02CB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Pipeline detaille et circulation de l'information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7C460-AD6C-4284-AD9C-80BB2A6E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Chaque bloc repond a une question precise : de quoi parle l'annonce, ou est le produit, et la photo est-elle de bonne qualite 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7BA2D-B012-41D4-9216-545F96C2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F34D5F-D424-401C-B73A-E64A89D60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1. Comprendre l'annonce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52BD5-D762-44CE-87E7-96DA0FA2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0CFCD-50B3-4C9C-A0DD-7A77F13B6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texte est nettoye et normalise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A2FB24-A230-43EA-A3BD-5C3C73432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526367-9281-480B-B0FB-3C0255CD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Extraction de couleur, categorie et marque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70817C-6DD1-49FE-B45B-64486F04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1A5167-C52B-4062-BE64-18CEE708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Creation d'un embedding texte reutilisable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8A032-2006-4083-8BD8-1960B9A4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06918-28C5-4891-927C-136DED1B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5265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2. Proposer des zones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6DE22A-2613-4853-9F61-D25BA0A7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08A882-9BCB-4B2C-AA85-99E5BDD0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336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systeme propose plusieurs regions candidates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5B27FA-055E-4CB7-B8E2-C8AB628E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8C37D9-14B1-47C4-AE13-05D139EB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03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Pas de detection supervisee imposee par defaut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334179-2ABF-4E99-B8F7-1AD481CA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6B7DC3-0ADD-45E3-9024-71942A08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670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Seulement 5 regions max pour maitriser le cout CLIP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C39051-1BCD-49AF-9594-E78B2F03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0025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15D15D-303C-4062-ABB0-6380EFAD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5265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3. Analyser le bon crop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EC41DF-09A8-48A9-AF5D-96BA8AD49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D0C763-093D-4B38-BFBE-D3A44754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336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selector choisit la region la plus coherente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1D066A-97D3-43CB-BD41-2533A673F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57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921DAD-4DA9-4066-8CF2-E7D5203B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L'analyzer note la qualite visuelle du crop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54C472-C323-45D9-9CDB-3DAF9A69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24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76BD7-6C0F-43E1-A684-EEC1DDB8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670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score final est justifie par criteres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EA903C-6FE7-40BA-888F-E0969F36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0E84FB-B645-4882-81EA-C9ED1853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9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texte intervient deux fois : selection du produit et verification de coherence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AF60B3-F5B5-4200-B2D6-6E9C6A21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05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B5E2CD4-2790-4AD8-95D1-301834F20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1049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crop selectionne est central pour rendre l'IA compréhensible a l'utilisateur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0C57DD-FE94-47EF-8925-5C5D6806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0643CB-9B1B-440A-9134-3F58AD3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496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scoring global n'est jamais une boite noire pure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BB52E2E-81A5-4BE1-9795-73EF8B6A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5DEDD8-85B0-4B3F-9E23-F9B44C36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0585098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E7F055-B2E3-4000-B2B3-3C17E296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6284D4-E538-477F-9545-A2CA035F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28F23E-652E-4295-9EE5-8A918313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MODULE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CE801E-C704-46F5-B408-27E62615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Text Processor : transformer le texte en signal exploitable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43A86-B438-4983-BCBA-B5A80FE8A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Cette brique donne au systeme sa source de verite principale.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57C447-5F4F-45E9-A61A-84AF08A4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619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A9574-CA14-45E1-A69F-3BCB53F8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Entree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A668E-3FBC-44DA-9133-6D262F66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26845-F65A-42CA-B2A2-73C43D49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Titre du produit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5AE3B-BBAA-41ED-A828-25D15C63B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55B8E-2DF6-4992-976C-C38AE104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Description de l'annonce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6737A-22EC-4A69-B39A-BD607E2E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6D79C-390B-4B22-BB71-11718BF5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Texte libre fourni par le vendeur ou le dataset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29BDE4-6456-4A18-A0F3-31DAC8E2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619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99F9A-74E7-4FDC-9897-EEC9E66E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Traitements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B1FF2-0A90-4B5D-B9F8-F5176EF6B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290F3-F2AE-4130-B171-0A8E2D7D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289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Normalisation du texte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2E2E25-BF23-420D-8E9B-7F9CAAAD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884EA8-A998-424A-94E1-21A0AF4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8956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spaCy fr_core_news_md si disponible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F0EC00-E3CF-46A4-8D29-1EF320A4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C2107B-3772-4B06-9AAB-37599BE2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623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rapidfuzz + dictionnaires pour couleur / categorie / marque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7853AC-854A-4633-8D1A-5263D6EA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5CF41-F739-4475-8471-7FD1F2B3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290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Embedding CLIP multilingue texte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920368-ACE0-46BA-AA94-F9F7630B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95500"/>
            <a:ext cx="3619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3A3D5E-FB21-4D62-9345-941797E27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Sortie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E702C0-400A-4E1A-9B69-AE65270EC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9A459E-0B71-4484-A3A4-99D446D0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289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clean_text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9D5D75-6158-403D-869E-F848307C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1A9F09-5DA3-40D2-8BBE-C6BA61ED9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956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color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FC0CD8-3736-49FB-B0B6-2ECE1F64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6D45B9-2C23-4AA5-8319-C00AB931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623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254801-302C-4D03-B985-C21B80DF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A7324C-442E-4643-B8EC-80E36C462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brand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28C0701-BE2C-42A0-9A9D-DF5D6227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52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00E93A-1C2E-416C-84F8-9C3E55A5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957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text_embedding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388459-5A3D-4056-B2A7-D4239D94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3807F4-B67A-4102-8FFC-80A7AC67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00379314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D4256C-25A0-4AB8-BE5B-69417945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2EDB0-7D5F-4EBC-A404-1AA13788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36A98-0B14-4D0D-BEAF-6CF74980A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MODULE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5804C8-C6D0-4D3C-8E87-7965BFEEC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Candidate Region Generator : proposer des zones sans detection supervisee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A7CC6-A6A9-4D9E-B98A-F7290037A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projet ne suppose pas un detecteur entraine sur classes produit.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2C3702-1EFA-4181-A2BC-3F3DF08D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1595F6-2699-42FC-87FC-39FB5EA3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99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Strategie par defaut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8753F1-FE75-4AEA-B315-3F2306F7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E5E23-82B7-49D1-BCC1-ED7AC571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Saliency OpenCV si le module est disponible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5638D-DEA9-4F10-8161-7A2AB101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08E4FE-DF8D-4F38-84A7-F48D7460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Sinon fallback par seuillage adaptatif et contours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BFF93C-6C16-44D5-9F8C-EE401D46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2617A-5729-460A-8B87-9C6C52A5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Regions triees par aire et centralite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959752-DFDC-4655-B5FA-944C4CAE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9EC08F-9FF5-4A58-A843-7B293CA6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Maximum 5 regions 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2C6095-9A80-446A-A5FD-A68877C49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58845A-4DCD-4B65-9B5D-E945F87B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2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Filet de securite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AEABE4-EBDF-4EDF-8414-5D7873A3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66C3D9-1D7E-40F4-AA1A-3B5C1E6B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Grounding DINO est disponible comme fallback activable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B1463AD-1761-481A-85A8-CA83F2A38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3A24BB-22A8-4980-8C68-B8183FFA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56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Desactive par defaut pour garder une methode legere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6C6810-ECB5-48B2-A786-A55A09F7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1A5D0F-C629-4B74-ABCB-DF81F558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Utilisable si la saliency se revele insuffisante sur certaines photos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D06C7A-0D92-42BB-9005-85907B6B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D93218-BF17-4BDC-BA9C-74DB01A6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refine final du gagnant repose sur GrabCut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39681E-189D-4F65-B735-36CADE57A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A2DC8-393E-493F-BF88-213D5E67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0726723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903E76-300C-4B2F-B4BE-274E6EB3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19F60A-EDD8-4960-91A3-116103E2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0A888-3E30-43AE-A871-9E0B7CDD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MODULE 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576BE-BA8D-4D03-81A4-970036D0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Selector : choisir le bon produit parmi les regions candidates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A593F-4CC6-44D6-83AE-1BE5EF5D9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selector est la piece centrale qui relie region proposal et score qualite.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8DD036-9AA6-441D-A3A5-25CB55C6C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4000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A91E5-6B30-4EBD-8B88-6C32618A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657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Formule de score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35612C-4C5C-47FB-8E52-583043C8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A86337-73E0-4099-B56E-5B1B31F40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 = 0.6 * score_clip + 0.25 * score_visuel + 0.15 * score_categorie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1BB6C-E8DB-4283-8A69-49A62AA1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E46FE1-62EF-493F-9F3D-E57CC9DC7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Poids stockes dans config.py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6A4264-FAF2-4394-933D-C59ED987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684BCF-CC9E-42E9-A612-3BF7108B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3486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Calibration empirique assumee et explicite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0BA4CF-A614-4CAC-98A8-08C1CDF1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95500"/>
            <a:ext cx="33337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80535B-F0C1-42FF-8F6B-5E77CDA5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4790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Score CLIP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99993A-C24F-4DCF-9A38-D03CBE2AE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273F7E-0862-429F-A600-7952AD99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6289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Embedding image du crop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61F662-49C5-4744-9656-A48BA9DB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0703CA-F087-4B97-AA87-6AE88614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956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Similarite cosinus avec l'embedding texte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0AC7DB-5B82-43F3-BC6B-B85AC1C5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033CDA-E8BE-4811-92B6-7BF74D0A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1623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Signal principal de selection semantique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469310-E313-4D5C-8BEB-B70B8F06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95500"/>
            <a:ext cx="3429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01BD81-6C1F-4649-9795-E96B9B51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Scores heuristiques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EE3067-6552-453C-AE99-A404783F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BA9CE8-9493-4FDD-9ACC-B0F8EABA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Visuel : aire normalisee x centralite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B4EC93-CF0F-40EF-93C7-FE014330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D6ECCA-94B3-42AE-9490-A1DB423F5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Categorie : coherence faible mais utile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B0F43A-416D-4966-8392-48373353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5D1C1C-28CF-4F5B-8CCE-29392F21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GrabCut applique seulement sur le gagnant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3B70C6-78D4-43D8-BBCB-C518AAC9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668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Correctif important du projet final : eviter qu'un mini-crop tres contraste gagne artificiellement sur une grande zone produit plus plausible.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EF5C01-8F93-4D36-8738-228D4996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30495B-B385-4D55-BD7F-20C5CB4F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20760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54CFD-7A2A-47E6-9796-3B4B1164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22B43D-842C-46C1-BD0A-B56E0202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7C366B-95D6-482E-B873-285E69A0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MODULE 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679A9-A502-4EF8-A15C-A5DB2072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Analyzer : decomposition du score de qualite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88C002-5ECC-4EAC-A10E-ED1664E0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score final est obtenu a partir de criteres lisibles et independants.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DB712-EBBC-473B-BB0C-B3AF8BD1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36DDD-0E0E-42BC-8FEA-9FF75960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Criteres visuels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A5D0EC-E0D0-4F71-BE68-0DB8DFFD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72C2CB-887F-4CF9-B27A-3D0FC55C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Nettete : variance du Laplacien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7A156-14CA-4FB4-9763-06FC50815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F02584-16EF-49FD-B80B-05BCBCB0B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Exposition : statistiques de luminance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645069-C2D8-46BF-90B3-284F47D6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E122A-97D1-49D0-B51C-D5A5D358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Contraste : ecart-type du niveau de gris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9F5857-4FC5-4787-8A63-60822729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0B8ABD-30B2-45E6-BA6F-B1FE07D9C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Balance couleurs : deviation inter-canaux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317CAC-A2B6-463B-AD74-84873BD7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33B7D-A888-47EE-B5A1-7A731AE4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Criteres structurels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C7557F-48B2-40E4-9E33-3E19FEC3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7EB04A-CBC6-434C-8124-CE4BB2C1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Resolution effective : taille utile + detail reel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408C99-1FB5-439E-AC26-EC6CF23E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5C3362-55C6-46E3-9BD5-06C00BEA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Coherence image/texte : CLIP + couleur dominante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760E0D-6778-4262-A2ED-B5FA5CC1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5BE6F5-5E8D-421E-8C5B-49862D92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La couleur reste un signal leger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A5E29-6E34-4D6D-9F2E-7F5BAA9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71EAA8-0E0F-4236-99BA-BD356FB8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Sorties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CCED34-BB63-459A-858F-4A12B36F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B9001E-F3D4-4784-92E5-8FC8058D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Sous-scores 0 a 100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11BE42-E0A8-47C8-B55E-F2F8682D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8056D6-C1C7-4004-98F3-3DC8F28C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Messages explicatifs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37E2A-C325-4185-8E09-5EB391C2B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6B7DE4B-7788-4BC3-B7A8-5B0FBF64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 global pondere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780D4E-C189-4A7A-BAEF-8F28259B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D0A053-9FD1-4A46-8FB2-6D1C4629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290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Recommandations FR / Darija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415D14F-F4DD-49F2-89CA-73253411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13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34DEE09-A1C2-4A9B-94DB-7A947697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33757109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652C93-D998-440A-95F0-1F22CE49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F630A6-E3AF-4282-8CD1-0C15DCD0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F5A337-5A17-45F5-8DD5-675DF20D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02BF10-0A45-4AC0-A450-6C2906E7A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Application Streamlit : interface de demonstration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AFF0F5-E0A2-4433-BD12-E2A2E12A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L'application est volontairement sobre pour mettre l'accent sur l'explicabilite du resultat.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80E416-73A0-433D-9603-317A7BB4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72690-D739-4AF9-8BCE-04A83058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Analyse unique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9681CF-4E56-462E-BC3F-C30D9563F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AB4AA-53CF-4E5E-8544-31247186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Image + titre + description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78AE9-BA4A-450F-8D1F-FEE449D5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AEA2E4-BEF9-4175-BF4C-B7C36972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Affichage du crop selectionne en priorite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7E4E5-F959-4E30-9046-58EDDA6B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9574B-0991-43BB-AD70-B8CE8CBD9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 global et sous-scores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D4F06-AD0D-4D37-8D11-6AE12D66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135FED-4174-4502-876F-D481F528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Bloc coherence image / texte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5457E4-1C5B-4CCD-A09C-E83798DB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3429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4F8FC-DD4C-4FCC-8C4D-625BABF2A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Mode batch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1EB57B-5E6F-45B8-956A-CD4E0269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290EE6-CDA0-4403-AD67-BFD944CA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Traitement d'un dossier d'images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9C0AD-9780-4615-8237-FC85F218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39E46C-3610-4D7A-9CF7-C622710C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Tableau recapitulatif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33F764-E155-46AE-8DE4-D1C043FD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D413D-8847-44AC-8E44-0C4DA169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Export CSV des resultats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58241F-5813-42FB-8F6E-4FF297CA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095500"/>
            <a:ext cx="35052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72C8BE-7A39-480F-A84C-BD03B098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247900"/>
            <a:ext cx="3162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Mode debug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51E0F9-68CF-4DD0-B510-29A7E636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EC6FB-0C37-4541-BC9F-D77E4C35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289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Regions candidates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65648-123F-4AF1-9EBE-F0FA5EB0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8886383-AD20-4355-977B-5C0FCEA8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Scores intermediaires du selector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8D55F8-0A76-4D1A-911C-01F952A2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A8DFD9E-03B2-4841-8167-3FB535E2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623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Etat du backend CLIP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F0C8CC-C16F-43B5-A1A0-FFDB0C87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EB2EF8-72E0-4ED8-B849-DD42A087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290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Informations sur la coherence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B3AB09-4337-40E0-B244-718C63BE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B28C54-4680-417F-A7D5-CA4175E51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67250"/>
            <a:ext cx="1049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crop selectionne est l'element d'interface le plus important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3357B2B-E578-4ACB-BC97-D3A8ADB9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1A93C56-48B9-495B-A0F2-AB8F1C4F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72050"/>
            <a:ext cx="1049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L'utilisateur peut comprendre pourquoi la note est bonne ou mauvaise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8E998B-20EA-476D-A6EC-023166F6C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D26956-B580-4C33-9DE3-469E5031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76850"/>
            <a:ext cx="1049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systeme peut etre montre en direct en soutenance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61CE4F-9D6B-4199-8240-7020DD67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794FD3-4795-44A2-955F-13F3C6AE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6312614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0F4EA-0B77-4796-BEFD-A9A09FB8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4C624E-4181-483B-9178-748EFA7B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B7FECD-C932-4260-88EE-62FF8A32E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DONNEES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37E33-8348-4035-B0B7-A25DA60B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Strategie dataset : construire un jeu de donnees defendable sans annotation lourde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1B8BF3-2AD2-41DF-A3CF-1D9AFAA7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choix cle est de partir d'images propres et de generer les mauvaises images de facon controlee.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6E207B-87BE-4C3B-AAF4-09325C5E7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5334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3012A-2413-4522-88D1-87E6D23E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4991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Principes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C3310F-A826-4B5B-BE1F-D6F105E0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641B38-156C-4070-97D3-243BBA81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Limiter le scope a trois familles de produits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23EF7-79AD-4AD9-82B9-D4900613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3E27F-8EC2-4DCF-98B6-8BB7BB35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Conserver des images suffisamment grandes et lisibles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564EC2-285B-4164-BE30-C3ECC5E8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0247A1-2AA1-4D13-8D33-31B58374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Eviter l'annotation exhaustive manuelle de defauts reels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AD6941-8E3D-4C80-A8FC-C6CA19FDD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F0835-40AB-4086-B043-CEFB9A6A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4819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Construire une verite-terrain exacte via degradations controlees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6A7DAF-D9FA-4335-B88C-5BAB61036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54673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B209F1-5154-4CC8-89AF-C29524BF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47900"/>
            <a:ext cx="51244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Sources reelles du projet final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C934E1-B67C-496C-8415-AEBEA456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F7E458-D168-4D95-AFDE-A4814C0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289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Base historique curatee du projet pour une partie des originaux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59BDBE-97F5-46B7-82D1-45BE2D375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9F9052-2F32-47AF-BC99-4E240C1B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956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Complement Shopify/product-catalogue pour finir les quotas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809BC6-E923-49B8-BF9E-933168BB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0522AC-1C80-46FE-ABCC-A7CD9582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623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Pipeline de build final reproductible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ACD63E-52CF-4447-A72F-73BC624E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4BC9C1-EBD8-419A-96EB-27BEA97D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495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metadata.csv et degraded_metadata.csv pour tracer les sources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8E6E27-5CC8-436A-ACCF-881513F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97EF2E-92CF-4DF4-845B-319567C4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3993348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368CBBE-FAD1-4F42-9CDC-A80EE25F6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EDCF49-6F71-4168-B64A-AC45C63D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8CBFBC-B313-4270-9811-BE3D6C0C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DATASET FINAL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098AC3-07C7-4B29-8B12-B275DFDE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Composition du dataset final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185E8-EF45-40FC-B0FC-9A60CD73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jeu final est volontairement compact, mais suffisant pour calibrer et valider le systeme.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2E5C2F-3CB7-49B9-97AE-38CCFCA4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9C026B-8C5C-440D-8E9C-D3B37109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71700"/>
            <a:ext cx="1562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66C46-7CE7-4E27-85DE-5677F701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shoes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860C8-1119-4621-A33C-D99905FD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1164F-B422-4EF4-B28D-1784449E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71700"/>
            <a:ext cx="1562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CB74E6-9FD0-44EF-B165-C09D65D32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289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clothing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59FCF5-571B-4D90-90B5-DFA4C45A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00250"/>
            <a:ext cx="2476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0D211-CEDD-4BFF-BB5F-F5A2EBDD8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71700"/>
            <a:ext cx="2133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rPr>
              <a:t>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7A955-BE4B-4354-9439-56D82483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2890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portable_electronics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6F8B34-A8E8-4203-A85A-E7FCC167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000250"/>
            <a:ext cx="1714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6A82AE-14D8-427B-885D-8866EA2D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171700"/>
            <a:ext cx="1371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rPr>
              <a:t>180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5A2C47-6DE7-4450-857D-61418F64F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28900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images propres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5BB4F-9590-4EE3-A329-B51C741B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000250"/>
            <a:ext cx="1905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7D9AC3-BE83-415A-B650-433AC6AA1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71700"/>
            <a:ext cx="1562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6696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E66969"/>
                </a:solidFill>
                <a:latin typeface="Aptos Display"/>
                <a:ea typeface="Aptos Display"/>
                <a:cs typeface="Aptos Display"/>
              </a:rPr>
              <a:t>3240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E33471-0410-4A2D-BACB-9E638E4D4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628900"/>
            <a:ext cx="1562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images degradees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4D92CE-13C9-4BC9-9AC0-551DF418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51435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F79B7-AB04-4697-B346-20C20EDA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4800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Metadata principal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99046F-E0CE-4FFE-AFEA-2BC2924F2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3DCF42-BA9A-4E5E-8196-F4D81757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09575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filename, filepath, category, source_dataset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4C2EC8-6A87-4C36-972D-49C61F2D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CFBB6E-7F3D-4F8F-9CF4-EECE0CB97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6245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title, description, width, height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AB3962-93B8-4495-A724-396AE8B7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86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99057C-8F18-4A31-B7E2-63A50A20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629150"/>
            <a:ext cx="4629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human_score, degradation_type, degradation_level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786106-6E6D-4DA6-AF70-DC803FB7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562350"/>
            <a:ext cx="52959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35E1D5-AC60-415B-B9A9-1669DF4A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147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Interet experimental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3F7991-3C4A-4229-B9DE-D67F32195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52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0780D9-9C9A-4A47-91F9-D1AB1790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78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Chaque image degradee peut etre reliee a son original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3727BD-B773-4809-AACF-B3032946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196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7AD5ED5-E7C8-4C21-A41E-7115F173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362450"/>
            <a:ext cx="478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protocole permet des comparaisons propres image propre vs image degradee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E33A2C-4789-4EF3-A63D-E69E4B9A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8ED902-8D93-4E6B-9713-96C1D330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29150"/>
            <a:ext cx="4781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dataset reste assez petit pour etre inspecte manuellement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5452ED-82CF-47E7-A076-6DA8C416A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16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F57D77A-8141-448F-BD71-6D776A76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75303247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0E3098-2677-42AD-A8E5-F198DB746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186C6-F7F5-4C70-905C-B8E86C6DF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7FBBC4-DD29-435C-8695-138C7CC3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EXEMPLES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ABAA48-5B2F-46B8-BA65-B74D02E2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Exemples d'images propres dans le dataset final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9F8867-E9DB-488F-9ABE-D177A900A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Trois familles ont ete retenues pour maximiser la lisibilite du produit et la pertinence de CLIP.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4E1F1F-A44D-4378-BA47-9E3D23628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cab9c4285142b0"/>
          <a:stretch xmlns:a="http://schemas.openxmlformats.org/drawingml/2006/main"/>
        </p:blipFill>
        <p:spPr>
          <a:xfrm xmlns:a="http://schemas.openxmlformats.org/drawingml/2006/main">
            <a:off x="981075" y="2171700"/>
            <a:ext cx="2705100" cy="27051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ED0365-FA66-4EB5-9A12-60E2AC20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3105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SHO_001 - shoes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2E97C9-45EC-47DB-8D1F-EA8A2F64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955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f515041094c92"/>
          <a:stretch xmlns:a="http://schemas.openxmlformats.org/drawingml/2006/main"/>
        </p:blipFill>
        <p:spPr>
          <a:xfrm xmlns:a="http://schemas.openxmlformats.org/drawingml/2006/main">
            <a:off x="4743450" y="2171700"/>
            <a:ext cx="2705100" cy="27051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D2C10A-2B0F-4690-BECE-794276A88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914900"/>
            <a:ext cx="3105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CLO_001 - clothing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EC1F3-BDFB-4B49-97CB-540F9C21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3337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b9a5d3d4ed449a"/>
          <a:stretch xmlns:a="http://schemas.openxmlformats.org/drawingml/2006/main"/>
        </p:blipFill>
        <p:spPr>
          <a:xfrm xmlns:a="http://schemas.openxmlformats.org/drawingml/2006/main">
            <a:off x="8505825" y="2171700"/>
            <a:ext cx="2705100" cy="27051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ECD80-5E3E-405B-809C-3E310219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914900"/>
            <a:ext cx="3105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POR_001 - portable_electronics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C32F06-EA79-4623-AC4D-6778AD30A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66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scope reduit est volontaire : produits reconnaissables, formes nettes, photos standardisables et evaluation plus defendable en 2 mois.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00DBF6-3F80-480C-A10F-45888453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776470-DD96-4D52-B4EB-7148244EB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9497240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AD1919-F01E-4863-9211-5B9DD612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75549A-2D04-4484-B3EF-7AD708DF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CF45B7-63ED-41D1-B303-2FB3808B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DEGRADATIONS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F47088-7326-42C9-84D4-FB16D782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Degradations controlees utilisees pour creer les mauvaises images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34F6D3-E1DF-430D-93EE-EE6E8A9E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Chaque degradation vise un defaut reele de photo produit e-commerce.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0EFB9-1564-423F-A17B-B057E9BF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2667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a9973d6fcf4e09"/>
          <a:stretch xmlns:a="http://schemas.openxmlformats.org/drawingml/2006/main"/>
        </p:blipFill>
        <p:spPr>
          <a:xfrm xmlns:a="http://schemas.openxmlformats.org/drawingml/2006/main">
            <a:off x="695325" y="2171700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91392-C8A7-4736-BDE7-A29F4187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Image propre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219106-5F83-4F3D-8C64-5DC3F40D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95500"/>
            <a:ext cx="2667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cce0480684bdc"/>
          <a:stretch xmlns:a="http://schemas.openxmlformats.org/drawingml/2006/main"/>
        </p:blipFill>
        <p:spPr>
          <a:xfrm xmlns:a="http://schemas.openxmlformats.org/drawingml/2006/main">
            <a:off x="3648075" y="2171700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0520CE-3669-40AD-91CA-4BBEDF36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291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Blur high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2A006-CD7B-4F64-970E-B988D813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26670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eb665c40d747c4"/>
          <a:stretch xmlns:a="http://schemas.openxmlformats.org/drawingml/2006/main"/>
        </p:blipFill>
        <p:spPr>
          <a:xfrm xmlns:a="http://schemas.openxmlformats.org/drawingml/2006/main">
            <a:off x="6600825" y="2171700"/>
            <a:ext cx="2419350" cy="2419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400D0F-9D1A-4066-A0E6-7E6BE2A3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629150"/>
            <a:ext cx="2438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Lowres high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86EE81-8CD2-486D-A660-E00B2C82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095500"/>
            <a:ext cx="21907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a314f6f904379"/>
          <a:stretch xmlns:a="http://schemas.openxmlformats.org/drawingml/2006/main"/>
        </p:blipFill>
        <p:spPr>
          <a:xfrm xmlns:a="http://schemas.openxmlformats.org/drawingml/2006/main">
            <a:off x="9505950" y="2362200"/>
            <a:ext cx="2038350" cy="2038350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F2DFF-F8D3-4C6A-893C-DF1D8403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629150"/>
            <a:ext cx="1962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Bad crop high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AAC5A7-2366-4A05-B70A-3FBEC70A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8375E3-6762-4F35-B964-B9A0D1D3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10496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Flou gaussien : verifie la sensibilite de la nettete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AC4A76-2FC9-40FA-9909-319CE7E59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FCEB5-CF35-4C28-A924-B0D93DEC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00700"/>
            <a:ext cx="10496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Sous/sur-exposition : verifie l'exposition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EB039A-E153-4AA3-9706-9CF1BB77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24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7EDE1C-42BA-4ACD-920E-83600779D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67400"/>
            <a:ext cx="10496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Mauvais recadrage et lowres : verifient la resolution utile et le cadrage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CC990B-6ABD-4334-8794-F024D71A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49C56B-6E67-432F-A041-7235E1DC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34100"/>
            <a:ext cx="10496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Compression JPEG : simule des artefacts de sauvegarde ou reupload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E5856A-7133-4F3F-8B07-43FA8F533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FA6183-F30C-4163-99F4-DA284082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78854262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85B19C-59B0-4118-99CB-67FC579D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6F937-C066-4A75-A1C5-49F65329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D2A602-B767-412E-8DE2-2096BB51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PROTOCOLE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46FC59-6904-40EC-97C2-C68A1BB63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Protocole d'evaluation experimental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B2147-B508-4C2F-9935-1670BF10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projet combine une validation automatique ciblee et une validation humaine finale.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2E05-8AE4-42E7-B04F-970903615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066C9D-D5C3-410A-85CD-ACCEF824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Evaluation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C52837-9654-4B7F-B810-569BA015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F083A8-E026-4172-B350-4362819F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Comparer chaque image degradee a son image propre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A66BC-6C88-4008-97CE-C57F7728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69538-5F35-4B83-A5D6-611CE01C6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Mesurer si le bon critere chute reellement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B9982-F2EB-499F-B38B-D91BABDB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430E63-E008-4211-B2CB-B7B518179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Exporter des tableaux de sensibilite par degradation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44DE1D-F5B4-4952-B853-FF857197D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F7F6B3-E60A-42AE-B7B8-313F2C9B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Evaluation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DB2A1C-8BD4-4B91-A099-44F4ABD8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53BF35-9984-4EA2-BD9E-E1FA35EA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Selection de 50 images pour annotation humaine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3D6837-03BA-49B1-9D94-3C0A6064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195E41-3B06-4E94-B731-2C9027A4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Score humain renseigne manuellement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BBEC05-31B5-4F9B-A2E7-4BBA796D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A22B65-90DA-4560-B0EF-20A6DC03D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Calcul de la corrrelation de Spearman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0E2A21-67A7-4169-9578-A469AC70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E04EA9-A060-4BED-A140-8F4B0C30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Objectif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A53EAC-E52F-47E3-BFDA-FC612E5F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C34328-8D43-41BE-8FF9-55614C50F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Montrer que le systeme detecte bien certains defauts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EABB147-1FF9-4103-9FBF-4F99D4801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7AE439-65A8-4512-BE28-F1B0D734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Montrer que son score reste lie au jugement humain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F7A119-D5EA-4077-8760-5035E048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34CA92-AD09-466F-BE72-21129A1CD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Assumer les limites de l'approche zero-shot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7E7325-C22D-411B-974A-89D32927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19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AF66CE-6B17-45C5-91CD-3C4F455F0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97194938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7E1781A-806D-439A-B025-12BB23CEB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2517B5-32D6-4FB0-950A-1F5196BF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590D3-916F-41D5-B46A-405DA4FD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RESULTATS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79EE9F-1F5F-410D-A890-0F0020278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Sensibilite par critere : ce que le systeme detecte bien ou mal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E8E3A4-9010-44B8-9617-CA5D23BD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tableau suivant resume la baisse moyenne du bon critere sur les images degradees.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7ECC8-EEF1-4642-8B2C-E5510741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764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blur -&gt; sharpness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9F78B-7D3F-4B38-BFBB-021A3C50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96038-4EDB-4587-A3D0-6D5027F1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095500"/>
            <a:ext cx="364304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C27A"/>
          </a:solidFill>
          <a:ln xmlns:a="http://schemas.openxmlformats.org/drawingml/2006/main" w="0">
            <a:solidFill>
              <a:srgbClr val="4AC27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6ADFE8-C68B-4F46-AC54-AB0F4EBCB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5740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65.30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132E5E-044D-450D-BE4E-28B8EF33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669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Tres bon resultat, quasi parfait.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210DD4-6C4C-4C67-8695-F19505E6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289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lowres -&gt; effective_resolution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3DBF6-A1B2-43F3-B7DF-E5B63D624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91EBE-23C7-450F-83DA-846D2BE1B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47950"/>
            <a:ext cx="116878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A6FF"/>
          </a:solidFill>
          <a:ln xmlns:a="http://schemas.openxmlformats.org/drawingml/2006/main" w="0">
            <a:solidFill>
              <a:srgbClr val="6DA6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0D237-737A-407A-A569-CF4C01E7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20.95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3FB6F2-110C-4072-93FB-3FAB247A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8194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Bonne sensibilite apres recalibration.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712B85-3CA6-4B8B-A913-860265F35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bad_crop -&gt; effective_resolution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797B81-FA7D-4CDD-BE3E-754148CB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5EB76A-506C-4829-B21E-CEBF300CE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00400"/>
            <a:ext cx="792208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85A"/>
          </a:solidFill>
          <a:ln xmlns:a="http://schemas.openxmlformats.org/drawingml/2006/main" w="0">
            <a:solidFill>
              <a:srgbClr val="F0C85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A3C3C4-FFDA-4BEF-8AFA-F6CCD6A8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6230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14.20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E2EAD4-121E-4F3B-A540-C1780917D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718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Sensibilite correcte mais perfectible.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15E36F-E462-4F9B-8073-D30CD65EA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overexposure -&gt; exposure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21A5B7-5193-4928-AD80-AD884CDD6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5285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05299D-71D1-470D-8667-23335191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752850"/>
            <a:ext cx="80057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85A"/>
          </a:solidFill>
          <a:ln xmlns:a="http://schemas.openxmlformats.org/drawingml/2006/main" w="0">
            <a:solidFill>
              <a:srgbClr val="F0C85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E3ACF0-F875-430E-B39E-F7B05A5C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14.35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8728F6-2A42-4E75-83A6-CEBE5C20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243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Resultat moyen.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AE6401-B02D-4F4F-910B-90CF711DC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jpeg -&gt; sharpness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A33B3F-8957-4A08-AF4F-FD4B40B4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0530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C768F3-1408-4D28-B83D-5BB6A9A1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305300"/>
            <a:ext cx="331946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969"/>
          </a:solidFill>
          <a:ln xmlns:a="http://schemas.openxmlformats.org/drawingml/2006/main" w="0">
            <a:solidFill>
              <a:srgbClr val="E6696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FC2693-15BC-4B64-9538-8A83C7E2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6720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5.95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B47EBA-8FCE-4D5D-B973-B764AFE6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7675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Impact faible sur la moyenne.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8D889D-91FA-4E8E-B674-AFD49D0C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387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underexposure -&gt; exposure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D2CBA7-E295-4570-A22A-9C11589E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39052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2B45"/>
          </a:solidFill>
          <a:ln xmlns:a="http://schemas.openxmlformats.org/drawingml/2006/main" w="0">
            <a:solidFill>
              <a:srgbClr val="202B45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D8E8332-8DE0-4856-BB84-4E2B7240C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762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6969"/>
          </a:solidFill>
          <a:ln xmlns:a="http://schemas.openxmlformats.org/drawingml/2006/main" w="0">
            <a:solidFill>
              <a:srgbClr val="E6696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CA13AA-42CE-492E-ADE7-1D7D482F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19650"/>
            <a:ext cx="571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-6.99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7428A2-D99C-41BD-B50C-F92AF216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29200"/>
            <a:ext cx="495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Critere encore fragile dans ce cas.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E572F7-2522-416F-ACCE-33504388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095500"/>
            <a:ext cx="56197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77C442A-1F61-42BF-A439-95DD102E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247900"/>
            <a:ext cx="5276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Lecture du resultat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CBDE21-5637-4DFA-BBF4-A01DA62BC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1F8462-2660-4405-A169-0E9F99952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28900"/>
            <a:ext cx="510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flou est la degradation la mieux capturee par le systeme.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CD1D8F5-C141-4748-9AE5-9F8FC9F3C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088DC68-F12A-42B1-A19E-5EF3372B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510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lowres et le bad crop sont correctement detectes apres les derniers ajustements.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628E79-CEF2-493F-AB9A-0A7F6541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446659-1DCF-4DE8-A82F-5B13C91FC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62300"/>
            <a:ext cx="510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L'exposition reste plus delicate, surtout pour la sous-exposition.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0B07873-333B-4701-9E97-7B277180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DD47D7F-510D-44D1-9787-631737633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429000"/>
            <a:ext cx="5105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JPEG a un effet plus faible et moins stable sur le score de nettete.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58CA92-5055-413B-B054-C49F7053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9E3D4A8-CE1D-4C7C-A342-E0FC38E2C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35835819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E09AB3F-11C6-456E-B0AD-2A3507EF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FE2C69-41FF-4BE4-8483-35400B76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577F9-310C-4882-91DC-8EFBC8324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RESULTATS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87FB3-154C-4E77-B8D6-3F5104551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Validation humaine finale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C4022-9F70-4D6E-9762-2597B5A6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score automatique est compare a 50 jugements humains sur un echantillon d'images.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5B4BE-B95B-495F-A946-34B6E1E6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5334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6cf23ae0d49fa"/>
          <a:stretch xmlns:a="http://schemas.openxmlformats.org/drawingml/2006/main"/>
        </p:blipFill>
        <p:spPr>
          <a:xfrm xmlns:a="http://schemas.openxmlformats.org/drawingml/2006/main">
            <a:off x="1240155" y="2076450"/>
            <a:ext cx="4187190" cy="2990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A7AE6-E0C3-47B4-BCB9-26FC0579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51054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Graphe de corrrelation Spearman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0EDB6-086C-4F2F-B604-96EA0E07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7170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48924D-1861-41E0-97D8-00F1E9FF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4315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rPr>
              <a:t>50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ECDAA9-6BFE-41C6-8078-7DAD1771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8003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annotations humaines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92B9F-1876-45DC-B48C-60BA6479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7170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427739-D89C-4941-9902-A984EC33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34315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6DA6FF"/>
                </a:solidFill>
                <a:latin typeface="Aptos Display"/>
                <a:ea typeface="Aptos Display"/>
                <a:cs typeface="Aptos Display"/>
              </a:rPr>
              <a:t>0.7122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9582D-5817-469D-827A-33C282D4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8003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Spearman rho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E59E0E-D2F6-4DFA-B218-36EBFE55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166DBF-49F7-44AB-8EE8-C284D07E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4AC27A"/>
                </a:solidFill>
                <a:latin typeface="Aptos Display"/>
                <a:ea typeface="Aptos Display"/>
                <a:cs typeface="Aptos Display"/>
              </a:rPr>
              <a:t>6.64e-09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9C85B2-A46B-4238-8DF0-83F92E6B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767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p-value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857CE-630B-44C8-900A-2982BB32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48050"/>
            <a:ext cx="2095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E38951-7605-46F3-9F42-08572208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619500"/>
            <a:ext cx="17526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0C85A"/>
                </a:solidFill>
                <a:latin typeface="Aptos Display"/>
                <a:ea typeface="Aptos Display"/>
                <a:cs typeface="Aptos Display"/>
              </a:rPr>
              <a:t>significatif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A547B0-0E71-484C-8421-8B85180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07670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statut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649451-AE64-4E0D-A598-F8E7995FA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972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84AA59-90DE-42E5-B974-DCFACF62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14900"/>
            <a:ext cx="4781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score automatique suit nettement le jugement humain sur l'echantillon annote.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750B00-C07F-4BD6-B2E0-8888E649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257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3FC30A-9CB8-447B-91BE-D20445C0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00650"/>
            <a:ext cx="4781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La corrrelation est positive et statistiquement tres significative.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98FB82-3517-4B29-80E4-0A52E39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5435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02EFB-E030-4359-86CE-6BF2EABC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486400"/>
            <a:ext cx="47815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resultat est fort pour un pipeline zero-shot explicable sans entrainement local.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C2B8AB-6710-4FC9-A89F-48D22C3B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6D5FF3-4C58-408A-A2AC-88D22FB5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12304405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D082C2-AFDC-4ACB-BD54-C542F74E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832C3E-7612-49F9-986D-754B41D9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CA6E74-8C7C-4EAC-B2FE-B195FC9B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CAS PRATIQUE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6205C3-443F-442F-974E-74EE7449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Exemple de lecture d'une image par le systeme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DC294-FF59-4869-9302-BCC22279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systeme ne rend pas seulement une note : il fournit aussi une lecture interpretable du cas.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93FEE-57AE-4919-98AD-BEB2C9D9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238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4314E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8ed248b4c64dfe"/>
          <a:stretch xmlns:a="http://schemas.openxmlformats.org/drawingml/2006/main"/>
        </p:blipFill>
        <p:spPr>
          <a:xfrm xmlns:a="http://schemas.openxmlformats.org/drawingml/2006/main">
            <a:off x="1000125" y="2190750"/>
            <a:ext cx="2609850" cy="2609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4903AB-244B-4DD7-AE94-5DE8CF36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38700"/>
            <a:ext cx="3009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Exemple clothing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BA9D43-9193-450B-9D28-8B27FE0C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95500"/>
            <a:ext cx="33337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BEAFF-EEB5-4A08-8ABE-A29752CA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2990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Lecture du selector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A25C99-93CE-4EBD-98F2-E0A03BB6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EDAB15-1AB8-45A7-9D46-CAD28645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289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Plusieurs regions candidates proposees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F6C33B-A67B-4ACB-896D-9E3FE57E2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D605CA-5E79-458C-8E85-5125D842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crop final retenu est celui juge le plus coherent avec le texte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BB963-9A94-4B08-B2B3-9A3E8256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5B2D3A-6737-44F6-9E70-063043EF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62300"/>
            <a:ext cx="2819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debug permet d'afficher les scores intermediaires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825B7F-B49D-40D8-BF61-AB32C2B9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95500"/>
            <a:ext cx="36195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33D535-953B-450E-AA3E-1A83F982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276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Lecture de l'analyzer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1FF167-DB90-4523-8638-05478A5B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3B19B5-A459-4EF5-AC13-7909AB5C5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289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Nettete et contraste souvent bien notes sur les bonnes images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A4EC01-AA6C-47E4-AC24-A3F37D14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CE83CC-D668-42A8-82FA-3D79B3FF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956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Resolution effective et coherence sont plus discriminantes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767517-3713-4A75-80D1-154C7A30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CDC299-5D85-43B2-B85A-31ABC6B61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62300"/>
            <a:ext cx="3105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Les conseils generes sont directement exploitables par un vendeur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6D2CBD-2417-48A8-9DE4-A40E8FE1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91A95A-C138-40D0-83C1-711549C0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67729769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63A412-4B44-4AA2-B702-92ADEABB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6275EC-69AF-4013-B419-787E6020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A48678-4C88-4CA1-9815-EC061A76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DISCUSSION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01287-5904-4C53-9883-09BA41889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Ce que montrent les resultats du projet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9BD772-3A5A-4DE8-9C6F-B49563C2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systeme est utile, interpretable et defendable, mais il ne doit pas etre survendu.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3E7E59-1D6E-4310-913E-BC25DEFC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084A06-E7E4-47DF-B38E-46D46B4F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Ce qui marche bien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0F0FF-FAD5-4ADF-B5F0-78AAE7E6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3AFCCD-CA99-4834-9A65-270113E4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Architecture zero-shot operationnelle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F8AFA-4381-477E-ADDA-F4E87820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C9C37F-A0A9-42D1-A5A5-D1E96405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Selection produit + score qualite en chaine complete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2D6247-6945-400C-9F01-96FBB32C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3641D4-CB19-4251-9858-F6A00D0C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Tres bonne sensibilite au flou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B906F-4BF2-4F9B-BCED-4DACE6A7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10FAE-688F-4022-AE19-97907FD1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Application demonstrable et lisible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39360-863E-4D02-87A1-3E742B31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776262-34F2-474E-904C-3D056AEB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Ce qui marche de facon moyenne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85D2F4-AC14-4787-9075-6CC9D805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1439C4-963F-4A9B-B385-5FDD731B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Detection de lowres et bad crop correcte mais pas parfaite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54A2B-582E-45C4-8BA3-45B3BDC9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3F2375-8B15-467E-84A8-B74A64A0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Coherence image/texte depend de la qualite du crop et du texte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E33BDE-84AD-4EE3-BA4F-7D1E4A71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2E16C9-6CED-44F2-9352-3D68600B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Signal couleur volontairement secondaire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5707BD-D84D-40B5-B484-E4BDA31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C73EE4-E533-4BA7-A1C4-07BC15BA9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Ce qui reste fragile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416AF3-DE1C-4FA3-8554-1B267567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9B917B-3245-4465-8E21-BA154636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Sous-exposition moins bien capturee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56EDB1-0F60-4421-B397-3381EFE97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8A2FB3A-78C0-4FBA-A02A-D476E0F7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JPEG peu discriminant dans certains cas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1C7D0-B13F-480D-AB7A-FAC0B176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EEE754F-D6FE-401B-B680-B9D6D0B7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Extraction heuristique de marque encore approximative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995EE9-C98D-45EB-AAC6-D2D61B15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7BF839-77C9-4E56-9B90-37DA4F76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953245131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48DABF-F319-4104-8458-8EA7D110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FD8C6A-4CE4-4866-B92E-976D597B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ED2CB-8A0B-4568-9181-E495ECBA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LIMITES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A451B5-5A8B-4410-82F3-97219615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Limites honnetes a assumer en soutenance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10A55A-35A1-40B1-A1C1-49989A818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La qualite du PFE est meilleure quand les limites sont expliquees clairement.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0B7CD2-1FD9-46F8-B059-8DD4BADC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B56523-51D2-42A7-BDC4-046CB4344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10496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scope est volontairement limite a trois familles de produits.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893A72-EF57-481A-B283-255EA6F7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718E4-0C92-4D2B-8572-F2AA9361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10496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systeme ne cherche pas a remplacer un modele supervise specialise.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345806-5D57-4442-AF10-E68F272C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099B2-5B76-472E-8D24-BB7895C0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10496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La corrrelation humaine est bonne, mais reste dependante du scope et du protocole.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AC18C6-8A2A-4435-AD36-5A44C0EE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AE8086-F0F6-4BFA-AC31-AC56E810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09950"/>
            <a:ext cx="10496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La detection de certains defauts depend encore du contenu visuel et du texte fourni.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1EE708-5647-47A5-9185-1D5283BD1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5F5B7-D930-4894-A211-C1C1A35E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48100"/>
            <a:ext cx="104965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dataset final est pertinent pour la validation du projet, mais reste de taille modeste.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0C4CE-5082-4003-B7E9-0ECC7A4C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95900"/>
            <a:ext cx="1066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Message cle a tenir : la valeur du projet est l'architecture zero-shot multimodale explicable, pas la promesse d'une perfection universelle.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CF6B2-95A3-4121-9B5D-51E568D5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69A843-A11A-4239-9C4B-3334BC5A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184730529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DAB0082-AD2B-4F95-A0CD-7E2A2284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020"/>
          </a:solidFill>
          <a:ln xmlns:a="http://schemas.openxmlformats.org/drawingml/2006/main" w="0">
            <a:solidFill>
              <a:srgbClr val="0B10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8D88C9-4047-4011-8B28-4764509D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05FFF3-DC88-40FA-B679-739A82B4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EXTENSIONS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6F4E9-EA0C-40F6-A36F-B3537AF56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Perspectives et extensions possibles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27037B-E12F-453B-8771-15F4B938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projet peut etre etendu sans casser le coeur scientifique deja realise.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5969D5-824B-4558-8E89-B1E358A5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847EC-F6BE-4134-8066-F79858328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Extensions techniques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4C1BDF-876C-4289-B574-1329C9D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51EBC-81D6-4AFB-9B14-DEB21DDF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Mieux exploiter HSV pour certaines comparaisons couleur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5CEE70-9823-4260-89CE-486417EE1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62800-9C4A-48A2-A2D5-07BB058A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Ameliorer encore l'analyse de l'exposition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E20B7C-7D1F-4417-8AAD-65F44BFDD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66CFCD-99E1-45CB-876B-5FB4F90DA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Rendre le fallback DINO plus strategique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3B5EC-BE77-4066-8881-8E62994D8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24AAD1-D5F1-44B5-A8A5-D6C1141F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Extensions produit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2FB2D-425C-44BB-973C-123F4A2C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6CD3A9-E7D4-47A3-A1B0-9DE56349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Ajouter d'autres familles de produits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49EC3-511E-4635-9E7E-2C6419650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227608-6B26-429E-8AEC-911742FF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Mieux structurer les attributs de marque et de categorie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E8F149-5C69-423C-A50B-1C3FC064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CF619D-15F4-495C-887B-CC38F39B0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Renforcer le batch sur de gros dossiers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D5D831-FD4A-46D6-98A3-3FCB25CFD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9525">
            <a:solidFill>
              <a:srgbClr val="27345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9E4F3-7275-4C1C-8E19-A2F8F9265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47900"/>
            <a:ext cx="3086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1E0C6"/>
                </a:solidFill>
                <a:latin typeface="Aptos Display"/>
                <a:ea typeface="Aptos Display"/>
                <a:cs typeface="Aptos Display"/>
              </a:rPr>
              <a:t>Extension business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385335-7975-4F89-AA2B-DDEAFEF5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86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C71A67-3CCE-4A80-81CF-C603C83E4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289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Ajouter un assistant d'annonce separé du scoring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5BFD59-3E1D-4A62-972F-473943FC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952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2CAB30F-1BA6-4D5D-B0A2-F579C873A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Generer titre, description et conseils via LLM vision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F0D8AE-9004-4A69-9CB6-FE407F36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2194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2CBEB4-96FE-4E36-A375-32C8D3C6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623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Connecter un workflow n8n pour l'automatisation vendeur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EB80DE-4FE7-44CA-B910-98A88BBC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5E7904-634B-4FA5-9863-EF20729B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54365366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39D325-59BF-49CC-84E8-BB35A96B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B2E"/>
          </a:solidFill>
          <a:ln xmlns:a="http://schemas.openxmlformats.org/drawingml/2006/main" w="0">
            <a:solidFill>
              <a:srgbClr val="131B2E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39CB9E-0594-49BC-B7CB-9BC1D328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CD5C77-F9D6-4476-9462-51A2B931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B9D1E-E9F0-4E4C-985E-7879CD57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3900"/>
            <a:ext cx="10858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7F3EA"/>
                </a:solidFill>
                <a:latin typeface="Aptos Display"/>
                <a:ea typeface="Aptos Display"/>
                <a:cs typeface="Aptos Display"/>
              </a:rPr>
              <a:t>Conclusion generale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1B0318-1916-43F9-BB44-362D5371C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47800"/>
            <a:ext cx="10287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B7C0D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B7C0D8"/>
                </a:solidFill>
                <a:latin typeface="Aptos"/>
                <a:ea typeface="Aptos"/>
                <a:cs typeface="Aptos"/>
              </a:rPr>
              <a:t>Le projet atteint son objectif principal : evaluer automatiquement la qualite d'une photo produit sans entrainement local.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5A3A0-5B60-4736-BAE5-B1B42BDA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6D3FC3-267A-4ECE-8CE4-C4D663AD0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86000"/>
            <a:ext cx="1049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pipeline zero-shot complet fonctionne de bout en bout.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F0C3AD-082A-4B86-95FA-8A06F29C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6663CE-4A9D-4C9E-923E-6C6B43BD7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1049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crop selectionne rend le systeme interpretable.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C08780-A314-4CE0-994E-4EE9C379A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94A9AA-A3EA-4594-A555-4A3FF734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1049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dataset final propre et degrade permet une validation defendable.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A7126-8A3B-410B-A1B9-0881726C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719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E53664-CD81-4833-B901-E7039D13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9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La corrrelation humaine finale est positive et significative.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411F2-2164-42CC-A3C9-940AE4EFC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3A96A"/>
          </a:solidFill>
          <a:ln xmlns:a="http://schemas.openxmlformats.org/drawingml/2006/main" w="0">
            <a:solidFill>
              <a:srgbClr val="D3A96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C03157-C155-408B-87F5-2A2D4C8E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91000"/>
            <a:ext cx="104965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F7F3E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F7F3EA"/>
                </a:solidFill>
                <a:latin typeface="Aptos"/>
                <a:ea typeface="Aptos"/>
                <a:cs typeface="Aptos"/>
              </a:rPr>
              <a:t>Le projet est suffisamment solide pour etre demontre et discute en soutenance.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CA445-6268-4778-8E6F-5BF81B09F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76900"/>
            <a:ext cx="10763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D3A96A"/>
                </a:solidFill>
                <a:latin typeface="Aptos Display"/>
                <a:ea typeface="Aptos Display"/>
                <a:cs typeface="Aptos Display"/>
              </a:rPr>
              <a:t>Merci pour votre attention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D82529-D625-4389-B9A2-1008EC05E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6496050"/>
            <a:ext cx="3810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7E89A6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7E89A6"/>
                </a:solidFill>
                <a:latin typeface="Aptos"/>
                <a:ea typeface="Aptos"/>
                <a:cs typeface="Aptos"/>
              </a:rPr>
              <a:t>PFE Zero-Shot | Soutenance detaillee | 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9070FA-BEB5-4A22-9035-D56ECB0E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38900"/>
            <a:ext cx="266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F1E0C6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1E0C6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971261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2026-05-29T06:50:07.2020000Z</dcterms:created>
  <dcterms:modified xsi:type="dcterms:W3CDTF">2026-05-29T06:50:07.2020000Z</dcterms:modified>
</coreProperties>
</file>