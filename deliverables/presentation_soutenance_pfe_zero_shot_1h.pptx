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472b77fd334756" /><Relationship Type="http://schemas.openxmlformats.org/officeDocument/2006/relationships/extended-properties" Target="/docProps/app.xml" Id="R62385066bc6b4faf" /><Relationship Type="http://schemas.openxmlformats.org/officeDocument/2006/relationships/officeDocument" Target="/ppt/presentation.xml" Id="R297f185d3fa246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355cdf2cb44a25"/>
  </p:sldMasterIdLst>
  <p:notesMasterIdLst>
    <p:notesMasterId xmlns:r="http://schemas.openxmlformats.org/officeDocument/2006/relationships" r:id="R1a68aa9b1dd444b5"/>
  </p:notesMasterIdLst>
  <p:sldIdLst>
    <p:sldId xmlns:r="http://schemas.openxmlformats.org/officeDocument/2006/relationships" id="256" r:id="R8733907eb5fc4080"/>
    <p:sldId xmlns:r="http://schemas.openxmlformats.org/officeDocument/2006/relationships" id="257" r:id="R679b40921fe54c58"/>
    <p:sldId xmlns:r="http://schemas.openxmlformats.org/officeDocument/2006/relationships" id="258" r:id="R8392326a62434f49"/>
    <p:sldId xmlns:r="http://schemas.openxmlformats.org/officeDocument/2006/relationships" id="259" r:id="Reb0635c6e3fc4030"/>
    <p:sldId xmlns:r="http://schemas.openxmlformats.org/officeDocument/2006/relationships" id="260" r:id="R7f6ee6ac7d9c42fa"/>
    <p:sldId xmlns:r="http://schemas.openxmlformats.org/officeDocument/2006/relationships" id="261" r:id="R9e103486109d4ab7"/>
    <p:sldId xmlns:r="http://schemas.openxmlformats.org/officeDocument/2006/relationships" id="262" r:id="R32f6ce4c82a64929"/>
    <p:sldId xmlns:r="http://schemas.openxmlformats.org/officeDocument/2006/relationships" id="263" r:id="R64e407bd49694521"/>
    <p:sldId xmlns:r="http://schemas.openxmlformats.org/officeDocument/2006/relationships" id="264" r:id="R9441b82ef9bf4cfe"/>
    <p:sldId xmlns:r="http://schemas.openxmlformats.org/officeDocument/2006/relationships" id="265" r:id="R826de587aee24ee6"/>
    <p:sldId xmlns:r="http://schemas.openxmlformats.org/officeDocument/2006/relationships" id="266" r:id="R0c07b821abed461a"/>
    <p:sldId xmlns:r="http://schemas.openxmlformats.org/officeDocument/2006/relationships" id="267" r:id="R21395d3d1aa6495e"/>
    <p:sldId xmlns:r="http://schemas.openxmlformats.org/officeDocument/2006/relationships" id="268" r:id="R18b9a4fc03b24fc0"/>
    <p:sldId xmlns:r="http://schemas.openxmlformats.org/officeDocument/2006/relationships" id="269" r:id="R3775312243934157"/>
    <p:sldId xmlns:r="http://schemas.openxmlformats.org/officeDocument/2006/relationships" id="270" r:id="Rfc6a011b6c7c4931"/>
    <p:sldId xmlns:r="http://schemas.openxmlformats.org/officeDocument/2006/relationships" id="271" r:id="Rf360617b0ce048ea"/>
    <p:sldId xmlns:r="http://schemas.openxmlformats.org/officeDocument/2006/relationships" id="272" r:id="R6f216361aa904211"/>
    <p:sldId xmlns:r="http://schemas.openxmlformats.org/officeDocument/2006/relationships" id="273" r:id="Rbb43b8b5baa24335"/>
    <p:sldId xmlns:r="http://schemas.openxmlformats.org/officeDocument/2006/relationships" id="274" r:id="R4c73735ffdc241d2"/>
    <p:sldId xmlns:r="http://schemas.openxmlformats.org/officeDocument/2006/relationships" id="275" r:id="Rd40fd82317bb42c8"/>
    <p:sldId xmlns:r="http://schemas.openxmlformats.org/officeDocument/2006/relationships" id="276" r:id="R05c68fa08c724989"/>
    <p:sldId xmlns:r="http://schemas.openxmlformats.org/officeDocument/2006/relationships" id="277" r:id="R11d65be17d3b4767"/>
    <p:sldId xmlns:r="http://schemas.openxmlformats.org/officeDocument/2006/relationships" id="278" r:id="Rf4b8cbaf5273401d"/>
    <p:sldId xmlns:r="http://schemas.openxmlformats.org/officeDocument/2006/relationships" id="279" r:id="R521c981afb1c43b5"/>
    <p:sldId xmlns:r="http://schemas.openxmlformats.org/officeDocument/2006/relationships" id="280" r:id="R5c619744e7474267"/>
    <p:sldId xmlns:r="http://schemas.openxmlformats.org/officeDocument/2006/relationships" id="281" r:id="Reff56eb3b6fb48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55cdf2cb44a25" /><Relationship Type="http://schemas.openxmlformats.org/officeDocument/2006/relationships/theme" Target="/ppt/theme/theme1.xml" Id="R65f3859f177c44bf" /><Relationship Type="http://schemas.openxmlformats.org/officeDocument/2006/relationships/notesMaster" Target="/ppt/notesMasters/notesMaster1.xml" Id="R1a68aa9b1dd444b5" /><Relationship Type="http://schemas.openxmlformats.org/officeDocument/2006/relationships/presProps" Target="/ppt/presProps.xml" Id="R72f2dafbb5644305" /><Relationship Type="http://schemas.openxmlformats.org/officeDocument/2006/relationships/viewProps" Target="/ppt/viewProps.xml" Id="R4901014173d54342" /><Relationship Type="http://schemas.openxmlformats.org/officeDocument/2006/relationships/tableStyles" Target="/ppt/tableStyles.xml" Id="R2a42a464ba7243c2" /><Relationship Type="http://schemas.openxmlformats.org/officeDocument/2006/relationships/slide" Target="/ppt/slides/slide1.xml" Id="R8733907eb5fc4080" /><Relationship Type="http://schemas.openxmlformats.org/officeDocument/2006/relationships/slide" Target="/ppt/slides/slide2.xml" Id="R679b40921fe54c58" /><Relationship Type="http://schemas.openxmlformats.org/officeDocument/2006/relationships/slide" Target="/ppt/slides/slide3.xml" Id="R8392326a62434f49" /><Relationship Type="http://schemas.openxmlformats.org/officeDocument/2006/relationships/slide" Target="/ppt/slides/slide4.xml" Id="Reb0635c6e3fc4030" /><Relationship Type="http://schemas.openxmlformats.org/officeDocument/2006/relationships/slide" Target="/ppt/slides/slide5.xml" Id="R7f6ee6ac7d9c42fa" /><Relationship Type="http://schemas.openxmlformats.org/officeDocument/2006/relationships/slide" Target="/ppt/slides/slide6.xml" Id="R9e103486109d4ab7" /><Relationship Type="http://schemas.openxmlformats.org/officeDocument/2006/relationships/slide" Target="/ppt/slides/slide7.xml" Id="R32f6ce4c82a64929" /><Relationship Type="http://schemas.openxmlformats.org/officeDocument/2006/relationships/slide" Target="/ppt/slides/slide8.xml" Id="R64e407bd49694521" /><Relationship Type="http://schemas.openxmlformats.org/officeDocument/2006/relationships/slide" Target="/ppt/slides/slide9.xml" Id="R9441b82ef9bf4cfe" /><Relationship Type="http://schemas.openxmlformats.org/officeDocument/2006/relationships/slide" Target="/ppt/slides/slide10.xml" Id="R826de587aee24ee6" /><Relationship Type="http://schemas.openxmlformats.org/officeDocument/2006/relationships/slide" Target="/ppt/slides/slide11.xml" Id="R0c07b821abed461a" /><Relationship Type="http://schemas.openxmlformats.org/officeDocument/2006/relationships/slide" Target="/ppt/slides/slide12.xml" Id="R21395d3d1aa6495e" /><Relationship Type="http://schemas.openxmlformats.org/officeDocument/2006/relationships/slide" Target="/ppt/slides/slide13.xml" Id="R18b9a4fc03b24fc0" /><Relationship Type="http://schemas.openxmlformats.org/officeDocument/2006/relationships/slide" Target="/ppt/slides/slide14.xml" Id="R3775312243934157" /><Relationship Type="http://schemas.openxmlformats.org/officeDocument/2006/relationships/slide" Target="/ppt/slides/slide15.xml" Id="Rfc6a011b6c7c4931" /><Relationship Type="http://schemas.openxmlformats.org/officeDocument/2006/relationships/slide" Target="/ppt/slides/slide16.xml" Id="Rf360617b0ce048ea" /><Relationship Type="http://schemas.openxmlformats.org/officeDocument/2006/relationships/slide" Target="/ppt/slides/slide17.xml" Id="R6f216361aa904211" /><Relationship Type="http://schemas.openxmlformats.org/officeDocument/2006/relationships/slide" Target="/ppt/slides/slide18.xml" Id="Rbb43b8b5baa24335" /><Relationship Type="http://schemas.openxmlformats.org/officeDocument/2006/relationships/slide" Target="/ppt/slides/slide19.xml" Id="R4c73735ffdc241d2" /><Relationship Type="http://schemas.openxmlformats.org/officeDocument/2006/relationships/slide" Target="/ppt/slides/slide20.xml" Id="Rd40fd82317bb42c8" /><Relationship Type="http://schemas.openxmlformats.org/officeDocument/2006/relationships/slide" Target="/ppt/slides/slide21.xml" Id="R05c68fa08c724989" /><Relationship Type="http://schemas.openxmlformats.org/officeDocument/2006/relationships/slide" Target="/ppt/slides/slide22.xml" Id="R11d65be17d3b4767" /><Relationship Type="http://schemas.openxmlformats.org/officeDocument/2006/relationships/slide" Target="/ppt/slides/slide23.xml" Id="Rf4b8cbaf5273401d" /><Relationship Type="http://schemas.openxmlformats.org/officeDocument/2006/relationships/slide" Target="/ppt/slides/slide24.xml" Id="R521c981afb1c43b5" /><Relationship Type="http://schemas.openxmlformats.org/officeDocument/2006/relationships/slide" Target="/ppt/slides/slide25.xml" Id="R5c619744e7474267" /><Relationship Type="http://schemas.openxmlformats.org/officeDocument/2006/relationships/slide" Target="/ppt/slides/slide26.xml" Id="Reff56eb3b6fb48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ce3041707b947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5091de7cc94e6f" /><Relationship Type="http://schemas.openxmlformats.org/officeDocument/2006/relationships/notesMaster" Target="/ppt/notesMasters/notesMaster1.xml" Id="R1b77887e846446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5e8ecd5c2b4989" /><Relationship Type="http://schemas.openxmlformats.org/officeDocument/2006/relationships/notesMaster" Target="/ppt/notesMasters/notesMaster1.xml" Id="R5a3a1098ea6a45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22cbc898ad4673" /><Relationship Type="http://schemas.openxmlformats.org/officeDocument/2006/relationships/notesMaster" Target="/ppt/notesMasters/notesMaster1.xml" Id="R66b18ba29d394a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ae2e6caef342b5" /><Relationship Type="http://schemas.openxmlformats.org/officeDocument/2006/relationships/notesMaster" Target="/ppt/notesMasters/notesMaster1.xml" Id="R588a68cdcbc641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6612d215704053" /><Relationship Type="http://schemas.openxmlformats.org/officeDocument/2006/relationships/notesMaster" Target="/ppt/notesMasters/notesMaster1.xml" Id="R3349023a82484b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49af16ea1e48c8" /><Relationship Type="http://schemas.openxmlformats.org/officeDocument/2006/relationships/notesMaster" Target="/ppt/notesMasters/notesMaster1.xml" Id="R92876aca9ea64e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c78a74aaa64295" /><Relationship Type="http://schemas.openxmlformats.org/officeDocument/2006/relationships/notesMaster" Target="/ppt/notesMasters/notesMaster1.xml" Id="R3d012f9939e842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0e28295c754b56" /><Relationship Type="http://schemas.openxmlformats.org/officeDocument/2006/relationships/notesMaster" Target="/ppt/notesMasters/notesMaster1.xml" Id="Ra0f5cbb982ed47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a403ed3e014a31" /><Relationship Type="http://schemas.openxmlformats.org/officeDocument/2006/relationships/notesMaster" Target="/ppt/notesMasters/notesMaster1.xml" Id="R4c967e3a77ee49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b437613bc24c0e" /><Relationship Type="http://schemas.openxmlformats.org/officeDocument/2006/relationships/notesMaster" Target="/ppt/notesMasters/notesMaster1.xml" Id="R6647d1f0a8fb46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68c3a3bf3e49ce" /><Relationship Type="http://schemas.openxmlformats.org/officeDocument/2006/relationships/notesMaster" Target="/ppt/notesMasters/notesMaster1.xml" Id="Rf8b390a1ab764f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4c93d9783f4329" /><Relationship Type="http://schemas.openxmlformats.org/officeDocument/2006/relationships/notesMaster" Target="/ppt/notesMasters/notesMaster1.xml" Id="R66f89816b58c49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6a32ffa9584285" /><Relationship Type="http://schemas.openxmlformats.org/officeDocument/2006/relationships/notesMaster" Target="/ppt/notesMasters/notesMaster1.xml" Id="R98c7b2b23ca049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72db863ef344f6" /><Relationship Type="http://schemas.openxmlformats.org/officeDocument/2006/relationships/notesMaster" Target="/ppt/notesMasters/notesMaster1.xml" Id="Rfc16ad99fc444f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a37fb671984417" /><Relationship Type="http://schemas.openxmlformats.org/officeDocument/2006/relationships/notesMaster" Target="/ppt/notesMasters/notesMaster1.xml" Id="R17830815e4934e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5998bfe2644dfc" /><Relationship Type="http://schemas.openxmlformats.org/officeDocument/2006/relationships/notesMaster" Target="/ppt/notesMasters/notesMaster1.xml" Id="Rbc472e9d861b47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0a7797f6ca4bbb" /><Relationship Type="http://schemas.openxmlformats.org/officeDocument/2006/relationships/notesMaster" Target="/ppt/notesMasters/notesMaster1.xml" Id="R95bbb4daf5574d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49170fe2bf49dc" /><Relationship Type="http://schemas.openxmlformats.org/officeDocument/2006/relationships/notesMaster" Target="/ppt/notesMasters/notesMaster1.xml" Id="R6a168da1d877480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f07bcb37444c2f" /><Relationship Type="http://schemas.openxmlformats.org/officeDocument/2006/relationships/notesMaster" Target="/ppt/notesMasters/notesMaster1.xml" Id="Rc2c02c0eb1ea4d1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ed5b6616c745d0" /><Relationship Type="http://schemas.openxmlformats.org/officeDocument/2006/relationships/notesMaster" Target="/ppt/notesMasters/notesMaster1.xml" Id="R46d05b18fe3c418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4e1cc7f8afa4206" /><Relationship Type="http://schemas.openxmlformats.org/officeDocument/2006/relationships/notesMaster" Target="/ppt/notesMasters/notesMaster1.xml" Id="R78fcb19f087a408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37187b631b7491c" /><Relationship Type="http://schemas.openxmlformats.org/officeDocument/2006/relationships/notesMaster" Target="/ppt/notesMasters/notesMaster1.xml" Id="R968c9d7cd9b04d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4338659a41428d" /><Relationship Type="http://schemas.openxmlformats.org/officeDocument/2006/relationships/notesMaster" Target="/ppt/notesMasters/notesMaster1.xml" Id="Rb50f15e5901a448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645173441654e6e" /><Relationship Type="http://schemas.openxmlformats.org/officeDocument/2006/relationships/notesMaster" Target="/ppt/notesMasters/notesMaster1.xml" Id="Ree85eccd55064fb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6b315ca9d94143" /><Relationship Type="http://schemas.openxmlformats.org/officeDocument/2006/relationships/notesMaster" Target="/ppt/notesMasters/notesMaster1.xml" Id="R77b4e6e734e34a6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7546ce990a41be" /><Relationship Type="http://schemas.openxmlformats.org/officeDocument/2006/relationships/notesMaster" Target="/ppt/notesMasters/notesMaster1.xml" Id="Rd5d0270cd82d44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4092018b1448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41e5f46b92c435b" /><Relationship Type="http://schemas.openxmlformats.org/officeDocument/2006/relationships/slideLayout" Target="/ppt/slideLayouts/slideLayout2.xml" Id="R1811db45b63045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11db45b63045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b473433b4845e1" /><Relationship Type="http://schemas.openxmlformats.org/officeDocument/2006/relationships/notesSlide" Target="/ppt/notesSlides/notesSlide1.xml" Id="R86906397a49748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d085f5b20c4c44" /><Relationship Type="http://schemas.openxmlformats.org/officeDocument/2006/relationships/notesSlide" Target="/ppt/notesSlides/notesSlide2.xml" Id="R9cd3c01a9ff444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837b6377914554" /><Relationship Type="http://schemas.openxmlformats.org/officeDocument/2006/relationships/notesSlide" Target="/ppt/notesSlides/notesSlide3.xml" Id="Re3a4f21e13aa43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5ec1439a4c4a89" /><Relationship Type="http://schemas.openxmlformats.org/officeDocument/2006/relationships/notesSlide" Target="/ppt/notesSlides/notesSlide4.xml" Id="R90a65ffe4bba40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00135838714a20" /><Relationship Type="http://schemas.openxmlformats.org/officeDocument/2006/relationships/notesSlide" Target="/ppt/notesSlides/notesSlide5.xml" Id="Rcced2cb692f748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50248e34fb4346" /><Relationship Type="http://schemas.openxmlformats.org/officeDocument/2006/relationships/notesSlide" Target="/ppt/notesSlides/notesSlide6.xml" Id="R3ca1537be0e54c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5b724dd8e74294" /><Relationship Type="http://schemas.openxmlformats.org/officeDocument/2006/relationships/notesSlide" Target="/ppt/notesSlides/notesSlide7.xml" Id="R48ac9df5991148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5dd54eaecc4d8e" /><Relationship Type="http://schemas.openxmlformats.org/officeDocument/2006/relationships/notesSlide" Target="/ppt/notesSlides/notesSlide8.xml" Id="R2a6c2fa314994f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37bdbdd2024287" /><Relationship Type="http://schemas.openxmlformats.org/officeDocument/2006/relationships/notesSlide" Target="/ppt/notesSlides/notesSlide9.xml" Id="Rcd6384b52e8b43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9b2ab533814928" /><Relationship Type="http://schemas.openxmlformats.org/officeDocument/2006/relationships/notesSlide" Target="/ppt/notesSlides/notesSlide10.xml" Id="R53e6babcd5a04f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e773a75a344f83" /><Relationship Type="http://schemas.openxmlformats.org/officeDocument/2006/relationships/notesSlide" Target="/ppt/notesSlides/notesSlide11.xml" Id="R6470540b0b4745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76159f5859450a" /><Relationship Type="http://schemas.openxmlformats.org/officeDocument/2006/relationships/notesSlide" Target="/ppt/notesSlides/notesSlide12.xml" Id="Re79baa6b784041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56505911af4491" /><Relationship Type="http://schemas.openxmlformats.org/officeDocument/2006/relationships/notesSlide" Target="/ppt/notesSlides/notesSlide13.xml" Id="Ra28b73efeeda41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595e1da94146c1" /><Relationship Type="http://schemas.openxmlformats.org/officeDocument/2006/relationships/notesSlide" Target="/ppt/notesSlides/notesSlide14.xml" Id="Rc91653d63b884b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0429700182408a" /><Relationship Type="http://schemas.openxmlformats.org/officeDocument/2006/relationships/notesSlide" Target="/ppt/notesSlides/notesSlide15.xml" Id="Ra1d33fa781b249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3e8467b7be49e4" /><Relationship Type="http://schemas.openxmlformats.org/officeDocument/2006/relationships/notesSlide" Target="/ppt/notesSlides/notesSlide16.xml" Id="R43e7b6a48b0546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b823e6c11c4465" /><Relationship Type="http://schemas.openxmlformats.org/officeDocument/2006/relationships/image" Target="/ppt/media/image.jpeg" Id="R70c385dae8344e37" /><Relationship Type="http://schemas.openxmlformats.org/officeDocument/2006/relationships/image" Target="/ppt/media/image2.jpeg" Id="R7f276fe1237a49bb" /><Relationship Type="http://schemas.openxmlformats.org/officeDocument/2006/relationships/image" Target="/ppt/media/image3.jpeg" Id="Rf4bcf3d0e7494b94" /><Relationship Type="http://schemas.openxmlformats.org/officeDocument/2006/relationships/notesSlide" Target="/ppt/notesSlides/notesSlide17.xml" Id="R3b6a335d61eb47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e19e777be4491b" /><Relationship Type="http://schemas.openxmlformats.org/officeDocument/2006/relationships/image" Target="/ppt/media/image4.jpeg" Id="Ra7934733593d465c" /><Relationship Type="http://schemas.openxmlformats.org/officeDocument/2006/relationships/image" Target="/ppt/media/image5.jpeg" Id="R3fe606937f1b4b13" /><Relationship Type="http://schemas.openxmlformats.org/officeDocument/2006/relationships/image" Target="/ppt/media/image6.jpeg" Id="R0e65926308834949" /><Relationship Type="http://schemas.openxmlformats.org/officeDocument/2006/relationships/image" Target="/ppt/media/image7.jpeg" Id="Rd6d3d3d782364983" /><Relationship Type="http://schemas.openxmlformats.org/officeDocument/2006/relationships/notesSlide" Target="/ppt/notesSlides/notesSlide18.xml" Id="R1edde1012ed546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063d4626a448dc" /><Relationship Type="http://schemas.openxmlformats.org/officeDocument/2006/relationships/notesSlide" Target="/ppt/notesSlides/notesSlide19.xml" Id="R0e21be1f95ae405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26e311555e434e" /><Relationship Type="http://schemas.openxmlformats.org/officeDocument/2006/relationships/notesSlide" Target="/ppt/notesSlides/notesSlide20.xml" Id="R35d8b1fc0a3241b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de1eb944314711" /><Relationship Type="http://schemas.openxmlformats.org/officeDocument/2006/relationships/image" Target="/ppt/media/image.png" Id="Ref5f16606b1e4463" /><Relationship Type="http://schemas.openxmlformats.org/officeDocument/2006/relationships/notesSlide" Target="/ppt/notesSlides/notesSlide21.xml" Id="R8db9fce538324d4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1771efddb2413b" /><Relationship Type="http://schemas.openxmlformats.org/officeDocument/2006/relationships/image" Target="/ppt/media/image8.jpeg" Id="Rfad374b5656b434a" /><Relationship Type="http://schemas.openxmlformats.org/officeDocument/2006/relationships/notesSlide" Target="/ppt/notesSlides/notesSlide22.xml" Id="Rbc4d405db8694a4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9332befadf4c30" /><Relationship Type="http://schemas.openxmlformats.org/officeDocument/2006/relationships/notesSlide" Target="/ppt/notesSlides/notesSlide23.xml" Id="R189cc400c38f4ce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169d4e78704466" /><Relationship Type="http://schemas.openxmlformats.org/officeDocument/2006/relationships/notesSlide" Target="/ppt/notesSlides/notesSlide24.xml" Id="Rce38fe86220f41d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6762aa1696493e" /><Relationship Type="http://schemas.openxmlformats.org/officeDocument/2006/relationships/notesSlide" Target="/ppt/notesSlides/notesSlide25.xml" Id="R567e20fca48b420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b782f2631442e0" /><Relationship Type="http://schemas.openxmlformats.org/officeDocument/2006/relationships/notesSlide" Target="/ppt/notesSlides/notesSlide26.xml" Id="Racf178a93f2a48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BCDDDF-DC95-4519-9095-9DF3ACB1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8BF57-4381-4806-AE72-6C38B47A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AE888-9033-4900-BF47-16028CFC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5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CC0CA-7B16-4FA3-851C-619D0AE0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47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Soutenance PFE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4298C-3D43-46D7-B19C-B062C7F7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6191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Systeme zero-shot d'evaluation automatique de la qualite d'images produit e-commerce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1F1B0-B9E6-453E-BC34-08E0ADCE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Pipeline multimodal explicable combinant NLP, region proposal, CLIP, heuristiques visuelles et recommandations vendeur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85B33-E5A6-4722-B5D5-F3FD697F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763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828C5-63E9-4160-8660-6934AFC2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4478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AC27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AC27A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1326C-8BC6-469B-B97F-D85B50D8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050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entrainement 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271A1-6448-428F-AEE2-7ACE96BB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763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83968-DE83-4F78-9467-0CB73411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DA6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DA6FF"/>
                </a:solidFill>
                <a:latin typeface="Aptos Display"/>
                <a:ea typeface="Aptos Display"/>
                <a:cs typeface="Aptos Display"/>
              </a:rPr>
              <a:t>180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6FA20-79BB-45E0-81F4-8CD42B54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050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images propres finales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A1D87-7419-4D48-9063-BC73E852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43577-C66B-4719-8283-9E59C4BD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051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C8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0C85A"/>
                </a:solidFill>
                <a:latin typeface="Aptos Display"/>
                <a:ea typeface="Aptos Display"/>
                <a:cs typeface="Aptos Display"/>
              </a:rPr>
              <a:t>3240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CE5CE-E451-4797-9C61-0ACC17A3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623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images degradees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C21D2-AC2C-41A8-A5A1-9BF62FDA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30E31-928A-4967-B7E7-856B33E8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051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rPr>
              <a:t>rho = 0.38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31475-6355-487E-84A5-FBFBAF27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623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correlation Spearman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C510B-ACAF-4CDF-B7E7-419BAECD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Duree cible de la soutenance : environ 1 heure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CED1F-B1B0-475E-9BC7-E7862C33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A91390-07E1-47EC-9150-08B53BA3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739261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C2AF86-A64C-49FE-A4FC-71FB6588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0">
            <a:solidFill>
              <a:srgbClr val="131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78413-55B8-44CB-84E6-0674D2F4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87B63-A1DC-4518-A862-05541E39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61F4E-522B-45DD-AD13-F01784D4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Plan detaille de la soutenance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F2E02-7B97-4CC3-AB95-40C3266C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Une progression en 8 chapitres pour couvrir le probleme, la conception, l'evaluation et les limites.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501F0-4CC4-4220-A802-D945ED7D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9C013-856D-4171-8BCC-8C95CF60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Partie 1 - Cadrage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07E5B-3759-47E0-93DB-93132494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DE6B0-7735-4B2D-9359-930C1970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Contexte e-commerce et motivation du sujet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B3CB0-E321-4F8F-84B0-E5DECDC0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480BF-F651-435B-B7AE-1DB07464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Problematique, question de recherche et objectifs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38489-1DC5-4725-88D4-7B07B628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0F98E-8EF3-4443-AA8B-55111633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Hypotheses scientifiques et contraintes du PFE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EF79E-9A2D-455F-8B36-D7F0C56A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722C7-5FFB-4A31-8924-2E177A73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Partie 2 - Conception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32FF5-D612-4ECD-9903-5DBD1A53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0888E-B776-438B-880A-2DF7CC85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Architecture globale du pipeline zero-shot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5F3E7-3D9C-4CD9-BEEA-57476410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023DB-ED88-4A34-BC25-B36BAA49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Description detaillee de chaque module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5CA3D-493E-4A53-ACFB-B7C8C5DE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5A80F-561D-41D0-9235-C86BBAAD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Choix techniques et configuration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20979-7DAD-4CF6-A879-A6C17F1B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429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1BDB3-4721-43AE-9A7A-4B81C995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Partie 3 - Donnees et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06C74F-DD91-4D9D-B373-49E22D49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20C1C9-2534-45DA-A015-1D6027B8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Construction du dataset final et degradations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E11641-0816-4282-A7D9-C82DE5AB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D23432-B242-4DCF-AC1D-46F713EC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Protocoles d'evaluation auto et humaine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805B99-A790-4924-80CB-F88135E3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1558A6-1738-4212-A971-68F967BF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Resultats, limites et perspectives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8298F7-A043-4E75-97A9-950CD06C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ADA50C-3541-419E-A48C-C38361FC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591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Temps moyen recommande : 2 a 3 minutes par slide technique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7289B8-E377-4998-8C7E-F4352DA5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605DD4-5503-412B-A4FF-929534B9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10591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Deux moments demo possibles : architecture et application Streamlit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8FD4CF-D97A-4BA8-8982-1C459192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AF544A-D1BA-4076-9367-CF387544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591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Les chiffres montres dans le deck viennent des rapports du projet final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EEB3BF-4CC4-4BAF-932A-7C5DAFFF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5A68F1-B518-48DF-BE0F-1DB6CAA6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21806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4142AC-6DE2-47DA-9DA5-7B9E7FB9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FD41E-690F-4023-B09D-F41B0016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244B9-1469-4CB5-A698-0B62A378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CONTEXTE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AD57C-9C68-450E-9E75-ED9BF6A7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Pourquoi ce sujet est utile pour le e-commerce 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0DD58-6FE7-4ED2-8C5C-FE5E69E3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Les petits vendeurs ont rarement des moyens professionnels pour produire des photos produit constantes.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9CC0E-2E04-4EA6-8F4F-BE1E1CF6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74771-8D59-47DF-8687-63631DA7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Problemes observes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A00F0-F206-4E8D-AB74-F2352B95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3EF18-9337-47A3-9DF9-B9001D9B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Photos floues ou mal exposees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86EB0-3328-40B5-8D2E-6DC6187C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B5A06-E52B-49B9-8BB8-21F52A4C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Cadrage incomplet ou produit trop petit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77A12-96F7-4A4C-A861-55575EFD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EFC70-B8A4-4694-A262-B98D6D78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Incoherence entre image et fiche produit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00AD2-D8C0-4A45-802D-3F90EB94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71EA5-4430-402B-83B7-36F545AF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Qualite visuelle tres heterogene d'une annonce a l'autre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E9171-64F9-4B4C-BCF2-6A2229B3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A4C95-712D-4B0C-84A3-208D953E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Impact metier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271DD-2DE0-4F9D-AEB0-63CFDE1F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2A829-6BA7-4A49-8ADB-E65C0F7D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28900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Moindre confiance du client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65368-48F7-48C8-9BC4-F7C76F4F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9767C-4976-491A-888E-397913EE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5600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Baisse du taux de conversion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C0C91-D294-49F8-8D3E-E9610E17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D6891-182E-42DC-B56F-90F383F7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62300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Retours plus probables si le produit est mal represente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5C61A-C241-42AF-9A78-7A3CA4FA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06FB73-C1F7-4AF9-802C-6BE16041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Temps perdu a corriger ou republier des fiches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1258BF-A8DC-4C39-A644-F99DE5C0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D8B6E9-7C45-4155-802D-1787FCDF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Besoin reel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A976E2-724F-489C-9E08-AB4778F3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3DBA2D-B2BF-4C4F-84AA-783D8346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Un outil simple, rapide et interpretable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6BC2A4-5218-4B94-A80C-F639BB75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C9F3A9-918D-4517-9BF0-37F70288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Sans entrainement couteux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09B926-0C9E-48AA-A31A-0029E597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BAF419-7A87-44A5-8047-B17CD05F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Capable de donner un score et des conseils concrets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338CEC-A110-48E2-8E32-6A5E9162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52C308-BF66-4B4D-A08E-38D95806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Utilisable par un non-expert de la photographie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F1709E-8E8A-4B8A-B372-B95F7633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5B2741-1D65-44F8-8BAE-649BCAA5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569131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168288-BA16-4205-A7D9-3A3649FE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0">
            <a:solidFill>
              <a:srgbClr val="131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C1152-9422-4974-88F3-5A627AF4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D455F-A230-4719-82C3-A482312D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44A7B-DF11-4701-9F9F-A84A9C7F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Problematique et question de recherche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58ECF-BE48-4CC5-9F7A-0A2D896B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Comment evaluer automatiquement la qualite d'une photo produit sans entrainer un modele specifique 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332B6-582B-4426-A9C2-C9811E0C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334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0546A-9F88-4A0E-9FAC-2A9D72D8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Question de recherche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42E7A-1A6C-497E-9042-D6C25C30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9B10C-3554-405B-A800-21F3B721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Peut-on construire un score de qualite pertinent en combinant texte, vision classique et CLIP 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32CA6-0302-48BB-95ED-03BE3272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65CDC-13B1-489F-BC4C-4CA26857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Peut-on garder un systeme explicable et defendable scientifiquement dans un delai court 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C8317-58E6-4C5F-AE2B-0A934673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467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534BA-97B0-4806-834A-23483F14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2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Reponse proposee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35310-4244-46BA-85A4-1AE6C8C5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05C1F-6C05-43DE-B228-9F2D5F38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Oui, via une architecture zero-shot multimodale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10E14-B562-412C-80D9-AC359D53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B5364-CA85-4A38-8700-A7C7AEB4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texte de l'annonce sert de verite d'entree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00577-4023-47CF-BDB1-BF46ACEC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790A9-E39F-454A-84A5-B050A240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produit cible est selectionne avant l'analyse de qualite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C08C1-377D-430B-B655-A4571EF6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23CC9-8502-4A1B-A64C-2A69047E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29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Les mesures sont interpretable et visibles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AAEE4-DF52-4899-AF2F-0025FC68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A44FB-05E7-4E71-BFDE-118C0C21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0496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Objectif principal : score global de qualite photo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B74C67-A674-4313-9DB1-C683CD36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422DD-3B55-43F3-BCCC-6CB15B43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0496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Objectif secondaire : conseils d'amelioration directement actionnables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D31520-F81F-4509-B4BB-D6C333DE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93DDDE-B045-42C3-A380-749C149C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10496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Objectif methodologique : eviter l'entrainement local tout en gardant une evaluation quantitative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E8725-44D9-4F36-BF04-C755A158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D039AF-7050-4260-96BA-A322D1AC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522372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C5F6A8-F112-4EA7-A792-366FFFE9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D50FD-536B-4102-ADCF-0C6A2B8A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9C59D-E622-4AC6-A9EF-8E709770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CONTRIBUTIONS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22E88-08D5-4184-9D22-28B796EC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Contributions du projet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EBBBD-F3B9-4555-9EAB-8AAF57CD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projet apporte une solution complete, explicable et evaluee experimentalement.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B9DCB-2C96-4CA9-86F2-05449D62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3223F-AEBF-4429-A1D9-30C2ECD9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Contribution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4B0FC-BEB3-422E-AAFA-A1EC95E9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237EA-F243-46BD-8BE6-DD2B41E3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Architecture zero-shot complete pour l'evaluation photo e-commerce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B0DEB-BEFD-484B-B9EE-15CB8CAE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1FC8D-FE75-470E-AB06-BABECE1F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Aucun entrainement de modele dans le depot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95679-DAC5-44EA-A304-3D0C3485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2C40D-D270-49B3-A2EE-E5173B20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Contribution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3F1D9-4C0C-4744-A96A-C84CFDBF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331C9-BD9B-408A-81E0-61438015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Selection du bon produit via regions candidates + CLIP + heuristiques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A1BB3-3005-447A-84ED-B8091D14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1453B-BD96-4DCD-B3E7-519613EE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Explicabilite du crop retenu et des sous-scores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4CFEA-F098-43B8-B585-EE3AB13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6A9DEE-A8DE-4045-BB62-4AF8CAF3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Contribution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400A5F-636D-4D9A-A414-EF4D2970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E1231D-514A-4EC6-B561-A03F961B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Dataset final propre + degradations controlees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C72348-71CA-48F4-A271-D82A31BE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67954-0E56-4952-9F93-8EB80611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Validation automatique et evaluation humaine finale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0F3E56-65AD-4417-9CB1-776613D3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57C496-0442-4BE1-BEEA-57716285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96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Valeur scientifique : combinaison multimodale explicable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A066E1-1793-485B-B41F-8C495501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DABD0-4A97-4151-92E9-7E3EB3A7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10496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Valeur pratique : application Streamlit demonstrable pour un vendeur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E5BEC5-9FD0-4CA3-A430-D70ABDE0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F2B6A7-36E5-4705-8B14-91A6D6D8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496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Valeur experimentale : protocoles reproductibles et rapport final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058E9A-3563-41A8-AB26-F79F4FAF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77CA3C-F458-4DA3-9E3E-BF13933C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5257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E9E2E8-E289-470C-BB49-6FF659CD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0">
            <a:solidFill>
              <a:srgbClr val="131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705E6-FC08-4C9A-9532-EFB473DD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E8FFA-E90A-4EF2-822B-299E3BF3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HYPOTHESES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CC2B7-5D0D-4DBE-BAEC-27F4276B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Hypotheses structurantes et contraintes du PFE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91843-3A62-4CFD-B88F-D2F8F1FA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Ces choix delimitent le scope et rendent le projet realisable sur environ deux mois.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A19E1-6A81-49A8-B436-A797CB80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334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9FB4F-4DE3-4E8F-AAE2-D17136CF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Hypotheses fortes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EFE06-BE42-44AF-AB17-F98F1D58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084B9-468F-46BA-848A-A302AE03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texte de l'annonce est la source de verite principale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615EC-1479-40E6-9617-7D2E21FC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526CF-AED5-465A-B853-693DA2AB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Pas d'OCR dans le chemin critique du scoring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15D26-F643-46ED-BC68-6FF7CC65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65E13-CBEB-471C-B142-0195A3ED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Pas d'entrainement local de modele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38234-E387-4C68-AB91-53008A53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B4E9D-0097-469B-978A-1571CAE8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Les mauvaises images sont generees par degradations controlees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1259F-24A4-4656-B2F9-26C68C25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4673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70A46-9661-49CD-A145-0A276226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2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Contraintes de 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48140-956B-4FC4-AA98-3DC36D84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9F8EC-5745-48C2-B965-6E7D3B45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Trois familles seulement : shoes, clothing, portable_electronics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0F06E-CD2B-4B71-917C-F0ABDBBF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3868B-6239-425B-970C-E1837BE9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systeme doit rester interpretable et presentable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C6D43-EF2B-43C1-9B04-6FF85DDE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11F7EE-B927-4E61-A817-B32402E2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temps disponible impose des choix pragmatiques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B1236F-A35E-43D1-87A4-97A8633F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D9EA3-5FE6-4C32-A2D7-2D6748B1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29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Les recommandations doivent rester simples pour un vendeur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3FFDDB-4420-40FD-A4B9-00A07E42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8165D-3806-4F4F-88C1-7A5A092A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037557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6243B8-BCDA-4763-B925-F94801A3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A09D3-EA5B-41C3-89F0-CDE74114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789DE-05D2-42D9-AA27-DA505EE3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POSITIONNEMENT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EAF27-CC67-4284-A941-98AB502B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Pourquoi une approche zero-shot plutot qu'une approche supervisee 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08268-AC4D-4276-906A-FF4D6495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choix n'est pas de battre un benchmark deep learning, mais de construire une solution credible, legere et explicable.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DCC9E-9594-40A3-BB23-8F68EDE9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3E178-DF30-4C71-9C47-62880B6A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Approche supervisee classique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57822-A9A8-4B79-A732-78AA302B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60987-E34A-4181-B78D-C466475B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Besoin d'un grand dataset annote manuellement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70946-3076-4A8B-A588-89BE4E5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D706C-824A-44B1-9F00-22233505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Cout de preparation et d'entrainement eleve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38B13-364B-4FCE-897E-3856E817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22133-8D8F-486C-B61D-4D5D21CB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Moins interpretable pour un petit PFE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DED81-436F-414A-9669-1B88E606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9A6CB-6C90-4DAE-9C65-5A1089B1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Risque d'etre hors delai pour 2 mois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733D2-3D91-4F31-B10F-00DAB901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467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691F3-AD45-4723-BB56-2568138A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2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Approche retenue ici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C6F90-694B-47EB-9186-05A68A40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3D86A1-8904-4317-9358-63EC6902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Reutilisation de modeles pre-entraines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3FB4B-A08F-4FEF-9BE2-9FB2F94C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B074F-383B-47AE-A82E-C3D81AD6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Fusion texte + image + heuristiques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94BC01-62DE-4C8B-864C-86915405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7C3F7-A73C-4B55-9186-BF852481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Explicabilite des etapes de 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25325F-8FCB-437B-9429-FF2C7CDD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5CB8B0-CF79-4B51-A708-1E3D6093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29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Validation via degradations controlees et corrrelation humaine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862697-A013-4408-B592-76373DB1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BA15AF-82F6-4F1F-8784-E11C93F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619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30D828-D5DE-410A-BE8A-DD723FE9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0">
            <a:solidFill>
              <a:srgbClr val="131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60A22-3EF5-45CA-AB94-A08DC8E8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39026-C1DE-4C96-8276-D59A305D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4E339-2CA8-465C-A310-F2768A4A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Architecture globale du systeme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190AF-8AEB-4100-9534-C9AA63AD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pipeline suit une logique simple : comprendre le texte, localiser le produit, analyser sa qualite, puis expliquer le resultat.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AB8C9-4F5B-44E8-998B-8CF8DF7D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714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3A"/>
          </a:solidFill>
          <a:ln xmlns:a="http://schemas.openxmlformats.org/drawingml/2006/main" w="9525">
            <a:solidFill>
              <a:srgbClr val="2C3B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26110-1EC6-4EEE-B38C-CA3A4662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Entree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6DB12-2AC4-477F-8F08-CE39BC33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4097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Image produit</a:t>
            </a:r>
          </a:p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Titre + description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A21E9-E63E-4510-925E-41050E4A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81250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3A"/>
          </a:solidFill>
          <a:ln xmlns:a="http://schemas.openxmlformats.org/drawingml/2006/main" w="9525">
            <a:solidFill>
              <a:srgbClr val="2C3B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9376C-0165-490D-B22C-1F949BE2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146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Text Processor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467D0-6547-42F9-B995-A376D535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00350"/>
            <a:ext cx="15049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Nettoyage</a:t>
            </a:r>
          </a:p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Extraction couleur / categorie / marque</a:t>
            </a:r>
          </a:p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Embedding CLIP texte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E05B1-9D2E-49F1-94C8-1B71DD38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3A"/>
          </a:solidFill>
          <a:ln xmlns:a="http://schemas.openxmlformats.org/drawingml/2006/main" w="9525">
            <a:solidFill>
              <a:srgbClr val="2C3B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4639C-9B8C-4FCD-9999-0633925C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146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Region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15280-B83B-44C4-9758-1F4157F9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00350"/>
            <a:ext cx="15049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Saliency OpenCV</a:t>
            </a:r>
          </a:p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Contours fallback</a:t>
            </a:r>
          </a:p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Maximum 5 regions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6DCB5-8B3B-4AF2-8A1C-23962E45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81250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3A"/>
          </a:solidFill>
          <a:ln xmlns:a="http://schemas.openxmlformats.org/drawingml/2006/main" w="9525">
            <a:solidFill>
              <a:srgbClr val="2C3B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BEF6D-1EE7-4028-AD32-84B4976E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146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Selector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1CEB0-F1A2-4018-956D-C68D1362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00350"/>
            <a:ext cx="15049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CLIP image/texte</a:t>
            </a:r>
          </a:p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Score visuel</a:t>
            </a:r>
          </a:p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Coherence categorie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21AE4-37B8-458B-9E7B-BF8A7CB5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81250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3A"/>
          </a:solidFill>
          <a:ln xmlns:a="http://schemas.openxmlformats.org/drawingml/2006/main" w="9525">
            <a:solidFill>
              <a:srgbClr val="2C3B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B1318-765C-45EA-89D3-F8623399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146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Analyzer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267F9-715A-4DDE-A5A5-DA661D07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00350"/>
            <a:ext cx="15049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Nettete</a:t>
            </a:r>
          </a:p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Exposition</a:t>
            </a:r>
          </a:p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Contraste</a:t>
            </a:r>
          </a:p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Resolution</a:t>
            </a:r>
          </a:p>
          <a:p xmlns:a="http://schemas.openxmlformats.org/drawingml/2006/main"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Coherence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3C56C-9362-40FB-994A-DF785C73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575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A30A9B-9474-47D7-896F-0C933939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9900"/>
            <a:ext cx="13335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A1D5C-4501-48A0-8DCD-9B00C441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575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E77715-1966-40ED-B0E7-4F08DC67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9900"/>
            <a:ext cx="13335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2D1115-77C8-4FD8-9EFB-2828441C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575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F1ECF-DEA9-4E75-819E-C7379BB5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9900"/>
            <a:ext cx="13335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D30250-1E63-41BA-A6E8-D905D790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575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100174-4EF7-4788-9AFF-FFCE8A50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9900"/>
            <a:ext cx="13335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DB858A-EE03-4474-8E1F-EC30F847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Sorties finales : crop selectionne, score global, sous-scores explicables, recommandations FR / Darija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B15166-7D3B-4A44-8CC6-E6040A37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C18ABA-D6FC-48BE-9140-09AC1A02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060548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FD59F6-ECC1-4AF0-8F59-79DA8DA8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6687D-C08F-4FBF-989D-145ED9ED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B0E43-ABC2-4AD2-96C5-30914F37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7E761-5403-4063-96B1-D5762524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Pipeline detaille et circulation de l'information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0E1F1-9ECE-4659-B35F-9EB51DE6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Chaque bloc repond a une question precise : de quoi parle l'annonce, ou est le produit, et la photo est-elle de bonne qualite 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0BD2A-E9D2-4196-B849-1F8A9783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B85D8-D7B1-4E71-9DD6-D16A430F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1. Comprendre l'annonce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C7E58-F690-4F88-9510-DE40AA82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A9446-BF17-4A4D-93EA-7EE108ED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texte est nettoye et normalise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A28CC-A6DC-428E-B79B-2CAE5951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C67ED-820B-487F-99F9-3C15AEDD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Extraction de couleur, categorie et marque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13699-6DE1-4FE9-A04D-64053969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51B3A-A4AA-4D4B-859D-F2B5F263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Creation d'un embedding texte reutilisable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7CF66-2B61-4632-AD58-131EC697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288D9-C497-4C81-B964-0597144D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526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2. Proposer des zones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37334-E4F3-4C7D-B0BD-B0D06B56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90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8897F-7117-4481-9C6A-C44DAC5F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336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systeme propose plusieurs regions candidates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E7F10-41CC-4E02-86AD-F6BADD01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CA773-C503-4F93-BAF9-1FB4C6A8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Pas de detection supervisee imposee par defaut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A2D8A-C091-4207-9CC2-058378AA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F247C3-D27B-4CE9-AA39-065D1B4D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670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Seulement 5 regions max pour maitriser le cout CLIP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1C608-DA30-4EBB-84E9-81F06510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7D278-61C7-435B-BCB9-DE3D655D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3. Analyser le bon crop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A16EF-E4A7-46B2-BA5C-C37F87ED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26C2D4-256D-4A83-B4BD-4E6A5300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selector choisit la region la plus coherente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A79968-9A6F-40E7-A872-6849B975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BC496-B302-4048-B60A-93114836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L'analyzer note la qualite visuelle du crop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D75B01-DF48-4AC6-A96F-70C5087A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A4C757-AA57-4A38-B155-7375598D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score final est justifie par criteres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12A368-2ACB-4B04-B771-79D0C8ED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BF2E64-C499-4C90-94AE-ADCFDE1D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49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texte intervient deux fois : selection du produit et verification de coherence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A56E87-2A47-4602-A8EE-712F6BF2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B0063F-EE18-484C-B77A-9DA81191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9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crop selectionne est central pour rendre l'IA compréhensible a l'utilisateur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366ABA-12EA-45F2-A11E-08801C88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8F0DAC-93FE-4E1D-B73C-56678C38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9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scoring global n'est jamais une boite noire pure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9C6203-96B0-404E-8715-97445118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09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F8D24E-77E5-4952-B836-820B5940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723062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CE5532-22DD-49F9-BD01-F43E43D6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0">
            <a:solidFill>
              <a:srgbClr val="131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EA451-DA94-41EF-AC8C-ECE4D583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879D5-8B0F-4C36-9CD5-7D550746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85B3F-C687-478A-887A-137C7AE0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Text Processor : transformer le texte en signal exploitable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9EBE9-999F-4230-A952-72062166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Cette brique donne au systeme sa source de verite principale.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D8D2D-FDBB-4F47-906B-818CC766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619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471D9-CC18-40A5-B9FD-9B3E60E2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Entree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7C2C2-2D19-4F14-BB60-61F6AB08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3B8DF-BD67-48F9-B7B0-4E9D182C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Titre du produit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C3130-B19D-4DD7-B131-56A5CB99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9A09F-3305-46AF-B253-A2782CAE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Description de l'annonce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D484E-C768-4589-9B96-9FDA0C10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94F0C-854E-4C6C-898A-EBE0343B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Texte libre fourni par le vendeur ou le 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129F2-F659-47E0-BA37-D6E978BA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619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C4F72-DC14-4345-9238-B259617A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4790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Traitements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3896B-02D7-4C3C-BF2D-D778CCE1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B6DB6-21E0-4560-85C7-17AA6F7D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Normalisation du texte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F1BD6-AFA4-4AF6-AE53-E8AFA763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869E3-26A3-4FB4-960C-DC1F7E83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spaCy fr_core_news_md si disponible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961356-F31B-4525-8770-9D2D3F62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F69B4-5826-480F-9443-0A9111C9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rapidfuzz + dictionnaires pour couleur / categorie / marque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70214-7E56-4D68-B744-43777CE0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4EA86-EE59-4093-8915-ECDE8849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Embedding CLIP multilingue texte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D55DE5-5F51-4EB8-ADDE-ADDBF01C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3619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DCDA6-4F42-4585-B3A5-80CC1A85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Sortie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D5F64A-4BF5-4AAD-BF2A-19029463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3598BF-F1A2-4042-BFE2-4DCBFEB7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clean_text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D2672A-DB94-40E8-9BF3-E195024C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85A402-B374-40DF-8D14-3B30E887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color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ADA6A7-A2F3-4CC4-A726-E7482BB6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4BB112-68B9-46EA-B3DC-573757D5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0F6D77-0CA4-4707-9E45-9FC0B193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278B5B-AAF0-45EB-84D8-9F9B0712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brand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C5F4C2-9B67-48B0-A2A9-24AD0066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9E4DBB-9D6A-4291-8F5D-57E04AFF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957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text_embedding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3508C7-2792-4143-ACFD-0FB881B9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5DD515-EDB1-4D34-AF63-3A257ECE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59356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EFD9C7-4A9A-4B7A-8785-4CA1E84F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EB8ED-A90B-4729-AE42-21EF2184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BF863-AFDF-4B6E-AC35-586DF31A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53B61-2D90-435F-BF38-662DCA98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Candidate Region Generator : proposer des zones sans detection supervisee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4831B-B809-42F6-9412-862E1DDF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projet ne suppose pas un detecteur entraine sur classes produit.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7EA86-73D6-44C7-BC77-44D1A6FA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B6907-9684-421B-B13E-A4CD5B8E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Strategie par defaut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5D999-7607-44AE-9804-6BD775B8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26321-0973-440A-BF75-82B63821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Saliency OpenCV si le module est disponible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FCF4C-1D6C-4061-A09A-9B443062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8876F-8B43-42D8-BE78-668724C9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Sinon fallback par seuillage adaptatif et contours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D3B18-9A07-453D-89E8-B4C971DF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88BB4-9687-4083-A0F2-2BA6F406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Regions triees par aire et centralite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D2C5D-8373-4BA1-B9FC-22E55712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3D89A-4980-4B6E-89F4-26548403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Maximum 5 regions candidates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EFA6E-BFD8-4B44-B406-0BEC6C5A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467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4BD94-FD1F-40BA-A513-293A72E1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2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Filet de securite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64847-F45A-41C6-92F7-C7B59C84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AE737-9CBC-408A-9A39-1236E967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Grounding DINO est disponible comme fallback activable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21802-86F9-4293-918B-8C8FBF99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2A61CC-D486-45B8-90F3-A8D34592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Desactive par defaut pour garder une methode legere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54CD94-271E-4044-B87E-2E475CBB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714BD7-D0F9-46F4-BFC0-63641AE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Utilisable si la saliency se revele insuffisante sur certaines photos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4800A1-8CEF-4460-AD12-CC36B557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4124D5-B111-4817-AC1F-EF968039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29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refine final du gagnant repose sur GrabCut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1CD2E-ED87-4ECE-94B8-15F06FCD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7B164C-5541-4852-9853-EBD75988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88069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E7FF06-CD9C-4C15-8341-98B8C5EA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0">
            <a:solidFill>
              <a:srgbClr val="131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E89D5-C352-46AB-AD77-3DD3C53D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2CD5E-1956-483E-BF7A-9E8DE4B1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5FD7A-7871-431D-8F0E-F73CF167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Selector : choisir le bon produit parmi les regions candidates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586A2-3917-4BF7-81B0-9161C4BA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selector est la piece centrale qui relie region proposal et score qualite.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FF808-D85D-4A04-B2D3-5C7EA7F6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82EF3-587F-4015-8B25-3178B121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Formule de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A9158-4733-4712-9CCE-4CC9C136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55358-BB37-4BE1-9CE9-ACF0FDB9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score = 0.6 * score_clip + 0.25 * score_visuel + 0.15 * score_categorie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59FD9-CEBB-4824-882B-F35D2212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1BB19-C1D4-4F8F-933E-9C6DEEE5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Poids stockes dans config.py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D1625-6F99-4740-9133-013110F3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528C2-0C02-420E-AB88-ECA41849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Calibration empirique assumee et explicite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B44AE-9D31-47D9-88AB-E9AE3031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3333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7CA57-E00F-4A03-945A-AA547683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479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Score CLIP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4466B-1D02-43FD-AE36-851F7D0D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27529-8517-4CDC-A20D-BCCDEAF3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2890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Embedding image du crop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CDFF6-5A53-4E81-8163-5A9AD72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89F71-116E-4E0B-A7DF-5101AFF9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Similarite cosinus avec l'embedding texte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71C23-17FA-4458-8197-EC28A971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66BB06-E208-4A76-B75F-12C534BC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6230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Signal principal de selection semantique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9F33FA-DB38-48FC-BF3C-9394678C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42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E98BEF-40E4-43C6-A1CA-832EDD21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Scores heuristiques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3B640-4597-4AE7-97D8-B3B3E19C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480BE2-18F8-40F3-9C54-68C09467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Visuel : aire normalisee x centralite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21F1B-BF85-480F-8B68-CA1812EC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290019-F1C7-48A5-93D3-C5D3AE43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Categorie : coherence faible mais utile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590946-EE28-4B5A-9077-51EF0E99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E1173A-A53D-4D6A-90F2-EF04B0F8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GrabCut applique seulement sur le gagnant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158CEC-FCCB-40A2-8A9B-98421AF8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Correctif important du projet final : eviter qu'un mini-crop tres contraste gagne artificiellement sur une grande zone produit plus plausible.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2DC908-51AC-46AD-AB5C-F31DE24D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74E0F4-B489-4552-B1DC-889C1744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0339897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243623-746C-4CF1-8F06-10937331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EF91C-63C1-4A02-BED3-287C98A0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733A3-B864-4B7A-9BDB-D4D19A62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C47F6-6E83-4D4D-8525-5A49F691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Analyzer : decomposition du score de qualite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9DC26-07B8-4DE8-9C1E-ACFC9ED6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score final est obtenu a partir de criteres lisibles et independants.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00AF3-3F7A-410D-AA33-A4C03014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34C17-3CBF-4AB5-B5A2-2E1BB305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Criteres visuels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6B81F-4886-4EF7-BA7E-C17CC61C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10A99-95AC-4CC5-AFA5-FDB53440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Nettete : variance du Laplacien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C5AE1-16E6-46B0-8CA6-20D5066F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F39A2-11EE-4F7B-8372-331E5F92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Exposition : statistiques de luminance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EA9BB-700B-46F4-873A-BF66FD85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7E1BF-DF06-43E1-B71F-EF368E1A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Contraste : ecart-type du niveau de gris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F453B-70D6-43B8-A56C-E218FC26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BB2B5-8579-4B27-88AF-9A6845DF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Balance couleurs : deviation inter-canaux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32E80-4505-4F6F-8BF6-CA47F76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FD6D2-53B3-4BF1-9166-9E8BDA40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Criteres structurels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E4ED9-5B6B-48E0-BE29-8C026FE5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A1AB0-7FA5-4C55-96AD-2AB11895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Resolution effective : taille utile + detail reel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83B4FD-FBA3-4B2E-BCCA-D47B9103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425B49-6DCC-4EAE-B3A7-7D0D4E29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Coherence image/texte : CLIP + couleur dominante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E2148E-0206-4BF1-9062-72728299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56A82-54BC-4BA5-B681-F0C6C2B1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La couleur reste un signal leger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A0CB5-2987-47E5-A264-6CC4CFD3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4550C0-B56D-48EA-84A9-132FC7E3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Sorties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2BC6E9-6851-4F76-92D8-D04F5539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6432BF-B369-4A29-98EF-DC03DBFF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Sous-scores 0 a 100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10579-A73A-4E0D-85AD-FA32C29E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E4A379-EF7D-4F69-A10E-83E52E17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Messages explicatifs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3F8345-A3D0-4578-A007-5B5B5834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FDB1F0-59E5-40EB-9C10-E142BEE5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Score global pondere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272FA5-B995-4A9E-8DD7-1035E145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15CF93-C785-4B51-BDE1-630302D3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Recommandations FR / Darija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AE49DD-1DA4-4C03-A511-68E622FC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13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16A641-B630-49D2-AAD0-BD8EB4B6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612947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1D00E7-2212-4250-B489-FF54549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0">
            <a:solidFill>
              <a:srgbClr val="131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A4B76-0BD6-4D2B-BF86-BC741787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B13B6-958C-45F4-8711-EE7ABB9D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38B2E-8659-403D-B16D-E1AE1313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Application Streamlit : interface de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093CB-6F3B-446D-A5A8-C7EE3679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L'application est volontairement sobre pour mettre l'accent sur l'explicabilite du resultat.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D8688-4CB7-40D4-9796-3F3357A7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C339A-6623-4049-B862-D2B8BB17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Analyse unique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A17F7-9C28-48B8-ABFB-39B2B916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A7CDB-1111-4AAA-8821-AF6B0B7C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Image + titre + description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27E83-8E70-4F52-BD78-1DF0A57C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EFE74-B813-462F-A92A-F12FDC88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Affichage du crop selectionne en priorite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4E2F0-55D3-4469-9DF3-C6305332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03BD9-4757-4F56-BCAE-2A1A08B2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Score global et sous-scores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81705-A742-41B3-8A2F-8E6B67AA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8CAFA-3AA3-43F6-8178-DD80323F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Bloc coherence image / texte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3CABF-C431-4D22-8995-F5E68F9D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C3BCB-A5FD-4742-A464-57ACBBB6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Mode batch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E2E81-8131-422B-A7AD-87190BF8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4CBB8-C100-43DC-87B4-086926A7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Traitement d'un dossier d'images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BD498-6129-405F-900A-178FA462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92D64C-9355-4FBC-B984-F6A18987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Tableau recapitulatif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1F71A3-51D2-4E92-A48A-432994F9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98F4C-8B8A-4869-B738-1E8E3E9E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Export CSV des resultats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DBB89-78BB-4F4D-8183-B3598E60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505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776B47-9A45-452B-AA60-2CE4B838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Mode debug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8378ED-1718-4731-AA52-87560002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9B1CB0-93DF-45C4-B7E3-54725483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Regions candidates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26BC53-5E47-445A-AC55-B94E12A2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38FA1F-8A60-41F4-AE35-2D7C060D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Scores intermediaires du selector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37C7A3-2546-44D2-A484-F391CB0F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2E7050-9B52-43EA-AB0D-77166A84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Etat du backend CLIP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8451AE-DCD3-48A2-9994-5967EA7E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1A0026-1962-457E-A152-B1254068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Informations sur la coherence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877271-E115-4844-BCA3-1460F27A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438617-14D4-4C9F-B7DF-39236002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049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crop selectionne est l'element d'interface le plus important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F8A8A7-9E43-4993-9785-51578A93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EAEA21-7755-4F68-968B-80AA4764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1049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L'utilisateur peut comprendre pourquoi la note est bonne ou mauvaise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129F4A-DCFE-4B05-9883-E15B62C3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58BF64-1A50-4BC2-8526-780C93E4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1049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systeme peut etre montre en direct en soutenance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D87F16-D676-4C3F-A63A-7A47F990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96F826-6A64-446D-B6E6-5118892E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4467952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D1CE2A-2E7F-47B1-B347-B0060E45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A3B7D-B623-402C-AF36-5084D40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CAFB7-FA1D-4D30-80E8-DF4020B3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DONNEES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1DAA1-8FD5-4012-B447-8CCD63E0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Strategie dataset : construire un jeu de donnees defendable sans annotation lourde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6D121-C931-4FF3-A2E5-2B8251D2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choix cle est de partir d'images propres et de generer les mauvaises images de facon controlee.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A9D90-5CB2-4833-A749-8CACC348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D6E0D-2DDF-4268-AD5B-867ED24A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Principes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0C81F-BB58-4DAB-84C6-94C87994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89AF8-6509-4802-8863-F6C255E1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Limiter le scope a trois familles de produits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86E23-8414-49BC-A65D-9330C242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B08E4-A6DC-41CE-B573-FD5865F4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Conserver des images suffisamment grandes et lisibles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FB8F9-6979-4451-8E92-6916FC4E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7DF7E-7CC3-42AF-8136-A27BF17E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Eviter l'annotation exhaustive manuelle de defauts reels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659BD-C724-486A-9720-5B1EFF4E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C4C40-4AFA-4BED-AAF2-B5A1FB64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Construire une verite-terrain exacte via degradations controlees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321BB-1E81-4629-AD7B-EF78348D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467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B757A5-4299-4982-AB89-FBBA1305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2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Sources reelles du projet final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EB87F-DE47-4C0A-9DA3-7205C49B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F3B19-6925-4260-B70A-366D1CDA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Base historique curatee du projet pour une partie des originaux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16836-5A33-4809-8D8B-BEAD3FCA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A517C-99F4-4C3B-B3CC-E1AA2F98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Complement Shopify/product-catalogue pour finir les quotas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E3B0B4-B44F-4D2C-BD7B-EA2A9222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98A025-4D9D-41E5-9B76-CEF12240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Pipeline de build final reproductible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1D27B8-5D3E-4BF0-9C08-3E565815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408CB-23C4-4593-890C-0AD82D90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29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metadata.csv et degraded_metadata.csv pour tracer les sources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D5D03-47F4-44F7-A8A6-2C5493D9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87532C-076A-40E9-BCD3-AB34D10A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0319384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52DABD-0483-49BB-8754-5C78E2A9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0">
            <a:solidFill>
              <a:srgbClr val="131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791F6-4BCC-4275-84D1-B87BAE6B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79978-89C3-45EF-85D4-F0DC7C5C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DATASET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FEADF-8B7A-4964-8B48-D1DFEF64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Composition du dataset final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65BF1-3290-4A78-B67B-BE9164BB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jeu final est volontairement compact, mais suffisant pour calibrer et valider le systeme.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75919-864C-405F-B376-EC408CFE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905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65BEF-9405-4371-8074-361F88B7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7D351-B566-4C9A-9443-23A8B7D4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shoes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ABA4F-AE64-4342-93B7-BE6D982B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905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EF34F-63E2-4CC3-879D-999A905C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DA6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DA6FF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A887F-EB75-49F8-BA11-47D8E368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289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clothing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BBD6A-D2B3-43BE-BCCD-C460C05D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002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C5F00-D29B-4F14-8996-CDD7F78A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71700"/>
            <a:ext cx="2133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AC27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AC27A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E6851-5857-42AA-8A55-BCC01248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289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portable_electronics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39CF7-224D-48CB-8C31-30F5C9CD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002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AF104-BC8C-4893-99D2-F1108913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717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C8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0C85A"/>
                </a:solidFill>
                <a:latin typeface="Aptos Display"/>
                <a:ea typeface="Aptos Display"/>
                <a:cs typeface="Aptos Display"/>
              </a:rPr>
              <a:t>180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0F21F-DB57-45F2-B2AC-E54D789C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289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images propres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BA8AE-217F-4FC0-B0D9-81E36795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905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DFDE8-E559-4153-910D-838876A1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71700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696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66969"/>
                </a:solidFill>
                <a:latin typeface="Aptos Display"/>
                <a:ea typeface="Aptos Display"/>
                <a:cs typeface="Aptos Display"/>
              </a:rPr>
              <a:t>3240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40297-6833-49EE-9178-3DE71A9B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289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images degradees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645302-5B02-4D9D-9F57-BFA51431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1435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9B032-F883-4476-96F3-77DED4EA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Metadata principal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BB986-5503-4D6F-BFE0-3660FA98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E95759-F86D-4052-88F4-69D60ED2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462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filename, filepath, category, source_dataset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80BC10-79EB-402F-8E4F-B6759A34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6914C1-0C12-40A9-AAAD-0FE5746C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462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title, description, width, height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14D3D-F648-4013-9542-DB3F28DB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634545-B45F-4D2E-AE59-BB39172D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462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human_score, degradation_type, degradation_level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FD4374-7F50-446F-BDF7-33A7C964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62350"/>
            <a:ext cx="52959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D3C7C2-9E5D-46DC-9621-298EB0E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Interet experimental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535BCB-EA04-4F17-8AF8-1DE093EC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1EECBD-6088-42B6-9F07-B3F26449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478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Chaque image degradee peut etre reliee a son original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4BC06A-D1CE-4710-A8BC-4D1EEB3C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9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67FA39-857C-4FF3-9D25-E3B51B4E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78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protocole permet des comparaisons propres image propre vs image degradee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C5780A-7555-4735-97D5-2CD126F9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31E5A1-4A7D-4C16-8ED5-7C1E42E2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29150"/>
            <a:ext cx="478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dataset reste assez petit pour etre inspecte manuellement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A083CC-EF2F-4FB7-8015-694F00FC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3C7996-DA4F-4220-86E1-4FD5C3D5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5775853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4D0BB7-C826-495B-9CF7-184D3176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19801-092B-4173-B42C-BFF8E988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738F6-AB73-488A-81F5-C36A2725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EXEMPLES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4A084-56F7-42DC-8431-621B4E6F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Exemples d'images propres dans le dataset final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CF055-4034-445B-BBA2-6EC023F8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Trois familles ont ete retenues pour maximiser la lisibilite du produit et la pertinence de CLIP.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CC44F-458A-4E89-B232-FBE787C0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4314E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385dae8344e37"/>
          <a:stretch xmlns:a="http://schemas.openxmlformats.org/drawingml/2006/main"/>
        </p:blipFill>
        <p:spPr>
          <a:xfrm xmlns:a="http://schemas.openxmlformats.org/drawingml/2006/main">
            <a:off x="981075" y="2171700"/>
            <a:ext cx="2705100" cy="2705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0A811-59B5-4648-9B01-290FDA01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310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SHO_001 - shoes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BEE61-FCB6-40EC-B403-6E390888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4314E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76fe1237a49bb"/>
          <a:stretch xmlns:a="http://schemas.openxmlformats.org/drawingml/2006/main"/>
        </p:blipFill>
        <p:spPr>
          <a:xfrm xmlns:a="http://schemas.openxmlformats.org/drawingml/2006/main">
            <a:off x="4743450" y="2171700"/>
            <a:ext cx="2705100" cy="27051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6B937-4400-4AC3-9960-ACCEE05A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914900"/>
            <a:ext cx="310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CLO_001 - clothing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BF802-9066-44EF-AE4F-FBF5E000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4314E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cf3d0e7494b94"/>
          <a:stretch xmlns:a="http://schemas.openxmlformats.org/drawingml/2006/main"/>
        </p:blipFill>
        <p:spPr>
          <a:xfrm xmlns:a="http://schemas.openxmlformats.org/drawingml/2006/main">
            <a:off x="8505825" y="2171700"/>
            <a:ext cx="2705100" cy="2705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4BD3E-4CC3-401E-A8B2-C935856C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14900"/>
            <a:ext cx="310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POR_001 - portable_electronics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D8301-B521-4320-A935-35FE8250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scope reduit est volontaire : produits reconnaissables, formes nettes, photos standardisables et evaluation plus defendable en 2 mois.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3AF3D-F5BB-4D22-8BAB-CA99FAF5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90465-1A75-4620-A026-FE134597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336256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D2E65D-827C-4457-BE1E-DBABD1BB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0">
            <a:solidFill>
              <a:srgbClr val="131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75053-D6E1-4C78-9EA3-4C62B58C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64643-21CC-4B3B-9709-11CC1BAD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DEGRADATIONS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A7286-CC9A-4F0D-8E04-47FC11C1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Degradations controlees utilisees pour creer les mauvaises images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A553D-9A94-4CF6-9E45-16A41049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Chaque degradation vise un defaut reele de photo produit e-commerce.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0BF22-C5B4-4BFE-839F-D8F2A8AE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66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4314E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34733593d465c"/>
          <a:stretch xmlns:a="http://schemas.openxmlformats.org/drawingml/2006/main"/>
        </p:blipFill>
        <p:spPr>
          <a:xfrm xmlns:a="http://schemas.openxmlformats.org/drawingml/2006/main">
            <a:off x="695325" y="2171700"/>
            <a:ext cx="2419350" cy="2419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C9D8A-2D83-4E7A-873B-AE68637C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Image propre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57AFC-02E1-46A8-8B4F-56EFF21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66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4314E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606937f1b4b13"/>
          <a:stretch xmlns:a="http://schemas.openxmlformats.org/drawingml/2006/main"/>
        </p:blipFill>
        <p:spPr>
          <a:xfrm xmlns:a="http://schemas.openxmlformats.org/drawingml/2006/main">
            <a:off x="3648075" y="2171700"/>
            <a:ext cx="2419350" cy="2419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ED86F-597E-486B-B53A-140F2D02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2915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Blur high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85DC0-CDFF-4337-BFE6-4A2067E1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66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4314E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5926308834949"/>
          <a:stretch xmlns:a="http://schemas.openxmlformats.org/drawingml/2006/main"/>
        </p:blipFill>
        <p:spPr>
          <a:xfrm xmlns:a="http://schemas.openxmlformats.org/drawingml/2006/main">
            <a:off x="6600825" y="2171700"/>
            <a:ext cx="2419350" cy="24193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819CF-8A9D-43AD-9949-8689C655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Lowres high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CD825-F770-47CE-A0C6-ED603AE5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2190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4314E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3d3d782364983"/>
          <a:stretch xmlns:a="http://schemas.openxmlformats.org/drawingml/2006/main"/>
        </p:blipFill>
        <p:spPr>
          <a:xfrm xmlns:a="http://schemas.openxmlformats.org/drawingml/2006/main">
            <a:off x="9505950" y="236220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F328B-5929-4075-9937-7A7F1726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2915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Bad crop 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475E8-128F-40E6-A68F-7DA234D2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C96EE-857F-49F1-931F-F43B8F99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9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Flou gaussien : verifie la sensibilite de la nettete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677151-6017-4F80-AAE6-0359BBB5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F0417-7057-437F-B57F-4A6BC72F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049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Sous/sur-exposition : verifie l'exposition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3DF604-5CD7-4825-9EA3-800B5B83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CF7B9-9888-49AB-92AC-B859C075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1049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Mauvais recadrage et lowres : verifient la resolution utile et le cadrage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6DE3D1-D28B-40FC-8F08-28336EFB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C4A18F-EB06-4BBA-87A7-D01E1D5A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34100"/>
            <a:ext cx="1049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Compression JPEG : simule des artefacts de sauvegarde ou reupload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0750B2-8FDF-4CF4-8405-06158A30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18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F47241-AA97-4B1A-9E57-D3B2902E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1120145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F7500B-6C69-4A27-BE0F-A047E1BB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3DF54-F63F-4438-BDF0-DD3C05D9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4C9A1-8AE6-4C1A-9A09-F454F7B0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PROTOCOLE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B2039-992B-4E9C-A6A8-1DA2CE00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Protocole d'evaluation experimental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0FDA2-FA18-4E01-8EE1-76F0766E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projet combine une validation automatique ciblee et une validation humaine finale.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50835-987E-481D-B08F-F0354F55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1ED5E-D591-4E90-88AE-EC0AA79A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Evaluation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6A67B-D843-4C28-805B-3D633174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A412A-F679-4211-8698-1BB4F2CB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Comparer chaque image degradee a son image propre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2A0BA-EB79-4831-BFF1-4C112F88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B6566-822A-41BF-9121-E59D8104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Mesurer si le bon critere chute reellement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0B7E2-668A-43C1-A63A-C6545DE6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E8E44-4EDE-426D-B47D-6CCF7C04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Exporter des tableaux de sensibilite par degradation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53A9D-58D7-444C-9EE6-30EEC881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CAD2A-B881-4DCB-A132-64A5C491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Evaluation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D5008-F328-4F51-B777-C3C9DD63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614D9-BE42-4D6C-9CB8-409FF337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Selection de 50 images pour annotation humaine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8B055-29DD-4305-8F73-9F2FD004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8F1008-F069-4295-B34F-60E93F09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Score humain renseigne manuellement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1077D-4E8F-47A2-9D2E-60D29ED4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76D2A-DD68-429C-B423-684DB0EB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Calcul de la corrrelation de Spearman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FC9B2-A32B-4ACB-8595-E92A0D73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6E54B9-2338-4CCF-8BF4-3678EB3B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Objectif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E11BD-90CA-4066-AC06-C9CE6035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5DE69-9083-416F-9A49-7F0882D5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Montrer que le systeme detecte bien certains defauts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EE0E39-0FC7-43DB-A837-24212858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69C013-19D3-42F1-9FB0-11CC1ADC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Montrer que son score reste lie au jugement humain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ECDBB3-4A82-4FA7-9115-D07D6951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74B19D-06F5-43BE-B1FB-F92C72A4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Assumer les limites de l'approche zero-shot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3DD554-D824-4059-BC73-FDA5C8E6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19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F75F7B-A243-4EA2-B4F7-66A738CD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6348943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7C0E27-6CFA-4D0E-A9B1-1E5CFFDC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0">
            <a:solidFill>
              <a:srgbClr val="131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334A0-6DC4-4173-9F50-170F6598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8BF92-BC3D-43B6-95AB-5ACE2BAE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RESULTATS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27BD5-BD10-4DBD-B890-4AFBE49A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Sensibilite par critere : ce que le systeme detecte bien ou mal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6BCCF-5245-4F52-A8AA-C1EA65AE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tableau suivant resume la baisse moyenne du bon critere sur les images degradees.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09B28-428C-4E21-BDAC-D44DEA56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blur -&gt; sharpness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4B400-CAFF-41B3-98C5-6E789730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0"/>
            <a:ext cx="390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5"/>
          </a:solidFill>
          <a:ln xmlns:a="http://schemas.openxmlformats.org/drawingml/2006/main" w="0">
            <a:solidFill>
              <a:srgbClr val="202B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04815-C1F9-4151-8A6E-958776A7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0"/>
            <a:ext cx="36430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C27A"/>
          </a:solidFill>
          <a:ln xmlns:a="http://schemas.openxmlformats.org/drawingml/2006/main" w="0">
            <a:solidFill>
              <a:srgbClr val="4AC2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FF826-4849-47F4-AE35-53079CA7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65.30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592AE-48DB-4146-990A-50E242BA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Tres bon resultat, quasi parfait.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CD6B2-E76E-4BA8-A9BA-4C6267C2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lowres -&gt; effective_resolution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E44F4-6CD4-4528-A247-9993100E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390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5"/>
          </a:solidFill>
          <a:ln xmlns:a="http://schemas.openxmlformats.org/drawingml/2006/main" w="0">
            <a:solidFill>
              <a:srgbClr val="202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A5126-5141-4DDD-A062-616E745A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116878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6FF"/>
          </a:solidFill>
          <a:ln xmlns:a="http://schemas.openxmlformats.org/drawingml/2006/main" w="0">
            <a:solidFill>
              <a:srgbClr val="6DA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2D978-0B0E-420A-9C98-1BB4DB2E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20.95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FE72C-3FA9-47D0-8E34-2A050D70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Bonne sensibilite apres recalibration.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238C4-B11C-455A-AAC4-E0A275A2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bad_crop -&gt; effective_resolution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A6624-CAAB-4EC0-AC09-35E5DEC3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0400"/>
            <a:ext cx="390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5"/>
          </a:solidFill>
          <a:ln xmlns:a="http://schemas.openxmlformats.org/drawingml/2006/main" w="0">
            <a:solidFill>
              <a:srgbClr val="202B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C1432-937B-42D9-9E5C-F1951452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0400"/>
            <a:ext cx="79220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5A"/>
          </a:solidFill>
          <a:ln xmlns:a="http://schemas.openxmlformats.org/drawingml/2006/main" w="0">
            <a:solidFill>
              <a:srgbClr val="F0C8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76C635-03B4-4E32-9C11-2FD2AC7F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14.20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4A7E4-8D22-47BD-B76A-680168FA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Sensibilite correcte mais perfectible.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00A801-8C1F-4188-939F-C0599CE3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overexposure -&gt; exposure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94835-EE63-4345-8442-D1AC9DA6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390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5"/>
          </a:solidFill>
          <a:ln xmlns:a="http://schemas.openxmlformats.org/drawingml/2006/main" w="0">
            <a:solidFill>
              <a:srgbClr val="202B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0B25D-E54B-4EE6-9F52-59E43A71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80057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5A"/>
          </a:solidFill>
          <a:ln xmlns:a="http://schemas.openxmlformats.org/drawingml/2006/main" w="0">
            <a:solidFill>
              <a:srgbClr val="F0C8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A10CF-66C6-4620-844B-D746D71B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14.35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A6D51A-F6CE-4D3E-830A-1CB9E1CC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Resultat moyen.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F5EB5-E1DE-4F10-949A-86189710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jpeg -&gt; sharpness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87BA97-A4E4-4EED-A195-9968FB71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05300"/>
            <a:ext cx="390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5"/>
          </a:solidFill>
          <a:ln xmlns:a="http://schemas.openxmlformats.org/drawingml/2006/main" w="0">
            <a:solidFill>
              <a:srgbClr val="202B4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C2B72E-50FF-4729-B2B0-E8B29CA5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05300"/>
            <a:ext cx="33194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969"/>
          </a:solidFill>
          <a:ln xmlns:a="http://schemas.openxmlformats.org/drawingml/2006/main" w="0">
            <a:solidFill>
              <a:srgbClr val="E6696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5C2EEA-C9AD-4BC1-99C3-FFF1E81E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5.95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68B932-6BF6-42C3-9A63-489CBD5D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Impact faible sur la moyenne.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4570DA-9D10-4311-B707-CFA9FCF4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underexposure -&gt; exposure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F0D518-C9D3-4E8B-9046-1850103F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57750"/>
            <a:ext cx="390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5"/>
          </a:solidFill>
          <a:ln xmlns:a="http://schemas.openxmlformats.org/drawingml/2006/main" w="0">
            <a:solidFill>
              <a:srgbClr val="202B4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1258F4-8243-499A-A79B-6AEA479D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57750"/>
            <a:ext cx="76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969"/>
          </a:solidFill>
          <a:ln xmlns:a="http://schemas.openxmlformats.org/drawingml/2006/main" w="0">
            <a:solidFill>
              <a:srgbClr val="E6696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A6CB05-C8B9-4437-B223-1F56F101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96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-6.99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958805-2387-44AB-89E6-D8B2B07D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Critere encore fragile dans ce cas.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F2D3C7-6A53-4A6B-A16E-07D7226D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619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935D0A-DE50-4748-991D-E8E5907E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527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Lecture du resultat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02265A-3788-4F19-B060-AA2A92F5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1B628C-76ED-425A-9997-1D59040D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510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flou est la degradation la mieux capturee par le systeme.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4E0538-E6E7-4484-A1A4-9C2B0DDB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C1D2FB-2FFA-4761-9A76-B40E095D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510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lowres et le bad crop sont correctement detectes apres les derniers ajustements.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485D70-FAF7-4FF1-8103-FEEE7862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30DA1C-1907-44A9-A632-21267A54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510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L'exposition reste plus delicate, surtout pour la sous-exposition.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D76C94-A5C2-4C05-858C-C3DE7895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9E1494-4A7E-4FAB-9443-FBE0E4B6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510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JPEG a un effet plus faible et moins stable sur le score de nettete.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22A0C1-80F8-41AA-AC44-8A929482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20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48405E-4F56-4B61-B1F4-B83A1B07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4784378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55059A-0C2C-4BCF-BFED-D8EC618D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D91DC-6614-4F58-BE94-0D0ACA1C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92E40-A9B7-464C-AF1E-0D0CB180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RESULTATS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CEC48-62D4-42ED-9C58-EDE0B436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Validation humaine finale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531E5-302A-4DEA-9248-AD87D4B7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score automatique est compare a 50 jugements humains sur un echantillon d'images.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1C163-8817-43BE-A83A-9C125DC8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4314E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f16606b1e4463"/>
          <a:stretch xmlns:a="http://schemas.openxmlformats.org/drawingml/2006/main"/>
        </p:blipFill>
        <p:spPr>
          <a:xfrm xmlns:a="http://schemas.openxmlformats.org/drawingml/2006/main">
            <a:off x="1240155" y="2076450"/>
            <a:ext cx="4187190" cy="2990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82728-A3F5-4F94-B4C4-23780044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510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Graphe de corrrelation Spearman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BC6AE-35FA-44DF-BEE4-BF81D766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0F48A-2A81-49F6-B68D-B0DE6308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4315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rPr>
              <a:t>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C6662-83FA-46A1-8D70-1143F160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annotations humaines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2F73F-9A42-496C-A5C6-DF80B4B2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170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37AFC-F9FF-4638-AF60-AFA5D614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4315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DA6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DA6FF"/>
                </a:solidFill>
                <a:latin typeface="Aptos Display"/>
                <a:ea typeface="Aptos Display"/>
                <a:cs typeface="Aptos Display"/>
              </a:rPr>
              <a:t>0.3799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2C04A-6460-4657-9B5B-8F914A86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003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Spearman rho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A4B13-D7BC-4883-B5C8-A035B8A6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480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50AAB-27C4-47E3-87D5-BD2944F3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195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AC27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AC27A"/>
                </a:solidFill>
                <a:latin typeface="Aptos Display"/>
                <a:ea typeface="Aptos Display"/>
                <a:cs typeface="Aptos Display"/>
              </a:rPr>
              <a:t>0.006497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F33EF-A5D9-4F61-8D19-E4F4E11A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p-value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18704-631A-4EA7-AEFF-9214202F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480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7958C-0CC0-4E84-8C8B-91BCDDD5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195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C8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0C85A"/>
                </a:solidFill>
                <a:latin typeface="Aptos Display"/>
                <a:ea typeface="Aptos Display"/>
                <a:cs typeface="Aptos Display"/>
              </a:rPr>
              <a:t>significatif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9EECE-2BEE-4329-930C-CEAF517B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767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statut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0AB1A-782E-4444-86B2-E4DD6E10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72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CE886-AE21-48DA-BAAF-A0830462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14900"/>
            <a:ext cx="478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score automatique suit partiellement le jugement humain.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F1B2F-EA19-4D47-9075-D858EAAB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57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618BBA-1979-4CB8-B6C6-FA5ABFC2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00650"/>
            <a:ext cx="478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La corrrelation est positive et statistiquement significative.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C0C86-ED4A-47BA-9E08-0A2609B4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43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2CDCF1-0D42-4AAB-B15E-1A01F3AD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86400"/>
            <a:ext cx="478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resultat reste modere, ce qui est coherent avec une approche zero-shot explicable.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CB45BE-40F4-493E-951A-233D69D3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21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D7519C-D546-400F-A115-8A9AE80F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7949089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FA84BA-857C-447F-BACD-1EA0A8F3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0">
            <a:solidFill>
              <a:srgbClr val="131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9CF15-9F20-46F2-B4B2-32C7B4CB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FC8BB-B2E4-4697-A467-D0EC5408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CAS PRATIQUE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E5DB8-5524-4C64-857E-E41D9E2B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Exemple de lecture d'une image par le systeme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8A3A3-584E-472A-A8B0-872E75A0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systeme ne rend pas seulement une note : il fournit aussi une lecture interpretable du cas.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E0583-7E09-43CC-85B4-623B87E9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238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4314E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374b5656b434a"/>
          <a:stretch xmlns:a="http://schemas.openxmlformats.org/drawingml/2006/main"/>
        </p:blipFill>
        <p:spPr>
          <a:xfrm xmlns:a="http://schemas.openxmlformats.org/drawingml/2006/main">
            <a:off x="1000125" y="2190750"/>
            <a:ext cx="2609850" cy="2609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5995A-85C6-4F6B-96F4-4E9DB57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Exemple clothing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EA1D2-6BF0-45BA-B4A3-3A16955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83654-C1B8-4457-839B-7DC5DBC0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479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Lecture du selector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D27EE-4554-4B1C-998D-21DEF393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A895C-02BE-43AA-B3C3-98644566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2890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Plusieurs regions candidates proposees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9D731-9828-49DA-BAE3-9C750855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41F8F-7BEE-4E5F-9B78-88814B5E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crop final retenu est celui juge le plus coherent avec le texte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1D665-7B91-4F9A-BAE6-880DA628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AD9B3-0938-42AB-8FD6-B9F5393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debug permet d'afficher les scores intermediaires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CA6E3-1F95-4A45-A578-3DFD072E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95500"/>
            <a:ext cx="3619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37D8B-FBF3-4520-8160-5AB00CDB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Lecture de l'analyzer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E9307-4760-401A-84A1-7D66A473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46580-198E-4210-866D-E7892194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Nettete et contraste souvent bien notes sur les bonnes images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3EDD3-9F0A-40BD-A86C-77FD1D0C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E80A8-1DD7-4851-9617-81C28417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Resolution effective et coherence sont plus discriminantes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D6867-BD6B-405F-9E0B-4FF28393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2AFCF-7CCE-4CE9-8BFA-24436318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623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Les conseils generes sont directement exploitables par un vendeur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E1D21A-DD41-4FD0-8300-460A6C2F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22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784D36-9780-4A2E-979C-841D8237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2308300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FCD6E0-EEB5-40B0-B64B-B180B674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230E4-8ADC-47BE-A926-C39B0444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78127-B3D7-48EC-863B-BE822035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3971D-5304-4733-AB4C-9F6890C0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Ce que montrent les resultats du projet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0AC4E-1440-40AF-8514-52EDB380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systeme est utile, interpretable et defendable, mais il ne doit pas etre survendu.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D3328-09F3-4599-8C54-679FE3F3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8301B-CAAD-4B9B-A530-62B8FAB6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Ce qui marche bien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0F7B4-1D5B-4034-B3EB-137F4CB2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8D19E-0377-4B68-9600-FCD027E3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Architecture zero-shot operationnelle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817D6-176E-4836-B5DA-54AA2F85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4FE34-91D0-4011-A7BF-16909543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Selection produit + score qualite en chaine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F2668-D1CC-4443-88E2-85A08790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1471E-D7B8-48B7-A085-367A2370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Tres bonne sensibilite au flou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35DA6-8DE1-4319-89D7-87319548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89A06-8358-458C-9097-35526C5F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Application demonstrable et lisible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14F29-0B58-4E8B-A11A-8B33AEAA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A0B22-9BF2-4D9C-84BF-A82F0BCD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Ce qui marche de facon moyenne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5AD4D-B70C-40B2-A21C-41733B7E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5FC51-3634-44D5-B967-5EE24C28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Detection de lowres et bad crop correcte mais pas parfaite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B8F44-016D-4ED8-997C-F6674A71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EEBA7-4F28-45D9-BDA6-D232FE8B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Coherence image/texte depend de la qualite du crop et du texte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F0788D-76EC-4D59-82AD-665C00CF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EDAD3E-7CB4-4A0D-A6FF-B28FF113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Signal couleur volontairement secondaire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2DCA2-C954-4F82-80BC-8C5FA46F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1E3D0-B471-4282-B100-76AD0CF2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Ce qui reste fragile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0719AD-820A-4BE3-9C3B-4C9D23E0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994BF0-E56F-4D1C-9DF3-CA3F4FE5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Sous-exposition moins bien capturee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68BB8F-4FC7-4B8B-B878-3B6399AA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3B2B09-E965-4C5B-BDC8-C4AFD9D0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JPEG peu discriminant dans certains cas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FCD6A2-B4AA-4948-A993-568EC279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B77ED6-EF47-4E11-BC3B-346363E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Extraction heuristique de marque encore approximative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D114ED-1A80-49A7-A934-32359CE2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23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9A3C0D-C838-4AA8-90FF-42AE947D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191660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75F559-288A-494B-A697-A0E9CE84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0">
            <a:solidFill>
              <a:srgbClr val="131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17748-B349-4E34-B1DD-F5CD8B86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6ADFD-83AA-42B5-B531-31226399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LIMITES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52A2F-4A80-47DC-8F69-DCED5E2B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Limites honnetes a assumer en soutenance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EA5D4-EB0F-4186-9D9F-E94397F0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La qualite du PFE est meilleure quand les limites sont expliquees clairement.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DE07B-5A16-448E-9DE2-A97C1B7A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ABBED-3344-4556-9B7D-CBD1C74B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96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scope est volontairement limite a trois familles de produits.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7C332-BB8E-4E1A-88C8-A1823A10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20722-8469-4C0F-8763-498F8D77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0496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systeme ne cherche pas a remplacer un modele supervise specialise.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FEC1B-1B72-460E-BA90-37C49C88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C0D18-3B09-4F0B-BCC2-3B92D00A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10496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La corrrelation humaine est significative mais reste moderee.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0EC60-1CCB-4298-83A7-D05443A6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52A70-5A89-4B6E-9C33-4301523E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0496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La detection de certains defauts depend encore du contenu visuel et du texte fourni.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7604C-EE63-4033-A3F1-43B25576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55D0F-B914-403F-94B6-82C44B3A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0496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dataset final est pertinent pour la validation du projet, mais reste de taille modeste.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61951-8A48-4E48-8EEF-700A389D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Message cle a tenir : la valeur du projet est l'architecture zero-shot multimodale explicable, pas la promesse d'une perfection universelle.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FC157-1FD1-44DE-9109-80F40784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F5943-6510-441F-9104-C7F4C60C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202302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FE904D-7709-4D91-BD75-7CD6FDB4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35E1A-825F-4CCE-B5B6-7E3FCB30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70D69-CE6E-47FD-9994-3B49E841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2E2DA-30FC-4B02-A605-E435ADFF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Perspectives et extensions possibles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4C1D0-504B-4EC6-ABA6-FB88D188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projet peut etre etendu sans casser le coeur scientifique deja realise.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C3CE7-5BEF-4DEC-97AE-1C149CEB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8FA21-D511-479E-82DF-29D114D0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Extensions techniques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C8489-B921-45F5-B40B-A59D79A1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D9F2F-29E4-4598-9B30-E8DC69A0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Mieux exploiter HSV pour certaines comparaisons couleur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E43AB-1EAD-4973-A4AB-F16FEF2C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62E3E-C52D-4966-939E-8CC2ED6C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Ameliorer encore l'analyse de l'exposition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00D95-EB06-4D6A-A96B-D7880EDD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C7EDA-3F9C-419B-B6E5-13807168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Rendre le fallback DINO plus strategique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CE8B2-16B7-4217-B267-6595D101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9693C-EEB3-45C3-B298-24341013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Extensions produit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796A3-E73C-4C90-B659-00045AAB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8A115-20FA-4738-9E80-04C0A84F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Ajouter d'autres familles de produits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82C9C-9CB8-4C43-8484-008848F4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5DA6F-0EE3-44A6-8C00-0DCDE807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Mieux structurer les attributs de marque et de categorie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DD1EF3-E623-42AA-9C20-FEC1BCDC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3551D-57BF-4AD1-9FBB-390DF4E4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Renforcer le batch sur de gros dossiers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E4712-74EE-4BC3-9252-88D617D0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9525">
            <a:solidFill>
              <a:srgbClr val="2734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B8C6D-8414-433C-A74E-C6FFB2B9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Extension business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A1F8E9-6EAA-4D32-97C8-2D408E18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22168A-958A-43D2-888C-7D6AD17C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Ajouter un assistant d'annonce separé du scoring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04E226-BFBE-4F26-BB58-649E892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FC4685-8E33-42AF-96DD-3B9884E4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Generer titre, description et conseils via LLM vision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4DE231-12B9-440E-BC4D-59EF6AD6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0B7578-1D95-47B0-902B-0FF00F0F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Connecter un workflow n8n pour l'automatisation vendeur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707C72-3E01-4135-969B-1130DDC1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2A3EA2-EC8C-4A00-B00E-281117E3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7320190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338C53-7669-4E14-AFD0-3D1E5CDC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E"/>
          </a:solidFill>
          <a:ln xmlns:a="http://schemas.openxmlformats.org/drawingml/2006/main" w="0">
            <a:solidFill>
              <a:srgbClr val="131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C6124-774B-45A1-9799-724F0841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4762F-1AEA-4619-9181-69416D86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04209-1F17-4B60-B2CB-B0C60AA0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Conclusion generale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06C41-CE27-4091-B7E8-04CDB576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projet atteint son objectif principal : evaluer automatiquement la qualite d'une photo produit sans entrainement local.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DDFC8-EE10-47C2-8D75-B2B343BA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04D84-9640-4FE9-9EA6-EBEF067F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96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pipeline zero-shot complet fonctionne de bout en bout.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ED43B-E52E-4B75-8008-D2E94542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728AB-7F86-4DFD-9532-D1A65A80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96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crop selectionne rend le systeme interpretable.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43728-2C52-4268-82A1-FB3300A5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812B9-1D4A-4B0E-8DCF-A0D9CB0D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96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dataset final propre et degrade permet une validation defendable.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113FD-E547-495B-8C18-565CE2E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94466-10FE-4087-926B-BA90735B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496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La corrrelation humaine finale est positive et significative.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4C2D9-4E49-46C7-8DA6-71CB3C57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96A"/>
          </a:solidFill>
          <a:ln xmlns:a="http://schemas.openxmlformats.org/drawingml/2006/main" w="0">
            <a:solidFill>
              <a:srgbClr val="D3A9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BF916-6DDB-4642-8074-AE6524B3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496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projet est suffisamment solide pour etre demontre et discute en soutenance.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97BBD-0A46-4687-8DDF-59E81D97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76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rPr>
              <a:t>Merci pour votre attention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67884-5370-4196-8AEA-255533DE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62C87-8D4A-4605-85E3-1DB03D2F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99883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2026-05-28T02:06:12.8850000Z</dcterms:created>
  <dcterms:modified xsi:type="dcterms:W3CDTF">2026-05-28T02:06:12.8850000Z</dcterms:modified>
</coreProperties>
</file>